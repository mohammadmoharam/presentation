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6"/>
  </p:notesMasterIdLst>
  <p:sldIdLst>
    <p:sldId id="256" r:id="rId2"/>
    <p:sldId id="257" r:id="rId3"/>
    <p:sldId id="270" r:id="rId4"/>
    <p:sldId id="258" r:id="rId5"/>
    <p:sldId id="271" r:id="rId6"/>
    <p:sldId id="259" r:id="rId7"/>
    <p:sldId id="261" r:id="rId8"/>
    <p:sldId id="269" r:id="rId9"/>
    <p:sldId id="272" r:id="rId10"/>
    <p:sldId id="273" r:id="rId11"/>
    <p:sldId id="274" r:id="rId12"/>
    <p:sldId id="275" r:id="rId13"/>
    <p:sldId id="276" r:id="rId14"/>
    <p:sldId id="268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66756" autoAdjust="0"/>
  </p:normalViewPr>
  <p:slideViewPr>
    <p:cSldViewPr snapToGrid="0">
      <p:cViewPr varScale="1">
        <p:scale>
          <a:sx n="84" d="100"/>
          <a:sy n="84" d="100"/>
        </p:scale>
        <p:origin x="1363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Today I will demonstrate a new AI-powered capability focused on one of the most common challenges faced by radiologists and clinicians: quickly understanding a patient's clinical history across multiple prior reports.</a:t>
            </a:r>
          </a:p>
          <a:p>
            <a:r>
              <a:rPr lang="en-US" dirty="0"/>
              <a:t>Our goal is not to replace clinical judgment.</a:t>
            </a:r>
          </a:p>
          <a:p>
            <a:r>
              <a:rPr lang="en-US" dirty="0"/>
              <a:t>Our goal is to provide immediate clinical context, reduce review time, and improve reporting efficiency.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many cases a reading </a:t>
            </a:r>
            <a:r>
              <a:rPr lang="en-US" dirty="0" err="1"/>
              <a:t>phys</a:t>
            </a:r>
            <a:r>
              <a:rPr lang="en-US" dirty="0"/>
              <a:t>  must review several years of historical reports before finalizing a report.</a:t>
            </a:r>
          </a:p>
          <a:p>
            <a:r>
              <a:rPr lang="en-US" dirty="0"/>
              <a:t>The information exists, but extracting the clinically relevant story requires significant effort.</a:t>
            </a:r>
          </a:p>
          <a:p>
            <a:r>
              <a:rPr lang="en-US" dirty="0"/>
              <a:t>This creates inefficiency and increases cognitive load.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objective is simple.</a:t>
            </a:r>
          </a:p>
          <a:p>
            <a:r>
              <a:rPr lang="en-US" dirty="0"/>
              <a:t>Transform fragmented historical information into an immediately understandable clinical summary.</a:t>
            </a:r>
          </a:p>
          <a:p>
            <a:r>
              <a:rPr lang="en-US" dirty="0"/>
              <a:t>Instead of reading ten reports, the radiologist starts with a concise patient narrative.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572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slide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slide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solution continuously builds a consolidated patient history summary using existing reports already available in the system.</a:t>
            </a:r>
          </a:p>
          <a:p>
            <a:r>
              <a:rPr lang="en-US" dirty="0"/>
              <a:t>The result is a single source of clinical context.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important design decision was not allowing the AI to freely invent its own summary structure.</a:t>
            </a:r>
          </a:p>
          <a:p>
            <a:r>
              <a:rPr lang="en-US" dirty="0"/>
              <a:t>Instead, we use established healthcare interoperability standards as the framework for organizing information.</a:t>
            </a:r>
          </a:p>
          <a:p>
            <a:r>
              <a:rPr lang="en-US" dirty="0"/>
              <a:t>USCDI v4 defines the key clinical data elements that are important for patient care and interoperability.</a:t>
            </a:r>
          </a:p>
          <a:p>
            <a:r>
              <a:rPr lang="en-US" dirty="0"/>
              <a:t>C-CDA provides a proven structure for organizing longitudinal clinical information.</a:t>
            </a:r>
          </a:p>
          <a:p>
            <a:r>
              <a:rPr lang="en-US" dirty="0"/>
              <a:t>By using these standards as guidelines, the generated summaries become more consistent, clinically meaningful, and future-proof.</a:t>
            </a:r>
          </a:p>
          <a:p>
            <a:r>
              <a:rPr lang="en-US" dirty="0"/>
              <a:t>This approach also supports our strategy of having a single mission that can work across all customers and exam types without requiring customer-specific customization.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068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slide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slide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solution is integrated directly into the existing workflow so clinicians gain value without learning a new system.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slide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slide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One important design decision was avoiding real-time generation whenever possible.</a:t>
            </a:r>
          </a:p>
          <a:p>
            <a:r>
              <a:rPr lang="en-US" dirty="0"/>
              <a:t>We use a prefetch strategy when orders are received and refresh summaries when reports are finalized.</a:t>
            </a:r>
          </a:p>
          <a:p>
            <a:r>
              <a:rPr lang="en-US" dirty="0"/>
              <a:t>This ensures the summary is ready before the user requests it.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slide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slide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 significant portion of the effort focused on model evaluation.</a:t>
            </a:r>
          </a:p>
          <a:p>
            <a:r>
              <a:rPr lang="en-US" dirty="0"/>
              <a:t>Different models perform differently depending on report volume, complexity, and response requirements.</a:t>
            </a:r>
          </a:p>
          <a:p>
            <a:r>
              <a:rPr lang="en-US" dirty="0"/>
              <a:t>We tested multiple options to find the best balance between quality, speed, and operational cost.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cost management is an important consideration.</a:t>
            </a:r>
          </a:p>
          <a:p>
            <a:r>
              <a:rPr lang="en-US" dirty="0"/>
              <a:t>To reduce unnecessary token usage, we implemented caching so previously generated summaries can be reused when appropriate.</a:t>
            </a:r>
          </a:p>
          <a:p>
            <a:r>
              <a:rPr lang="en-US" dirty="0"/>
              <a:t>This improves performance while lowering operational costs.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741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Matcha AI is our primary platform today, we evaluated alternative deployment strategies.</a:t>
            </a:r>
          </a:p>
          <a:p>
            <a:r>
              <a:rPr lang="en-US" dirty="0"/>
              <a:t>We explored internally hosted open-source models as a contingency option should cost, volume, or deployment requirements evolve.</a:t>
            </a:r>
          </a:p>
          <a:p>
            <a:r>
              <a:rPr lang="en-US" dirty="0"/>
              <a:t>This gives us flexibility and protects future investment.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876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deliberate design decision was to avoid customer-specific missions.</a:t>
            </a:r>
          </a:p>
          <a:p>
            <a:r>
              <a:rPr lang="en-US" dirty="0"/>
              <a:t>Instead, we are targeting a single mission capable of supporting all exam types and customer environments.</a:t>
            </a:r>
          </a:p>
          <a:p>
            <a:r>
              <a:rPr lang="en-US" dirty="0"/>
              <a:t>This dramatically simplifies implementation and long-term support.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389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intentionally designing the solution to work with our current customer base.</a:t>
            </a:r>
          </a:p>
          <a:p>
            <a:r>
              <a:rPr lang="en-US" dirty="0"/>
              <a:t>Supporting version 5.21 allows us to collect real-world feedback earlier rather than waiting for future releases.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795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extends beyond clinical productivity.</a:t>
            </a:r>
          </a:p>
          <a:p>
            <a:r>
              <a:rPr lang="en-US" dirty="0"/>
              <a:t>This initiative demonstrates a practical and scalable use of AI that benefits customers while strengthening our product strategy.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654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slide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slide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conclusion, Matcha AI represents a significant step forward in patient care. By automating summarization, we empower clinicians to work more efficiently and effectively. Thank you. I'm now happy to answer any questions.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New Section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57200" y="1977450"/>
            <a:ext cx="82296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1162" y="3798509"/>
            <a:ext cx="981675" cy="22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Title Image Left Content Right">
  <p:cSld name="New Section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>
            <a:spLocks noGrp="1"/>
          </p:cNvSpPr>
          <p:nvPr>
            <p:ph type="pic" idx="3"/>
          </p:nvPr>
        </p:nvSpPr>
        <p:spPr>
          <a:xfrm>
            <a:off x="472450" y="1665800"/>
            <a:ext cx="2245500" cy="3019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9" name="Google Shape;19;p3"/>
          <p:cNvSpPr txBox="1">
            <a:spLocks noGrp="1"/>
          </p:cNvSpPr>
          <p:nvPr>
            <p:ph type="body" idx="4"/>
          </p:nvPr>
        </p:nvSpPr>
        <p:spPr>
          <a:xfrm>
            <a:off x="3083175" y="1787550"/>
            <a:ext cx="5416200" cy="28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Title Image Right Content Left">
  <p:cSld name="New Section_1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>
            <a:spLocks noGrp="1"/>
          </p:cNvSpPr>
          <p:nvPr>
            <p:ph type="pic" idx="3"/>
          </p:nvPr>
        </p:nvSpPr>
        <p:spPr>
          <a:xfrm>
            <a:off x="6385500" y="1407650"/>
            <a:ext cx="2245500" cy="3019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" name="Google Shape;26;p4"/>
          <p:cNvSpPr txBox="1">
            <a:spLocks noGrp="1"/>
          </p:cNvSpPr>
          <p:nvPr>
            <p:ph type="body" idx="4"/>
          </p:nvPr>
        </p:nvSpPr>
        <p:spPr>
          <a:xfrm>
            <a:off x="399425" y="1692000"/>
            <a:ext cx="5416200" cy="28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Title Content Without Image">
  <p:cSld name="New Section_1_1_2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8073000" cy="3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Title with 3 Narrow Subtitle and image_content combinations">
  <p:cSld name="New Section_1_1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324025" y="1135875"/>
            <a:ext cx="25911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>
            <a:spLocks noGrp="1"/>
          </p:cNvSpPr>
          <p:nvPr>
            <p:ph type="pic" idx="3"/>
          </p:nvPr>
        </p:nvSpPr>
        <p:spPr>
          <a:xfrm>
            <a:off x="496825" y="1659175"/>
            <a:ext cx="2245500" cy="3019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9" name="Google Shape;39;p6"/>
          <p:cNvSpPr>
            <a:spLocks noGrp="1"/>
          </p:cNvSpPr>
          <p:nvPr>
            <p:ph type="pic" idx="4"/>
          </p:nvPr>
        </p:nvSpPr>
        <p:spPr>
          <a:xfrm>
            <a:off x="6357725" y="1659175"/>
            <a:ext cx="2245500" cy="3019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" name="Google Shape;40;p6"/>
          <p:cNvSpPr>
            <a:spLocks noGrp="1"/>
          </p:cNvSpPr>
          <p:nvPr>
            <p:ph type="pic" idx="5"/>
          </p:nvPr>
        </p:nvSpPr>
        <p:spPr>
          <a:xfrm>
            <a:off x="3449250" y="1659175"/>
            <a:ext cx="2245500" cy="3019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1" name="Google Shape;41;p6"/>
          <p:cNvSpPr txBox="1">
            <a:spLocks noGrp="1"/>
          </p:cNvSpPr>
          <p:nvPr>
            <p:ph type="subTitle" idx="6"/>
          </p:nvPr>
        </p:nvSpPr>
        <p:spPr>
          <a:xfrm>
            <a:off x="3276450" y="1135875"/>
            <a:ext cx="25911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ubTitle" idx="7"/>
          </p:nvPr>
        </p:nvSpPr>
        <p:spPr>
          <a:xfrm>
            <a:off x="6184925" y="1135875"/>
            <a:ext cx="25911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ull Page 16x9 Image">
  <p:cSld name="New Section_1_1_1_2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242900" y="-2721"/>
            <a:ext cx="8229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60" name="Google Shape;60;p8"/>
          <p:cNvSpPr>
            <a:spLocks noGrp="1"/>
          </p:cNvSpPr>
          <p:nvPr>
            <p:ph type="pic" idx="3"/>
          </p:nvPr>
        </p:nvSpPr>
        <p:spPr>
          <a:xfrm>
            <a:off x="914250" y="637625"/>
            <a:ext cx="7315500" cy="4114800"/>
          </a:xfrm>
          <a:prstGeom prst="roundRect">
            <a:avLst>
              <a:gd name="adj" fmla="val 831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ull Page 1x1 Image">
  <p:cSld name="New Section_1_1_1_2_1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242900" y="-2721"/>
            <a:ext cx="8229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65" name="Google Shape;65;p9"/>
          <p:cNvSpPr>
            <a:spLocks noGrp="1"/>
          </p:cNvSpPr>
          <p:nvPr>
            <p:ph type="pic" idx="3"/>
          </p:nvPr>
        </p:nvSpPr>
        <p:spPr>
          <a:xfrm>
            <a:off x="2514600" y="637625"/>
            <a:ext cx="4114800" cy="4114800"/>
          </a:xfrm>
          <a:prstGeom prst="roundRect">
            <a:avLst>
              <a:gd name="adj" fmla="val 831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r Content Right">
  <p:cSld name="New Section_1_1_1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405563" y="47783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fld id="{00000000-1234-1234-1234-123412341234}" type="slidenum">
              <a:rPr lang="en"/>
              <a:t>‹#›</a:t>
            </a:fld>
            <a:r>
              <a:rPr lang="en"/>
              <a:t>&gt;</a:t>
            </a:r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3502050" y="340875"/>
            <a:ext cx="56421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C47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1B3C4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ubTitle" idx="1"/>
          </p:nvPr>
        </p:nvSpPr>
        <p:spPr>
          <a:xfrm>
            <a:off x="3558200" y="1096875"/>
            <a:ext cx="53448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>
            <a:spLocks noGrp="1"/>
          </p:cNvSpPr>
          <p:nvPr>
            <p:ph type="pic" idx="3"/>
          </p:nvPr>
        </p:nvSpPr>
        <p:spPr>
          <a:xfrm>
            <a:off x="187750" y="365325"/>
            <a:ext cx="3109800" cy="418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2" name="Google Shape;72;p10"/>
          <p:cNvSpPr txBox="1">
            <a:spLocks noGrp="1"/>
          </p:cNvSpPr>
          <p:nvPr>
            <p:ph type="body" idx="4"/>
          </p:nvPr>
        </p:nvSpPr>
        <p:spPr>
          <a:xfrm>
            <a:off x="3677400" y="1997000"/>
            <a:ext cx="5225700" cy="24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ntent Left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7021905" y="483523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&lt;#&gt;</a:t>
            </a: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76" name="Google Shape;76;p11"/>
          <p:cNvSpPr>
            <a:spLocks noGrp="1"/>
          </p:cNvSpPr>
          <p:nvPr>
            <p:ph type="pic" idx="3"/>
          </p:nvPr>
        </p:nvSpPr>
        <p:spPr>
          <a:xfrm>
            <a:off x="4986150" y="759850"/>
            <a:ext cx="3721500" cy="3249000"/>
          </a:xfrm>
          <a:prstGeom prst="roundRect">
            <a:avLst>
              <a:gd name="adj" fmla="val 8314"/>
            </a:avLst>
          </a:prstGeom>
          <a:noFill/>
          <a:ln>
            <a:noFill/>
          </a:ln>
        </p:spPr>
      </p:sp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398825" y="291825"/>
            <a:ext cx="4325400" cy="6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None/>
              <a:defRPr sz="27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423150" y="919050"/>
            <a:ext cx="4301100" cy="3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■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4"/>
          </p:nvPr>
        </p:nvSpPr>
        <p:spPr>
          <a:xfrm>
            <a:off x="0" y="4367900"/>
            <a:ext cx="9152100" cy="42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Screen Image">
  <p:cSld name="CUSTOM_2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7021905" y="483523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&lt;#&gt;</a:t>
            </a: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83" name="Google Shape;83;p12"/>
          <p:cNvSpPr>
            <a:spLocks noGrp="1"/>
          </p:cNvSpPr>
          <p:nvPr>
            <p:ph type="pic" idx="3"/>
          </p:nvPr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ntent Right">
  <p:cSld name="CUSTOM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7021905" y="483523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&lt;#&gt;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87" name="Google Shape;87;p13"/>
          <p:cNvSpPr>
            <a:spLocks noGrp="1"/>
          </p:cNvSpPr>
          <p:nvPr>
            <p:ph type="pic" idx="3"/>
          </p:nvPr>
        </p:nvSpPr>
        <p:spPr>
          <a:xfrm>
            <a:off x="263773" y="793925"/>
            <a:ext cx="3587700" cy="3132300"/>
          </a:xfrm>
          <a:prstGeom prst="roundRect">
            <a:avLst>
              <a:gd name="adj" fmla="val 8314"/>
            </a:avLst>
          </a:prstGeom>
          <a:noFill/>
          <a:ln>
            <a:noFill/>
          </a:ln>
        </p:spPr>
      </p:sp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4338375" y="291875"/>
            <a:ext cx="4541100" cy="6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None/>
              <a:defRPr sz="27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4338375" y="1070100"/>
            <a:ext cx="4303800" cy="3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●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○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■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●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○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■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●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○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Char char="■"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4"/>
          </p:nvPr>
        </p:nvSpPr>
        <p:spPr>
          <a:xfrm>
            <a:off x="0" y="4367900"/>
            <a:ext cx="9152100" cy="42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7021905" y="483523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&lt;#&gt;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705300" y="1783765"/>
            <a:ext cx="7733400" cy="9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  <a:defRPr sz="4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1"/>
          </p:nvPr>
        </p:nvSpPr>
        <p:spPr>
          <a:xfrm>
            <a:off x="943500" y="2688438"/>
            <a:ext cx="72570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99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0080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52725" y="444225"/>
            <a:ext cx="363855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1162" y="3798509"/>
            <a:ext cx="981675" cy="22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TITLE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7021905" y="483523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&lt;#&gt;</a:t>
            </a: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2"/>
          </p:nvPr>
        </p:nvSpPr>
        <p:spPr>
          <a:xfrm>
            <a:off x="63380" y="486961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ubTitle" idx="1"/>
          </p:nvPr>
        </p:nvSpPr>
        <p:spPr>
          <a:xfrm>
            <a:off x="943500" y="3407063"/>
            <a:ext cx="72570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99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0080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3"/>
          </p:nvPr>
        </p:nvSpPr>
        <p:spPr>
          <a:xfrm>
            <a:off x="2049300" y="785075"/>
            <a:ext cx="5045400" cy="26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802888"/>
            <a:ext cx="9144000" cy="342900"/>
          </a:xfrm>
          <a:prstGeom prst="rect">
            <a:avLst/>
          </a:prstGeom>
          <a:solidFill>
            <a:srgbClr val="E3E5E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p1" descr="A picture containing text, clipart&#10;&#10;Description automatically generated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194810" y="4860812"/>
            <a:ext cx="754380" cy="24044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705300" y="1783765"/>
            <a:ext cx="7733400" cy="9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Automated Patient History Summarization</a:t>
            </a:r>
            <a:endParaRPr sz="3200" dirty="0"/>
          </a:p>
        </p:txBody>
      </p:sp>
      <p:sp>
        <p:nvSpPr>
          <p:cNvPr id="108" name="Google Shape;108;p16"/>
          <p:cNvSpPr txBox="1">
            <a:spLocks noGrp="1"/>
          </p:cNvSpPr>
          <p:nvPr>
            <p:ph type="subTitle" idx="1"/>
          </p:nvPr>
        </p:nvSpPr>
        <p:spPr>
          <a:xfrm>
            <a:off x="943500" y="2688438"/>
            <a:ext cx="7257000" cy="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AI Clinical Intelligence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sz="4400" dirty="0"/>
              <a:t>The Clinical Challenge</a:t>
            </a:r>
            <a:endParaRPr sz="4400" dirty="0"/>
          </a:p>
        </p:txBody>
      </p:sp>
      <p:sp>
        <p:nvSpPr>
          <p:cNvPr id="114" name="Google Shape;114;p17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Too Much Information, Too Little Time</a:t>
            </a:r>
            <a:endParaRPr sz="2400" dirty="0"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3"/>
          </p:nvPr>
        </p:nvSpPr>
        <p:spPr>
          <a:xfrm>
            <a:off x="399425" y="1434790"/>
            <a:ext cx="8073000" cy="32025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>
              <a:buNone/>
            </a:pPr>
            <a:r>
              <a:rPr lang="en-US" sz="1800" dirty="0"/>
              <a:t>Clinicians often review:</a:t>
            </a:r>
          </a:p>
          <a:p>
            <a:r>
              <a:rPr lang="en-US" sz="1800" dirty="0"/>
              <a:t>Multiple prior imaging reports</a:t>
            </a:r>
          </a:p>
          <a:p>
            <a:r>
              <a:rPr lang="en-US" sz="1800" dirty="0"/>
              <a:t>Historical findings</a:t>
            </a:r>
          </a:p>
          <a:p>
            <a:r>
              <a:rPr lang="en-US" sz="1800" dirty="0"/>
              <a:t>Follow-up recommendations</a:t>
            </a:r>
          </a:p>
          <a:p>
            <a:r>
              <a:rPr lang="en-US" sz="1800" dirty="0"/>
              <a:t>Reports from different modalities</a:t>
            </a:r>
          </a:p>
          <a:p>
            <a:r>
              <a:rPr lang="en-US" sz="1800" dirty="0"/>
              <a:t>Years of accumulated patient history</a:t>
            </a:r>
          </a:p>
          <a:p>
            <a:pPr marL="139700" indent="0">
              <a:buNone/>
            </a:pPr>
            <a:r>
              <a:rPr lang="en-US" sz="1800" b="1" dirty="0"/>
              <a:t>Challenges</a:t>
            </a:r>
          </a:p>
          <a:p>
            <a:r>
              <a:rPr lang="en-US" sz="1800" dirty="0"/>
              <a:t>Time-consuming review process</a:t>
            </a:r>
          </a:p>
          <a:p>
            <a:r>
              <a:rPr lang="en-US" sz="1800" dirty="0"/>
              <a:t>Important findings may be overlooked</a:t>
            </a:r>
          </a:p>
          <a:p>
            <a:r>
              <a:rPr lang="en-US" sz="1800" dirty="0"/>
              <a:t>Inconsistent understanding between readers</a:t>
            </a:r>
          </a:p>
          <a:p>
            <a:r>
              <a:rPr lang="en-US" sz="1800" dirty="0"/>
              <a:t>Increased reporting workload</a:t>
            </a:r>
          </a:p>
          <a:p>
            <a:pPr marL="0" lv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7C4EE-387B-A799-A71F-8608166F6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FD620-3059-E051-0286-486D1B6CBB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600" dirty="0"/>
              <a:t>From Historical Reports to Clinical Intelligence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68644-6D19-CD1F-02FA-D0A7CB2E862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Traditional Workflow</a:t>
            </a:r>
          </a:p>
          <a:p>
            <a:r>
              <a:rPr lang="en-US" dirty="0"/>
              <a:t>Search → Open Reports → Read Reports → Build Mental Summary</a:t>
            </a:r>
          </a:p>
          <a:p>
            <a:pPr marL="139700" indent="0">
              <a:buNone/>
            </a:pPr>
            <a:endParaRPr lang="en-US" b="1" dirty="0"/>
          </a:p>
          <a:p>
            <a:pPr marL="139700" indent="0">
              <a:buNone/>
            </a:pPr>
            <a:r>
              <a:rPr lang="en-US" b="1" dirty="0"/>
              <a:t>AI-Assisted Workflow</a:t>
            </a:r>
          </a:p>
          <a:p>
            <a:r>
              <a:rPr lang="en-US" dirty="0"/>
              <a:t>Open Exam → Review AI Summary → Validate Findings → Report</a:t>
            </a:r>
          </a:p>
          <a:p>
            <a:pPr marL="139700" indent="0">
              <a:buNone/>
            </a:pPr>
            <a:endParaRPr lang="en-US" b="1" dirty="0"/>
          </a:p>
          <a:p>
            <a:pPr marL="139700" indent="0">
              <a:buNone/>
            </a:pPr>
            <a:r>
              <a:rPr lang="en-US" b="1" dirty="0"/>
              <a:t>Outcome</a:t>
            </a:r>
          </a:p>
          <a:p>
            <a:r>
              <a:rPr lang="en-US" dirty="0"/>
              <a:t>Faster review</a:t>
            </a:r>
          </a:p>
          <a:p>
            <a:r>
              <a:rPr lang="en-US" dirty="0"/>
              <a:t>Better clinical context</a:t>
            </a:r>
          </a:p>
          <a:p>
            <a:r>
              <a:rPr lang="en-US" dirty="0"/>
              <a:t>Improved consistency</a:t>
            </a:r>
          </a:p>
          <a:p>
            <a:r>
              <a:rPr lang="en-US" dirty="0"/>
              <a:t>Enhanced productivity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403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sz="4400" dirty="0"/>
              <a:t>Solution Overview</a:t>
            </a:r>
            <a:endParaRPr sz="4400" dirty="0"/>
          </a:p>
        </p:txBody>
      </p:sp>
      <p:sp>
        <p:nvSpPr>
          <p:cNvPr id="121" name="Google Shape;121;p18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AI Patient History Summary</a:t>
            </a:r>
            <a:endParaRPr sz="2400" dirty="0"/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8073000" cy="339578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dirty="0"/>
              <a:t>The solution automatically generates:</a:t>
            </a:r>
          </a:p>
          <a:p>
            <a:pPr marL="139700" indent="0">
              <a:buNone/>
            </a:pPr>
            <a:r>
              <a:rPr lang="en-US" sz="1800" b="1" dirty="0"/>
              <a:t>Patient Summary</a:t>
            </a:r>
          </a:p>
          <a:p>
            <a:r>
              <a:rPr lang="en-US" sz="1800" dirty="0"/>
              <a:t>Significant findings</a:t>
            </a:r>
          </a:p>
          <a:p>
            <a:r>
              <a:rPr lang="en-US" sz="1800" dirty="0"/>
              <a:t>Disease progression</a:t>
            </a:r>
          </a:p>
          <a:p>
            <a:r>
              <a:rPr lang="en-US" sz="1800" dirty="0"/>
              <a:t>Prior interventions</a:t>
            </a:r>
          </a:p>
          <a:p>
            <a:r>
              <a:rPr lang="en-US" sz="1800" dirty="0"/>
              <a:t>Follow-up recommendations</a:t>
            </a:r>
          </a:p>
          <a:p>
            <a:r>
              <a:rPr lang="en-US" sz="1800" dirty="0"/>
              <a:t>Historical trends</a:t>
            </a:r>
          </a:p>
          <a:p>
            <a:pPr marL="139700" indent="0">
              <a:buNone/>
            </a:pPr>
            <a:r>
              <a:rPr lang="en-US" sz="1800" b="1" dirty="0"/>
              <a:t>Generated from</a:t>
            </a:r>
          </a:p>
          <a:p>
            <a:r>
              <a:rPr lang="en-US" sz="1800" dirty="0"/>
              <a:t>Previous reports</a:t>
            </a:r>
          </a:p>
          <a:p>
            <a:r>
              <a:rPr lang="en-US" sz="1800" dirty="0"/>
              <a:t>Historical exams</a:t>
            </a:r>
          </a:p>
          <a:p>
            <a:r>
              <a:rPr lang="en-US" sz="1800" dirty="0"/>
              <a:t>Longitudinal patient history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7EEF0-2DDA-11BD-3710-A0C4D26CD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Standards-Based Clinical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638B4-40B1-FF9E-F568-6B0C0E2FC2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Built on Healthcare Interoperability Standards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DEBD5-2512-14FC-AE40-4F51EA8A685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sz="1200" b="1" dirty="0"/>
              <a:t> Summary Structure Guided By</a:t>
            </a:r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pPr marL="139700" indent="0">
              <a:buNone/>
            </a:pPr>
            <a:br>
              <a:rPr lang="en-US" sz="1200" dirty="0"/>
            </a:br>
            <a:endParaRPr lang="en-US" sz="1200" dirty="0"/>
          </a:p>
          <a:p>
            <a:endParaRPr lang="en-US" sz="1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D977DC-01CF-67A2-84B9-79B97C302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117443"/>
              </p:ext>
            </p:extLst>
          </p:nvPr>
        </p:nvGraphicFramePr>
        <p:xfrm>
          <a:off x="297123" y="1695126"/>
          <a:ext cx="8447451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2350">
                  <a:extLst>
                    <a:ext uri="{9D8B030D-6E8A-4147-A177-3AD203B41FA5}">
                      <a16:colId xmlns:a16="http://schemas.microsoft.com/office/drawing/2014/main" val="3001990397"/>
                    </a:ext>
                  </a:extLst>
                </a:gridCol>
                <a:gridCol w="3585101">
                  <a:extLst>
                    <a:ext uri="{9D8B030D-6E8A-4147-A177-3AD203B41FA5}">
                      <a16:colId xmlns:a16="http://schemas.microsoft.com/office/drawing/2014/main" val="493206563"/>
                    </a:ext>
                  </a:extLst>
                </a:gridCol>
              </a:tblGrid>
              <a:tr h="1940380">
                <a:tc>
                  <a:txBody>
                    <a:bodyPr/>
                    <a:lstStyle/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USCDI v4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(United States Core Data for Interoperability)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Provides standardized clinical data elements including: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Problems &amp; Conditions 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Procedures 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Medications 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Allergies 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Clinical Notes 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Diagnostic Reports 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C-CDA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(Consolidated Clinical Document Architecture)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Provides industry-standard clinical document structure for: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Patient History 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Encounter Information 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Findings 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cs typeface="Arial"/>
                          <a:sym typeface="Arial"/>
                        </a:rPr>
                        <a:t>Recommendations </a:t>
                      </a:r>
                    </a:p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Arial"/>
                        <a:sym typeface="Arial"/>
                      </a:endParaRPr>
                    </a:p>
                    <a:p>
                      <a:pPr marL="139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cs typeface="Arial"/>
                        <a:sym typeface="Arial"/>
                      </a:endParaRPr>
                    </a:p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1289"/>
                  </a:ext>
                </a:extLst>
              </a:tr>
              <a:tr h="954080">
                <a:tc>
                  <a:txBody>
                    <a:bodyPr/>
                    <a:lstStyle/>
                    <a:p>
                      <a:pPr marL="139700" indent="0">
                        <a:buNone/>
                      </a:pPr>
                      <a:r>
                        <a:rPr lang="en-US" sz="1400" b="1" dirty="0"/>
                        <a:t>Why We Use These Standards</a:t>
                      </a:r>
                    </a:p>
                    <a:p>
                      <a:r>
                        <a:rPr lang="en-US" sz="1400" dirty="0"/>
                        <a:t>✅ Clinically meaningful organization of information</a:t>
                      </a:r>
                    </a:p>
                    <a:p>
                      <a:r>
                        <a:rPr lang="en-US" sz="1400" dirty="0"/>
                        <a:t>✅ Consistent summary structure across customers</a:t>
                      </a:r>
                    </a:p>
                    <a:p>
                      <a:r>
                        <a:rPr lang="en-US" sz="1400" dirty="0"/>
                        <a:t>✅ Future interoperability readiness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✅ Reduced customization effort</a:t>
                      </a:r>
                    </a:p>
                    <a:p>
                      <a:r>
                        <a:rPr lang="en-US" sz="1400" dirty="0"/>
                        <a:t>✅ Alignment with healthcare industry best practices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694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3452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297126" y="256200"/>
            <a:ext cx="5910312" cy="74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sz="4400" dirty="0"/>
              <a:t>User Experience Demo</a:t>
            </a:r>
            <a:endParaRPr sz="4400" dirty="0"/>
          </a:p>
        </p:txBody>
      </p:sp>
      <p:sp>
        <p:nvSpPr>
          <p:cNvPr id="128" name="Google Shape;128;p19"/>
          <p:cNvSpPr txBox="1">
            <a:spLocks noGrp="1"/>
          </p:cNvSpPr>
          <p:nvPr>
            <p:ph type="subTitle" idx="1"/>
          </p:nvPr>
        </p:nvSpPr>
        <p:spPr>
          <a:xfrm>
            <a:off x="297052" y="1111552"/>
            <a:ext cx="5724534" cy="4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Summary Available Inside Existing Workflow</a:t>
            </a:r>
            <a:endParaRPr sz="2400" dirty="0"/>
          </a:p>
        </p:txBody>
      </p:sp>
      <p:sp>
        <p:nvSpPr>
          <p:cNvPr id="129" name="Google Shape;129;p19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5808012" cy="31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>
              <a:buNone/>
            </a:pPr>
            <a:r>
              <a:rPr lang="en-US" sz="2000" b="1" dirty="0"/>
              <a:t>Key Characteristics</a:t>
            </a:r>
          </a:p>
          <a:p>
            <a:r>
              <a:rPr lang="en-US" sz="2000" dirty="0"/>
              <a:t>No workflow disruption</a:t>
            </a:r>
          </a:p>
          <a:p>
            <a:r>
              <a:rPr lang="en-US" sz="2000" dirty="0"/>
              <a:t>Embedded in reporting experience</a:t>
            </a:r>
          </a:p>
          <a:p>
            <a:r>
              <a:rPr lang="en-US" sz="2000" dirty="0"/>
              <a:t>One-click access</a:t>
            </a:r>
          </a:p>
          <a:p>
            <a:r>
              <a:rPr lang="en-US" sz="2000" dirty="0"/>
              <a:t>Clinically focused presentation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BDD921-38B1-7A40-4107-19B242641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512" y="141248"/>
            <a:ext cx="2881870" cy="43758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sz="4400" dirty="0"/>
              <a:t>AI Processing Strategy</a:t>
            </a:r>
            <a:endParaRPr sz="4400" dirty="0"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Optimized for Performance and User Experience</a:t>
            </a:r>
            <a:endParaRPr sz="2400" dirty="0"/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8073000" cy="31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b="1" dirty="0"/>
              <a:t>Prefetch Generation</a:t>
            </a:r>
          </a:p>
          <a:p>
            <a:r>
              <a:rPr lang="en-US" sz="2000" dirty="0"/>
              <a:t>Triggered when an order is received</a:t>
            </a:r>
          </a:p>
          <a:p>
            <a:r>
              <a:rPr lang="en-US" sz="2000" b="1" dirty="0"/>
              <a:t>Final Summary Refresh</a:t>
            </a:r>
          </a:p>
          <a:p>
            <a:r>
              <a:rPr lang="en-US" sz="2000" dirty="0"/>
              <a:t>Triggered when report is verified by a physician</a:t>
            </a:r>
          </a:p>
          <a:p>
            <a:r>
              <a:rPr lang="en-US" sz="2000" b="1" dirty="0"/>
              <a:t>Why?</a:t>
            </a:r>
          </a:p>
          <a:p>
            <a:r>
              <a:rPr lang="en-US" sz="2000" dirty="0"/>
              <a:t>Ensures summaries are already available when clinicians need them.</a:t>
            </a:r>
          </a:p>
          <a:p>
            <a:r>
              <a:rPr lang="en-US" sz="2000" dirty="0"/>
              <a:t>Avoids waiting several seconds for on-demand AI generation.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>
            <a:spLocks noGrp="1"/>
          </p:cNvSpPr>
          <p:nvPr>
            <p:ph type="title"/>
          </p:nvPr>
        </p:nvSpPr>
        <p:spPr>
          <a:xfrm>
            <a:off x="242900" y="243475"/>
            <a:ext cx="8229600" cy="740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sz="4400" dirty="0"/>
              <a:t>Finding the Best AI Model</a:t>
            </a:r>
            <a:endParaRPr sz="4400" dirty="0"/>
          </a:p>
        </p:txBody>
      </p:sp>
      <p:sp>
        <p:nvSpPr>
          <p:cNvPr id="167" name="Google Shape;167;p24"/>
          <p:cNvSpPr txBox="1">
            <a:spLocks noGrp="1"/>
          </p:cNvSpPr>
          <p:nvPr>
            <p:ph type="subTitle" idx="1"/>
          </p:nvPr>
        </p:nvSpPr>
        <p:spPr>
          <a:xfrm>
            <a:off x="297125" y="930300"/>
            <a:ext cx="8175300" cy="4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/>
              <a:t>Finding the Best AI Model</a:t>
            </a:r>
            <a:endParaRPr sz="2400" dirty="0"/>
          </a:p>
        </p:txBody>
      </p:sp>
      <p:sp>
        <p:nvSpPr>
          <p:cNvPr id="168" name="Google Shape;168;p24"/>
          <p:cNvSpPr txBox="1">
            <a:spLocks noGrp="1"/>
          </p:cNvSpPr>
          <p:nvPr>
            <p:ph type="body" idx="3"/>
          </p:nvPr>
        </p:nvSpPr>
        <p:spPr>
          <a:xfrm>
            <a:off x="399425" y="1339500"/>
            <a:ext cx="8073000" cy="31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dirty="0"/>
              <a:t>We evaluated multiple Matcha AI models based on:</a:t>
            </a:r>
          </a:p>
          <a:p>
            <a:r>
              <a:rPr lang="en-US" sz="1600" dirty="0"/>
              <a:t>Clinical quality</a:t>
            </a:r>
          </a:p>
          <a:p>
            <a:r>
              <a:rPr lang="en-US" sz="1600" dirty="0"/>
              <a:t>Response time</a:t>
            </a:r>
          </a:p>
          <a:p>
            <a:r>
              <a:rPr lang="en-US" sz="1600" dirty="0"/>
              <a:t>Token consumption</a:t>
            </a:r>
          </a:p>
          <a:p>
            <a:r>
              <a:rPr lang="en-US" sz="1600" dirty="0"/>
              <a:t>Scalability</a:t>
            </a:r>
          </a:p>
          <a:p>
            <a:r>
              <a:rPr lang="en-US" sz="1600" dirty="0"/>
              <a:t>Cost efficiency</a:t>
            </a:r>
          </a:p>
          <a:p>
            <a:pPr marL="139700" indent="0">
              <a:buNone/>
            </a:pPr>
            <a:r>
              <a:rPr lang="en-US" sz="1600" b="1" dirty="0"/>
              <a:t>Key Findings</a:t>
            </a:r>
          </a:p>
          <a:p>
            <a:r>
              <a:rPr lang="en-US" sz="1600" dirty="0"/>
              <a:t>Some models generated higher quality summaries.</a:t>
            </a:r>
          </a:p>
          <a:p>
            <a:r>
              <a:rPr lang="en-US" sz="1600" dirty="0"/>
              <a:t>Some models provided faster responses.</a:t>
            </a:r>
          </a:p>
          <a:p>
            <a:r>
              <a:rPr lang="en-US" sz="1600" dirty="0"/>
              <a:t>Some models had limitations on the number of reports that could be processed efficiently.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7BA31-57EE-4FE6-9AF4-0F0150664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Optimization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77512-1A5C-F888-A808-6DBF1D8382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Intelligent Token Management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63979-4E38-FB22-2354-F0433DF9E6A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Caching Mechanism</a:t>
            </a:r>
          </a:p>
          <a:p>
            <a:pPr marL="139700" indent="0">
              <a:buNone/>
            </a:pPr>
            <a:r>
              <a:rPr lang="en-US" dirty="0"/>
              <a:t>Benefits:</a:t>
            </a:r>
          </a:p>
          <a:p>
            <a:r>
              <a:rPr lang="en-US" dirty="0"/>
              <a:t>Reduces repeated AI requests</a:t>
            </a:r>
          </a:p>
          <a:p>
            <a:r>
              <a:rPr lang="en-US" dirty="0"/>
              <a:t>Minimizes token consumption</a:t>
            </a:r>
          </a:p>
          <a:p>
            <a:r>
              <a:rPr lang="en-US" dirty="0"/>
              <a:t>Improves response speed</a:t>
            </a:r>
          </a:p>
          <a:p>
            <a:r>
              <a:rPr lang="en-US" dirty="0"/>
              <a:t>Reduces operating cost</a:t>
            </a:r>
          </a:p>
          <a:p>
            <a:pPr marL="139700" indent="0">
              <a:buNone/>
            </a:pPr>
            <a:r>
              <a:rPr lang="en-US" b="1" dirty="0"/>
              <a:t>Result</a:t>
            </a:r>
          </a:p>
          <a:p>
            <a:r>
              <a:rPr lang="en-US" dirty="0"/>
              <a:t>More scalable deployment across large customer environments.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001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79BE7-C13D-5345-A7D5-98CA53E3C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Platform Flexibility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4DDA9-8D27-3825-BB3D-0182728CFC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49968-D09C-4F6F-93BC-EAB6797E59C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Current Solution</a:t>
            </a:r>
          </a:p>
          <a:p>
            <a:r>
              <a:rPr lang="en-US" dirty="0"/>
              <a:t>Matcha AI Models</a:t>
            </a:r>
          </a:p>
          <a:p>
            <a:pPr marL="139700" indent="0">
              <a:buNone/>
            </a:pPr>
            <a:r>
              <a:rPr lang="en-US" b="1" dirty="0"/>
              <a:t>Other Options</a:t>
            </a:r>
          </a:p>
          <a:p>
            <a:pPr marL="139700" indent="0">
              <a:buNone/>
            </a:pPr>
            <a:r>
              <a:rPr lang="en-US" dirty="0"/>
              <a:t>Internally Hosted Open Source Models</a:t>
            </a:r>
          </a:p>
          <a:p>
            <a:pPr marL="139700" indent="0">
              <a:buNone/>
            </a:pPr>
            <a:r>
              <a:rPr lang="en-US" dirty="0"/>
              <a:t>Examples explored:</a:t>
            </a:r>
          </a:p>
          <a:p>
            <a:r>
              <a:rPr lang="en-US" dirty="0" err="1"/>
              <a:t>Ollama</a:t>
            </a:r>
            <a:r>
              <a:rPr lang="en-US" dirty="0"/>
              <a:t>-based deployments</a:t>
            </a:r>
          </a:p>
          <a:p>
            <a:r>
              <a:rPr lang="en-US" dirty="0"/>
              <a:t>Llama 70B models</a:t>
            </a:r>
          </a:p>
          <a:p>
            <a:r>
              <a:rPr lang="en-US" dirty="0"/>
              <a:t>Medical-focused open-source models</a:t>
            </a:r>
          </a:p>
          <a:p>
            <a:pPr marL="139700" indent="0">
              <a:buNone/>
            </a:pPr>
            <a:r>
              <a:rPr lang="en-US" b="1" dirty="0"/>
              <a:t>Why?</a:t>
            </a:r>
          </a:p>
          <a:p>
            <a:r>
              <a:rPr lang="en-US" dirty="0"/>
              <a:t>Cost optimization</a:t>
            </a:r>
          </a:p>
          <a:p>
            <a:r>
              <a:rPr lang="en-US" dirty="0"/>
              <a:t>Data sovereignty</a:t>
            </a:r>
          </a:p>
          <a:p>
            <a:r>
              <a:rPr lang="en-US" dirty="0"/>
              <a:t>Scalability</a:t>
            </a:r>
          </a:p>
          <a:p>
            <a:r>
              <a:rPr lang="en-US" dirty="0"/>
              <a:t>Vendor flexibility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416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E2E0C-1385-B6B8-9464-08668757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31A2E-DDB8-7387-87E3-EBF06AF751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One Mission for All Customers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C0C84-B3B0-C863-BEB5-7B4423E9653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Design Principle</a:t>
            </a:r>
          </a:p>
          <a:p>
            <a:r>
              <a:rPr lang="en-US" dirty="0"/>
              <a:t>Single summarization mission</a:t>
            </a:r>
          </a:p>
          <a:p>
            <a:pPr marL="139700" indent="0">
              <a:buNone/>
            </a:pPr>
            <a:r>
              <a:rPr lang="en-US" b="1" dirty="0"/>
              <a:t>Supports</a:t>
            </a:r>
          </a:p>
          <a:p>
            <a:r>
              <a:rPr lang="en-US" dirty="0"/>
              <a:t>All exam types</a:t>
            </a:r>
          </a:p>
          <a:p>
            <a:r>
              <a:rPr lang="en-US" dirty="0"/>
              <a:t>All specialties</a:t>
            </a:r>
          </a:p>
          <a:p>
            <a:r>
              <a:rPr lang="en-US" dirty="0"/>
              <a:t>All customer environments</a:t>
            </a:r>
          </a:p>
          <a:p>
            <a:pPr marL="139700" indent="0">
              <a:buNone/>
            </a:pPr>
            <a:r>
              <a:rPr lang="en-US" b="1" dirty="0"/>
              <a:t>Benefits</a:t>
            </a:r>
          </a:p>
          <a:p>
            <a:r>
              <a:rPr lang="en-US" dirty="0"/>
              <a:t>Simpler deployment</a:t>
            </a:r>
          </a:p>
          <a:p>
            <a:r>
              <a:rPr lang="en-US" dirty="0"/>
              <a:t>Easier maintenance</a:t>
            </a:r>
          </a:p>
          <a:p>
            <a:r>
              <a:rPr lang="en-US" dirty="0"/>
              <a:t>Reduced customization effort</a:t>
            </a:r>
          </a:p>
          <a:p>
            <a:r>
              <a:rPr lang="en-US" dirty="0"/>
              <a:t>Faster upgrades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304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3C340-E9A8-EE08-5984-9E115792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Compatibility &amp; Rollout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AAF18-FEAE-A8D6-F803-198ED9834A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Designed for Existing Customers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EE569-DF12-6D64-E235-55C27B71D3D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Supported Versions</a:t>
            </a:r>
          </a:p>
          <a:p>
            <a:pPr marL="139700" indent="0">
              <a:buNone/>
            </a:pPr>
            <a:r>
              <a:rPr lang="en-US" dirty="0"/>
              <a:t>Current Customers</a:t>
            </a:r>
          </a:p>
          <a:p>
            <a:pPr marL="139700" indent="0">
              <a:buNone/>
            </a:pPr>
            <a:r>
              <a:rPr lang="en-US" dirty="0"/>
              <a:t>Version 5.21</a:t>
            </a:r>
          </a:p>
          <a:p>
            <a:pPr marL="139700" indent="0">
              <a:buNone/>
            </a:pPr>
            <a:r>
              <a:rPr lang="en-US" dirty="0"/>
              <a:t>Future Deployments</a:t>
            </a:r>
          </a:p>
          <a:p>
            <a:pPr marL="139700" indent="0">
              <a:buNone/>
            </a:pPr>
            <a:r>
              <a:rPr lang="en-US" dirty="0"/>
              <a:t>Version 5.22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b="1" dirty="0"/>
              <a:t>Benefits</a:t>
            </a:r>
          </a:p>
          <a:p>
            <a:r>
              <a:rPr lang="en-US" dirty="0"/>
              <a:t>Faster customer feedback</a:t>
            </a:r>
          </a:p>
          <a:p>
            <a:r>
              <a:rPr lang="en-US" dirty="0"/>
              <a:t>Larger pilot audience</a:t>
            </a:r>
          </a:p>
          <a:p>
            <a:r>
              <a:rPr lang="en-US" dirty="0"/>
              <a:t>Reduced upgrade barriers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540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87F10-D328-9223-34C9-70D09992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F0C07-7FBB-6C54-B6EE-63F8B12B55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From Historical Reports to Actionable Clinical Intelligence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1BE2A-7032-CB52-F99A-495CD310BF9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en-US" b="1" dirty="0"/>
              <a:t>Better Context</a:t>
            </a:r>
          </a:p>
          <a:p>
            <a:pPr>
              <a:lnSpc>
                <a:spcPct val="300000"/>
              </a:lnSpc>
            </a:pPr>
            <a:r>
              <a:rPr lang="en-US" b="1" dirty="0"/>
              <a:t>Smarter Reporting</a:t>
            </a:r>
          </a:p>
          <a:p>
            <a:pPr>
              <a:lnSpc>
                <a:spcPct val="300000"/>
              </a:lnSpc>
            </a:pPr>
            <a:r>
              <a:rPr lang="en-US" b="1" dirty="0"/>
              <a:t>AI-Powered Clinical Workflows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949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457200" y="1977450"/>
            <a:ext cx="8229600" cy="1188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Future of Patient Care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arris Color Palette">
      <a:dk1>
        <a:srgbClr val="002B36"/>
      </a:dk1>
      <a:lt1>
        <a:srgbClr val="FFFFFF"/>
      </a:lt1>
      <a:dk2>
        <a:srgbClr val="24515F"/>
      </a:dk2>
      <a:lt2>
        <a:srgbClr val="F3F6FA"/>
      </a:lt2>
      <a:accent1>
        <a:srgbClr val="008099"/>
      </a:accent1>
      <a:accent2>
        <a:srgbClr val="2EAEC7"/>
      </a:accent2>
      <a:accent3>
        <a:srgbClr val="59C09E"/>
      </a:accent3>
      <a:accent4>
        <a:srgbClr val="F79961"/>
      </a:accent4>
      <a:accent5>
        <a:srgbClr val="E16D5D"/>
      </a:accent5>
      <a:accent6>
        <a:srgbClr val="93619C"/>
      </a:accent6>
      <a:hlink>
        <a:srgbClr val="3499AD"/>
      </a:hlink>
      <a:folHlink>
        <a:srgbClr val="9361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1075</Words>
  <Application>Microsoft Office PowerPoint</Application>
  <PresentationFormat>On-screen Show (16:9)</PresentationFormat>
  <Paragraphs>202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Automated Patient History Summarization</vt:lpstr>
      <vt:lpstr>The Clinical Challenge</vt:lpstr>
      <vt:lpstr>Vision</vt:lpstr>
      <vt:lpstr>Solution Overview</vt:lpstr>
      <vt:lpstr>Standards-Based Clinical Intelligence</vt:lpstr>
      <vt:lpstr>User Experience Demo</vt:lpstr>
      <vt:lpstr>AI Processing Strategy</vt:lpstr>
      <vt:lpstr>Finding the Best AI Model</vt:lpstr>
      <vt:lpstr>Cost Optimization Strategy</vt:lpstr>
      <vt:lpstr>AI Platform Flexibility</vt:lpstr>
      <vt:lpstr>Product Strategy</vt:lpstr>
      <vt:lpstr>Compatibility &amp; Rollout Strategy</vt:lpstr>
      <vt:lpstr>Closing</vt:lpstr>
      <vt:lpstr>The Future of Patient Care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Mohammad Moharam</cp:lastModifiedBy>
  <cp:revision>3</cp:revision>
  <dcterms:modified xsi:type="dcterms:W3CDTF">2026-06-03T13:56:00Z</dcterms:modified>
</cp:coreProperties>
</file>
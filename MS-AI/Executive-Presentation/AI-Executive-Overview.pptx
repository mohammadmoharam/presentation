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we have taken AI from idea to a working capability inside the product our</a:t>
            </a:r>
          </a:p>
          <a:p>
            <a:r>
              <a:t>clinicians already use every day.</a:t>
            </a:r>
          </a:p>
          <a:p/>
          <a:p>
            <a:r>
              <a:t>The problem: before finalising a report, a reading physician may need several years of</a:t>
            </a:r>
          </a:p>
          <a:p>
            <a:r>
              <a:t>prior reports across modalities. The information exists, but rebuilding the clinical</a:t>
            </a:r>
          </a:p>
          <a:p>
            <a:r>
              <a:t>story is slow, inconsistent between readers and easy to get wrong ("Patient History</a:t>
            </a:r>
          </a:p>
          <a:p>
            <a:r>
              <a:t>Summarization .pptx", slides 2-3 and notes). That is cognitive load on our most</a:t>
            </a:r>
          </a:p>
          <a:p>
            <a:r>
              <a:t>expensive clinical minute.</a:t>
            </a:r>
          </a:p>
          <a:p/>
          <a:p>
            <a:r>
              <a:t>The value: the AI generates two views — AI History Summary and AI History Details —</a:t>
            </a:r>
          </a:p>
          <a:p>
            <a:r>
              <a:t>reachable in one click from the Previous Exams tab, with critical and abnormal items</a:t>
            </a:r>
          </a:p>
          <a:p>
            <a:r>
              <a:t>visually prioritised ("AI-Powered Patient History Summarization.docx", Key capabilities;</a:t>
            </a:r>
          </a:p>
          <a:p>
            <a:r>
              <a:t>"AI Patient Summary - Customer Perspective 1.html"). Because the summary is prefetched</a:t>
            </a:r>
          </a:p>
          <a:p>
            <a:r>
              <a:t>when the order arrives and refreshed when the report is verified, it is waiting before</a:t>
            </a:r>
          </a:p>
          <a:p>
            <a:r>
              <a:t>the clinician asks for it (use-case PDF, page 1, "AI processing strategy"). We chose</a:t>
            </a:r>
          </a:p>
          <a:p>
            <a:r>
              <a:t>USCDI v4 and C-CDA as the summary skeleton so one mission serves all exam types and</a:t>
            </a:r>
          </a:p>
          <a:p>
            <a:r>
              <a:t>customers rather than per-customer variants (deck slides 5 and 11).</a:t>
            </a:r>
          </a:p>
          <a:p/>
          <a:p>
            <a:r>
              <a:t>Example: the sample on screen consolidates a vascular patient's problem list with status,</a:t>
            </a:r>
          </a:p>
          <a:p>
            <a:r>
              <a:t>first/last noted dates and progression notes — explicitly flagging what is "not documented</a:t>
            </a:r>
          </a:p>
          <a:p>
            <a:r>
              <a:t>in any provided report" rather than inventing content.</a:t>
            </a:r>
          </a:p>
          <a:p/>
          <a:p>
            <a:r>
              <a:t>Status and limits — important for credibility: development is complete and summaries are</a:t>
            </a:r>
          </a:p>
          <a:p>
            <a:r>
              <a:t>generated automatically after exam finalisation, with baseline and incremental jobs run by</a:t>
            </a:r>
          </a:p>
          <a:p>
            <a:r>
              <a:t>a dedicated parser ("AI Patient Summary - Support Runbook 1.html", sections 2 and 4). What</a:t>
            </a:r>
          </a:p>
          <a:p>
            <a:r>
              <a:t>we do NOT have in our sources is pilot validation data, customer adoption, measured time</a:t>
            </a:r>
          </a:p>
          <a:p>
            <a:r>
              <a:t>saved or accuracy benchmarking. Every benefit on this slide is an expected benefit.</a:t>
            </a:r>
          </a:p>
          <a:p/>
          <a:p>
            <a:r>
              <a:t>Effort, dependencies, risk: delivery effort is not documented anywhere in the source set,</a:t>
            </a:r>
          </a:p>
          <a:p>
            <a:r>
              <a:t>so I am not quoting a figure. Known effort concentrations were Matcha model selection</a:t>
            </a:r>
          </a:p>
          <a:p>
            <a:r>
              <a:t>(quality vs. latency vs. token cost) and caching to control cost (deck slides 8-9).</a:t>
            </a:r>
          </a:p>
          <a:p>
            <a:r>
              <a:t>Dependencies: Matcha AI availability, the MATCHA_API_KEY held server-side, and customer</a:t>
            </a:r>
          </a:p>
          <a:p>
            <a:r>
              <a:t>versions 5.21 / 5.22. Privacy design anonymises the PDF before the AI call and re-injects</a:t>
            </a:r>
          </a:p>
          <a:p>
            <a:r>
              <a:t>identifiers locally (runbook, section 4) — worth stating, but it is a design claim, not an</a:t>
            </a:r>
          </a:p>
          <a:p>
            <a:r>
              <a:t>audited compliance statement.</a:t>
            </a:r>
          </a:p>
          <a:p/>
          <a:p>
            <a:r>
              <a:t>Decision / next step: approve a measured pilot — agree the sites, the baseline and the two</a:t>
            </a:r>
          </a:p>
          <a:p>
            <a:r>
              <a:t>or three metrics (review time, findings surfaced, clinician acceptance) so the next review</a:t>
            </a:r>
          </a:p>
          <a:p>
            <a:r>
              <a:t>reports evidence instead of intent.</a:t>
            </a:r>
          </a:p>
          <a:p/>
          <a:p>
            <a:r>
              <a:t>Transition: that is value delivered. Next, the value we are building for our own</a:t>
            </a:r>
          </a:p>
          <a:p>
            <a:r>
              <a:t>operations teams.</a:t>
            </a:r>
          </a:p>
          <a:p/>
          <a:p>
            <a:r>
              <a:t>Sources: MS-AI/AI Priors/AI-Powered Patient History Summarization.docx;</a:t>
            </a:r>
          </a:p>
          <a:p>
            <a:r>
              <a:t>MS-AI/AI Priors/Patient History Summarization .pptx (slides 2-3, 5-9, 11-12 + notes);</a:t>
            </a:r>
          </a:p>
          <a:p>
            <a:r>
              <a:t>MS-AI/AI Priors/Patient-History-Summarization-UseCase 1.pdf (pages 1-2);</a:t>
            </a:r>
          </a:p>
          <a:p>
            <a:r>
              <a:t>MS-AI/AI Priors/AI Patient Summary Customer Perspective 1.html;</a:t>
            </a:r>
          </a:p>
          <a:p>
            <a:r>
              <a:t>MS-AI/AI Priors/AI Patient Summary Support Runbook 1.html (sections 1-4).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the same AI approach is now pointed at our own cost base — the effort our support</a:t>
            </a:r>
          </a:p>
          <a:p>
            <a:r>
              <a:t>and operations teams spend keeping customer server environments healthy.</a:t>
            </a:r>
          </a:p>
          <a:p/>
          <a:p>
            <a:r>
              <a:t>The problem: teams work reactively across PACS environments, HL7 interfaces, archives and</a:t>
            </a:r>
          </a:p>
          <a:p>
            <a:r>
              <a:t>storage growth. Alerts arrive after business impact has started, investigation is manual,</a:t>
            </a:r>
          </a:p>
          <a:p>
            <a:r>
              <a:t>and the effort scales with every new customer environment ("Proactive Infrastructure</a:t>
            </a:r>
          </a:p>
          <a:p>
            <a:r>
              <a:t>Management…pptx", slide 2 and notes).</a:t>
            </a:r>
          </a:p>
          <a:p/>
          <a:p>
            <a:r>
              <a:t>What Sentinel enables: a single dashboard for server inventory, health, performance,</a:t>
            </a:r>
          </a:p>
          <a:p>
            <a:r>
              <a:t>storage and incidents; a Windows agent that executes only allow-listed commands with</a:t>
            </a:r>
          </a:p>
          <a:p>
            <a:r>
              <a:t>risk classification and approval gates; browser-based RDP that keeps RDP credentials out</a:t>
            </a:r>
          </a:p>
          <a:p>
            <a:r>
              <a:t>of the platform; and AI forecasting for disk, memory and CPU risk with deterministic</a:t>
            </a:r>
          </a:p>
          <a:p>
            <a:r>
              <a:t>fallbacks ("AI Dashboard Brief Project Description.docx", Key Capabilities).</a:t>
            </a:r>
          </a:p>
          <a:p/>
          <a:p>
            <a:r>
              <a:t>Why management should care: it reduces time to resolution, removes the need for inbound</a:t>
            </a:r>
          </a:p>
          <a:p>
            <a:r>
              <a:t>access and VPN routing into customer networks because agents connect outbound, and it</a:t>
            </a:r>
          </a:p>
          <a:p>
            <a:r>
              <a:t>leaves an audit record for every login, command, approval and remote session — which is</a:t>
            </a:r>
          </a:p>
          <a:p>
            <a:r>
              <a:t>exactly what customers ask us for during security reviews.</a:t>
            </a:r>
          </a:p>
          <a:p/>
          <a:p>
            <a:r>
              <a:t>Status and evidence limits: the capability list is documented as built, but the document</a:t>
            </a:r>
          </a:p>
          <a:p>
            <a:r>
              <a:t>itself signals unfinished work — the file transfer layer today returns policy decisions</a:t>
            </a:r>
          </a:p>
          <a:p>
            <a:r>
              <a:t>and audit records "before enabling full real file streaming", and the newer AgentRelay</a:t>
            </a:r>
          </a:p>
          <a:p>
            <a:r>
              <a:t>capability is being "introduced and validated in stages" while direct connectivity</a:t>
            </a:r>
          </a:p>
          <a:p>
            <a:r>
              <a:t>remains. Note a discrepancy the executives should know about: the May 2026 deck is an</a:t>
            </a:r>
          </a:p>
          <a:p>
            <a:r>
              <a:t>AI-assisted proof of concept with generated mockups (slide 15), whereas the project</a:t>
            </a:r>
          </a:p>
          <a:p>
            <a:r>
              <a:t>description describes a working platform. I am presenting the project description as the</a:t>
            </a:r>
          </a:p>
          <a:p>
            <a:r>
              <a:t>status of record and treating the deck's autonomous-operations phases as roadmap, not</a:t>
            </a:r>
          </a:p>
          <a:p>
            <a:r>
              <a:t>delivery.</a:t>
            </a:r>
          </a:p>
          <a:p/>
          <a:p>
            <a:r>
              <a:t>Effort, dependencies, risk: remaining effort is not sized in any source, so the honest</a:t>
            </a:r>
          </a:p>
          <a:p>
            <a:r>
              <a:t>answer is "to be confirmed"; I would not quote a date. Dependencies are Matcha AI through</a:t>
            </a:r>
          </a:p>
          <a:p>
            <a:r>
              <a:t>the abstraction layer, Azure AD / Microsoft Identity for dashboard sign-in, Zoho Vault for</a:t>
            </a:r>
          </a:p>
          <a:p>
            <a:r>
              <a:t>secret lookup, PostgreSQL/SQLite telemetry storage, and customer willingness to install</a:t>
            </a:r>
          </a:p>
          <a:p>
            <a:r>
              <a:t>the agent. Main risks: agent rollout friction, forecast trust, and scope creep toward</a:t>
            </a:r>
          </a:p>
          <a:p>
            <a:r>
              <a:t>autonomous remediation before approval controls are proven.</a:t>
            </a:r>
          </a:p>
          <a:p/>
          <a:p>
            <a:r>
              <a:t>Decision / next step: confirm the next milestone — complete governed file transfer and</a:t>
            </a:r>
          </a:p>
          <a:p>
            <a:r>
              <a:t>staged relay validation on a defined set of internal servers — and approve whether HL7 and</a:t>
            </a:r>
          </a:p>
          <a:p>
            <a:r>
              <a:t>PACS monitoring is in scope for the next increment, since that is what converts this from</a:t>
            </a:r>
          </a:p>
          <a:p>
            <a:r>
              <a:t>an IT tool into a managed-services differentiator.</a:t>
            </a:r>
          </a:p>
          <a:p/>
          <a:p>
            <a:r>
              <a:t>Transition: with one capability delivered and one in flight, the question becomes where we</a:t>
            </a:r>
          </a:p>
          <a:p>
            <a:r>
              <a:t>invest next.</a:t>
            </a:r>
          </a:p>
          <a:p/>
          <a:p>
            <a:r>
              <a:t>Sources: MS-AI/AI Dashboard/AI Dashboard Brief Project Description.docx (Objectives, Key</a:t>
            </a:r>
          </a:p>
          <a:p>
            <a:r>
              <a:t>Capabilities, Business Value); MS-AI/AI Dashboard/Proactive Infrastructure Management_…</a:t>
            </a:r>
          </a:p>
          <a:p>
            <a:r>
              <a:t>_20260513141714.pptx (slides 2-9, 13-15 + notes); "next" items also appear in</a:t>
            </a:r>
          </a:p>
          <a:p>
            <a:r>
              <a:t>MS-AI/Next Ideas/Q4 and 2027 ideas.docx (AI monitoring dashboard for HL7/PACS; CRM</a:t>
            </a:r>
          </a:p>
          <a:p>
            <a:r>
              <a:t>contract alerts).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the planning material holds roughly twenty ideas. Rather than read a feature</a:t>
            </a:r>
          </a:p>
          <a:p>
            <a:r>
              <a:t>list, I have grouped them into four investment themes and put one recommendation in front</a:t>
            </a:r>
          </a:p>
          <a:p>
            <a:r>
              <a:t>of you.</a:t>
            </a:r>
          </a:p>
          <a:p/>
          <a:p>
            <a:r>
              <a:t>Why these four, and what is behind each theme (all from</a:t>
            </a:r>
          </a:p>
          <a:p>
            <a:r>
              <a:t>MS-AI/Next Ideas/Q4 and 2027 ideas.docx):</a:t>
            </a:r>
          </a:p>
          <a:p>
            <a:r>
              <a:t>1. Reporting quality &amp; safety — AI report discrepancy detector comparing preliminary and</a:t>
            </a:r>
          </a:p>
          <a:p>
            <a:r>
              <a:t>   final reports (critical, major, follow-up, laterality and measurement discrepancies with</a:t>
            </a:r>
          </a:p>
          <a:p>
            <a:r>
              <a:t>   a pre-sign-off warning), findings-vs-impression consistency checks, critical result</a:t>
            </a:r>
          </a:p>
          <a:p>
            <a:r>
              <a:t>   detection, template completeness and a prelim-to-final quality score, plus follow-up</a:t>
            </a:r>
          </a:p>
          <a:p>
            <a:r>
              <a:t>   recommendation tracking that creates tasks in PACS or an administrative dashboard, and</a:t>
            </a:r>
          </a:p>
          <a:p>
            <a:r>
              <a:t>   ORU / report enrichment for referring physicians.</a:t>
            </a:r>
          </a:p>
          <a:p>
            <a:r>
              <a:t>2. Operational intelligence — HL7 and interface issue triage from interface-engine logs,</a:t>
            </a:r>
          </a:p>
          <a:p>
            <a:r>
              <a:t>   HL7 troubleshooting executive summary mode, AI log analysis, error-grouping over logs</a:t>
            </a:r>
          </a:p>
          <a:p>
            <a:r>
              <a:t>   already collected, and integration of the AI dashboard with CRM contract data to raise</a:t>
            </a:r>
          </a:p>
          <a:p>
            <a:r>
              <a:t>   alerts when storage or concurrent-user limits are exceeded.</a:t>
            </a:r>
          </a:p>
          <a:p>
            <a:r>
              <a:t>3. Engineering productivity — the EHR Orchestrator test-automation proof of concept</a:t>
            </a:r>
          </a:p>
          <a:p>
            <a:r>
              <a:t>   (chat-driven, record, test and AI modes across desktop and web, which already surfaced</a:t>
            </a:r>
          </a:p>
          <a:p>
            <a:r>
              <a:t>   defects logged in TFS), natural-language codebase knowledge access, and dead-code</a:t>
            </a:r>
          </a:p>
          <a:p>
            <a:r>
              <a:t>   cleanup.</a:t>
            </a:r>
          </a:p>
          <a:p>
            <a:r>
              <a:t>4. PACS independence &amp; platform modernisation — removing the out-of-support EMR module and</a:t>
            </a:r>
          </a:p>
          <a:p>
            <a:r>
              <a:t>   moving required logic to PACS, separating thick-client and web business logic with</a:t>
            </a:r>
          </a:p>
          <a:p>
            <a:r>
              <a:t>   cross-OS file handling, an admin tool for PACS-only installations, object storage in an</a:t>
            </a:r>
          </a:p>
          <a:p>
            <a:r>
              <a:t>   OCI bucket, and AI-generated ECG findings from ECG signals.</a:t>
            </a:r>
          </a:p>
          <a:p/>
          <a:p>
            <a:r>
              <a:t>Deliberately kept off the slide: the market comparators — Us2.ai for automated</a:t>
            </a:r>
          </a:p>
          <a:p>
            <a:r>
              <a:t>echocardiography reporting and Intelerad for detection and triage. They are evidence that</a:t>
            </a:r>
          </a:p>
          <a:p>
            <a:r>
              <a:t>the market is moving toward AI measurement extraction and worklist prioritisation; they are</a:t>
            </a:r>
          </a:p>
          <a:p>
            <a:r>
              <a:t>not our achievements and should not be presented as such. Also omitted for space: the ECG</a:t>
            </a:r>
          </a:p>
          <a:p>
            <a:r>
              <a:t>finding generation idea, which is scientifically attractive but carries the heaviest</a:t>
            </a:r>
          </a:p>
          <a:p>
            <a:r>
              <a:t>regulatory load, and the autonomous infrastructure-remediation agent concept.</a:t>
            </a:r>
          </a:p>
          <a:p/>
          <a:p>
            <a:r>
              <a:t>Gap to flag: secure image and report sharing was requested as a topic, but I could not find</a:t>
            </a:r>
          </a:p>
          <a:p>
            <a:r>
              <a:t>it anywhere in the planning document. If leadership expects it in the portfolio, the idea</a:t>
            </a:r>
          </a:p>
          <a:p>
            <a:r>
              <a:t>needs to be supplied before it can be positioned.</a:t>
            </a:r>
          </a:p>
          <a:p/>
          <a:p>
            <a:r>
              <a:t>Effort basis and uncertainty: Small / Medium / Large here are preliminary R&amp;D judgements</a:t>
            </a:r>
          </a:p>
          <a:p>
            <a:r>
              <a:t>based on documented scope and dependency breadth — discrepancy detection needs clinical</a:t>
            </a:r>
          </a:p>
          <a:p>
            <a:r>
              <a:t>validation and sign-off workflow changes; operational intelligence largely reuses the</a:t>
            </a:r>
          </a:p>
          <a:p>
            <a:r>
              <a:t>Sentinel platform; engineering productivity already has a working proof of concept; PACS</a:t>
            </a:r>
          </a:p>
          <a:p>
            <a:r>
              <a:t>independence touches database, business logic and deployment across every customer. No</a:t>
            </a:r>
          </a:p>
          <a:p>
            <a:r>
              <a:t>source contains effort figures or dates, and none of the proofs of concept justify</a:t>
            </a:r>
          </a:p>
          <a:p>
            <a:r>
              <a:t>estimating full-product delivery. Treat all four as recommendations for discovery, not</a:t>
            </a:r>
          </a:p>
          <a:p>
            <a:r>
              <a:t>commitments.</a:t>
            </a:r>
          </a:p>
          <a:p/>
          <a:p>
            <a:r>
              <a:t>Why the recommended starting point: the discrepancy detector addresses patient-safety and</a:t>
            </a:r>
          </a:p>
          <a:p>
            <a:r>
              <a:t>liability risk — the highest-value problem in the set — while the Sentinel HL7/PACS</a:t>
            </a:r>
          </a:p>
          <a:p>
            <a:r>
              <a:t>extension gives the fastest return because the platform already exists. Both are testable</a:t>
            </a:r>
          </a:p>
          <a:p>
            <a:r>
              <a:t>at small scale.</a:t>
            </a:r>
          </a:p>
          <a:p/>
          <a:p>
            <a:r>
              <a:t>The ask: approve discovery funding for a discrepancy-detector pilot with one customer, and</a:t>
            </a:r>
          </a:p>
          <a:p>
            <a:r>
              <a:t>confirm whether HL7/PACS monitoring belongs in the next Sentinel increment. Each of the</a:t>
            </a:r>
          </a:p>
          <a:p>
            <a:r>
              <a:t>other themes returns with a sized proposal once discovery output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E8C8B"/>
                </a:solidFill>
                <a:latin typeface="Segoe UI"/>
              </a:rPr>
              <a:t>DELIVERED  ·  PATIENT HISTORY SUMMARIZATION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B2545"/>
                </a:solidFill>
                <a:latin typeface="Segoe UI"/>
              </a:rPr>
              <a:t>Years of Prior Reports, One Structured Patient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1B3A5C"/>
                </a:solidFill>
                <a:latin typeface="Segoe UI"/>
              </a:rPr>
              <a:t>Live in the reporting workflow today; pilot and production adoption not yet evidenced.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58064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556677"/>
                </a:solidFill>
                <a:latin typeface="Segoe UI"/>
              </a:rPr>
              <a:t>Before  </a:t>
            </a:r>
            <a:r>
              <a:rPr sz="1600" b="0">
                <a:solidFill>
                  <a:srgbClr val="556677"/>
                </a:solidFill>
                <a:latin typeface="Segoe UI"/>
              </a:rPr>
              <a:t>Search → read every prior report → summarise mentally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8C8B"/>
                </a:solidFill>
                <a:latin typeface="Segoe UI"/>
              </a:rPr>
              <a:t>After  </a:t>
            </a:r>
            <a:r>
              <a:rPr sz="1600" b="0">
                <a:solidFill>
                  <a:srgbClr val="1B3A5C"/>
                </a:solidFill>
                <a:latin typeface="Segoe UI"/>
              </a:rPr>
              <a:t>Open exam → summary ready → validate → report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493008"/>
            <a:ext cx="128016" cy="128016"/>
          </a:xfrm>
          <a:prstGeom prst="ellipse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310128"/>
            <a:ext cx="54955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Faster review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Prefetched before the exam opens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224528"/>
            <a:ext cx="128016" cy="128016"/>
          </a:xfrm>
          <a:prstGeom prst="ellipse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041648"/>
            <a:ext cx="54955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Better context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Findings, progression and procedures together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956048"/>
            <a:ext cx="128016" cy="128016"/>
          </a:xfrm>
          <a:prstGeom prst="ellipse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773168"/>
            <a:ext cx="54955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Consistent structure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Structured to USCDI v4 / C-CDA</a:t>
            </a:r>
          </a:p>
        </p:txBody>
      </p:sp>
      <p:pic>
        <p:nvPicPr>
          <p:cNvPr id="13" name="Picture 12" descr="ai-history-summary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31720"/>
            <a:ext cx="4839919" cy="200477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720840" y="2267712"/>
            <a:ext cx="4967935" cy="213278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4482794"/>
            <a:ext cx="4839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56677"/>
                </a:solidFill>
                <a:latin typeface="Segoe UI"/>
              </a:rPr>
              <a:t>AI History Summary — demo data, identifiers removed.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541264"/>
            <a:ext cx="3551834" cy="969264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E8C8B"/>
                </a:solidFill>
                <a:latin typeface="Segoe UI"/>
              </a:rPr>
              <a:t>BUSINESS VALUE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B3A5C"/>
                </a:solidFill>
                <a:latin typeface="Segoe UI"/>
              </a:rPr>
              <a:t>Less re-reading; history harder to miss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9930" y="5541264"/>
            <a:ext cx="3551834" cy="969264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E8C8B"/>
                </a:solidFill>
                <a:latin typeface="Segoe UI"/>
              </a:rPr>
              <a:t>IMPACT / EVIDENCE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B3A5C"/>
                </a:solidFill>
                <a:latin typeface="Segoe UI"/>
              </a:rPr>
              <a:t>Generated today; time saved not yet measured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2932" y="5541264"/>
            <a:ext cx="3551834" cy="969264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E8C8B"/>
                </a:solidFill>
                <a:latin typeface="Segoe UI"/>
              </a:rPr>
              <a:t>EFFORT &amp; SCOPE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B3A5C"/>
                </a:solidFill>
                <a:latin typeface="Segoe UI"/>
              </a:rPr>
              <a:t>Effort not documented · v5.21, v5.22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E8C8B"/>
                </a:solidFill>
                <a:latin typeface="Segoe UI"/>
              </a:rPr>
              <a:t>IN PROGRESS  ·  SENTINEL AI OPERATIONS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B2545"/>
                </a:solidFill>
                <a:latin typeface="Segoe UI"/>
              </a:rPr>
              <a:t>Governed Console for Server Health and AI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1B3A5C"/>
                </a:solidFill>
                <a:latin typeface="Segoe UI"/>
              </a:rPr>
              <a:t>Monitoring, approval-gated actions and forecasting are built; secure file transfer and agent relay remain.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11057839" cy="585216"/>
          </a:xfrm>
          <a:prstGeom prst="roundRect">
            <a:avLst>
              <a:gd name="adj" fmla="val 4000"/>
            </a:avLst>
          </a:prstGeom>
          <a:solidFill>
            <a:srgbClr val="E6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B2545"/>
                </a:solidFill>
                <a:latin typeface="Segoe UI"/>
              </a:rPr>
              <a:t>Detect  →  Forecast  →  Recommend  →  Approve  →  Act  → 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3551834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9144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0E8C8B"/>
                </a:solidFill>
                <a:latin typeface="Segoe UI"/>
              </a:rPr>
              <a:t>COMPLETED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E8C8B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Health and capacity dashboard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E8C8B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Approval-gated commands, audited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E8C8B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Disk, memory, CPU forecasts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34640"/>
            <a:ext cx="3551834" cy="63500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9930" y="2834640"/>
            <a:ext cx="3551834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9144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B57A0E"/>
                </a:solidFill>
                <a:latin typeface="Segoe UI"/>
              </a:rPr>
              <a:t>IN PROGRESS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B57A0E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Governed file transfer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B57A0E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Staged relay rollout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B57A0E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Automation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9930" y="2834640"/>
            <a:ext cx="3551834" cy="63500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2932" y="2834640"/>
            <a:ext cx="3551834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9144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B3A5C"/>
                </a:solidFill>
                <a:latin typeface="Segoe UI"/>
              </a:rPr>
              <a:t>NEXT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1B3A5C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HL7 and PACS monitoring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1B3A5C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Contract alerts from CRM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1B3A5C"/>
                </a:solidFill>
                <a:latin typeface="Segoe UI"/>
              </a:rPr>
              <a:t>·  </a:t>
            </a:r>
            <a:r>
              <a:rPr sz="1600" b="0">
                <a:solidFill>
                  <a:srgbClr val="556677"/>
                </a:solidFill>
                <a:latin typeface="Segoe UI"/>
              </a:rPr>
              <a:t>Plain-language ops assistant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2932" y="2834640"/>
            <a:ext cx="3551834" cy="63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5541264"/>
            <a:ext cx="3551834" cy="969264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E8C8B"/>
                </a:solidFill>
                <a:latin typeface="Segoe UI"/>
              </a:rPr>
              <a:t>BUSINESS VALUE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B3A5C"/>
                </a:solidFill>
                <a:latin typeface="Segoe UI"/>
              </a:rPr>
              <a:t>Faster triage; fewer inbound paths to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9930" y="5541264"/>
            <a:ext cx="3551834" cy="969264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E8C8B"/>
                </a:solidFill>
                <a:latin typeface="Segoe UI"/>
              </a:rPr>
              <a:t>IMPACT / EVIDENCE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B3A5C"/>
                </a:solidFill>
                <a:latin typeface="Segoe UI"/>
              </a:rPr>
              <a:t>Expected benefits; no measured MTTR data yet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2932" y="5541264"/>
            <a:ext cx="3551834" cy="969264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E8C8B"/>
                </a:solidFill>
                <a:latin typeface="Segoe UI"/>
              </a:rPr>
              <a:t>EFFORT &amp; DEPENDENCIES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B3A5C"/>
                </a:solidFill>
                <a:latin typeface="Segoe UI"/>
              </a:rPr>
              <a:t>Sizing to be confirmed · agent rollout, Matcha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E8C8B"/>
                </a:solidFill>
                <a:latin typeface="Segoe UI"/>
              </a:rPr>
              <a:t>NEXT  ·  INVESTMENT OPTIONS FOR Q4 AND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B2545"/>
                </a:solidFill>
                <a:latin typeface="Segoe UI"/>
              </a:rPr>
              <a:t>Four Themes, One Recommended 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1B3A5C"/>
                </a:solidFill>
                <a:latin typeface="Segoe UI"/>
              </a:rPr>
              <a:t>Preliminary R&amp;D sizing, not delivery commitments; full initiative list in the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84831"/>
            <a:ext cx="2423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E8C8B"/>
                </a:solidFill>
                <a:latin typeface="Segoe UI"/>
              </a:rPr>
              <a:t>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2084831"/>
            <a:ext cx="388619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E8C8B"/>
                </a:solidFill>
                <a:latin typeface="Segoe UI"/>
              </a:rPr>
              <a:t>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07" y="2084831"/>
            <a:ext cx="1325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E8C8B"/>
                </a:solidFill>
                <a:latin typeface="Segoe UI"/>
              </a:rPr>
              <a:t>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7927" y="2084831"/>
            <a:ext cx="30540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E8C8B"/>
                </a:solidFill>
                <a:latin typeface="Segoe UI"/>
              </a:rPr>
              <a:t>PROPOSED NEXT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32303"/>
            <a:ext cx="11057839" cy="73152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05455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Reporting quality &amp;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505455"/>
            <a:ext cx="3794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Catch prelim-vs-final discrepancies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7" y="2505455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57A0E"/>
                </a:solidFill>
                <a:latin typeface="Segoe UI"/>
              </a:rPr>
              <a:t>Medium–Large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7" y="2505455"/>
            <a:ext cx="29626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Pilot with one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91839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Operational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3291839"/>
            <a:ext cx="3794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AI triage of HL7 and interface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7" y="3291839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57A0E"/>
                </a:solidFill>
                <a:latin typeface="Segoe UI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7" y="3291839"/>
            <a:ext cx="29626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Extend Sentinel to HL7 / PACS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05071"/>
            <a:ext cx="11057839" cy="73152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078223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Engineering productivity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4078223"/>
            <a:ext cx="3794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AI test automation and codebase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4078223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57A0E"/>
                </a:solidFill>
                <a:latin typeface="Segoe UI"/>
              </a:rPr>
              <a:t>Small–Medium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7" y="4078223"/>
            <a:ext cx="29626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Continue the existing 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64607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PACS independence &amp;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4864607"/>
            <a:ext cx="3794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Retire EMR dependency; object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7" y="4864607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57A0E"/>
                </a:solidFill>
                <a:latin typeface="Segoe UI"/>
              </a:rPr>
              <a:t>Large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7" y="4864607"/>
            <a:ext cx="29626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556677"/>
                </a:solidFill>
                <a:latin typeface="Segoe UI"/>
              </a:rPr>
              <a:t>Run the object-storage POC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705855"/>
            <a:ext cx="11057839" cy="841248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F3F3"/>
                </a:solidFill>
                <a:latin typeface="Segoe UI"/>
              </a:rPr>
              <a:t>RECOMMENDATION — NO ASK DOCUMENTED IN SOURCES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Approve discovery funding for the discrepancy detector; confirm HL7/PACS in the next Sentinel increment.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
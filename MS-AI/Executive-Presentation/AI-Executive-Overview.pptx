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we have taken AI from idea to a working capability inside the product our</a:t>
            </a:r>
          </a:p>
          <a:p>
            <a:r>
              <a:t>clinicians already use every day.</a:t>
            </a:r>
          </a:p>
          <a:p/>
          <a:p>
            <a:r>
              <a:t>The problem: before finalising a report, a reading physician may need several years of</a:t>
            </a:r>
          </a:p>
          <a:p>
            <a:r>
              <a:t>prior reports across modalities. The information exists, but rebuilding the clinical</a:t>
            </a:r>
          </a:p>
          <a:p>
            <a:r>
              <a:t>story is slow, inconsistent between readers and easy to get wrong ("Patient History</a:t>
            </a:r>
          </a:p>
          <a:p>
            <a:r>
              <a:t>Summarization .pptx", slides 2-3 and notes). That is cognitive load on our most</a:t>
            </a:r>
          </a:p>
          <a:p>
            <a:r>
              <a:t>expensive clinical minute.</a:t>
            </a:r>
          </a:p>
          <a:p/>
          <a:p>
            <a:r>
              <a:t>The value: the AI generates two views — AI History Summary and AI History Details —</a:t>
            </a:r>
          </a:p>
          <a:p>
            <a:r>
              <a:t>reachable in one click from the Previous Exams tab, with critical and abnormal items</a:t>
            </a:r>
          </a:p>
          <a:p>
            <a:r>
              <a:t>visually prioritised ("AI-Powered Patient History Summarization.docx", Key capabilities;</a:t>
            </a:r>
          </a:p>
          <a:p>
            <a:r>
              <a:t>"AI Patient Summary - Customer Perspective 1.html"). Because the summary is prefetched</a:t>
            </a:r>
          </a:p>
          <a:p>
            <a:r>
              <a:t>when the order arrives and refreshed when the report is verified, it is waiting before</a:t>
            </a:r>
          </a:p>
          <a:p>
            <a:r>
              <a:t>the clinician asks for it (use-case PDF, page 1, "AI processing strategy"). We chose</a:t>
            </a:r>
          </a:p>
          <a:p>
            <a:r>
              <a:t>USCDI v4 and C-CDA as the summary skeleton so one mission serves all exam types and</a:t>
            </a:r>
          </a:p>
          <a:p>
            <a:r>
              <a:t>customers rather than per-customer variants (deck slides 5 and 11).</a:t>
            </a:r>
          </a:p>
          <a:p/>
          <a:p>
            <a:r>
              <a:t>Example: the sample on screen consolidates a vascular patient's problem list with status,</a:t>
            </a:r>
          </a:p>
          <a:p>
            <a:r>
              <a:t>first/last noted dates and progression notes — explicitly flagging what is "not documented</a:t>
            </a:r>
          </a:p>
          <a:p>
            <a:r>
              <a:t>in any provided report" rather than inventing content.</a:t>
            </a:r>
          </a:p>
          <a:p/>
          <a:p>
            <a:r>
              <a:t>Status and limits — important for credibility: development is complete and summaries are</a:t>
            </a:r>
          </a:p>
          <a:p>
            <a:r>
              <a:t>generated automatically after exam finalisation, with baseline and incremental jobs run by</a:t>
            </a:r>
          </a:p>
          <a:p>
            <a:r>
              <a:t>a dedicated parser ("AI Patient Summary - Support Runbook 1.html", sections 2 and 4). What</a:t>
            </a:r>
          </a:p>
          <a:p>
            <a:r>
              <a:t>we do NOT have in our sources is pilot validation data, customer adoption, measured time</a:t>
            </a:r>
          </a:p>
          <a:p>
            <a:r>
              <a:t>saved or accuracy benchmarking. Every benefit on this slide is an expected benefit.</a:t>
            </a:r>
          </a:p>
          <a:p/>
          <a:p>
            <a:r>
              <a:t>Effort, dependencies, risk: delivery effort is not documented anywhere in the source set,</a:t>
            </a:r>
          </a:p>
          <a:p>
            <a:r>
              <a:t>so I am not quoting a figure. Known effort concentrations were Matcha model selection</a:t>
            </a:r>
          </a:p>
          <a:p>
            <a:r>
              <a:t>(quality vs. latency vs. token cost) and caching to control cost (deck slides 8-9).</a:t>
            </a:r>
          </a:p>
          <a:p>
            <a:r>
              <a:t>Dependencies: Matcha AI availability, the MATCHA_API_KEY held server-side, and customer</a:t>
            </a:r>
          </a:p>
          <a:p>
            <a:r>
              <a:t>versions 5.21 / 5.22. Privacy design anonymises the PDF before the AI call and re-injects</a:t>
            </a:r>
          </a:p>
          <a:p>
            <a:r>
              <a:t>identifiers locally (runbook, section 4) — worth stating, but it is a design claim, not an</a:t>
            </a:r>
          </a:p>
          <a:p>
            <a:r>
              <a:t>audited compliance statement.</a:t>
            </a:r>
          </a:p>
          <a:p/>
          <a:p>
            <a:r>
              <a:t>Decision / next step: approve a measured pilot — agree the sites, the baseline and the two</a:t>
            </a:r>
          </a:p>
          <a:p>
            <a:r>
              <a:t>or three metrics (review time, findings surfaced, clinician acceptance) so the next review</a:t>
            </a:r>
          </a:p>
          <a:p>
            <a:r>
              <a:t>reports evidence instead of intent.</a:t>
            </a:r>
          </a:p>
          <a:p/>
          <a:p>
            <a:r>
              <a:t>Transition: that is value delivered. Next, the value we are building for our own</a:t>
            </a:r>
          </a:p>
          <a:p>
            <a:r>
              <a:t>operations teams.</a:t>
            </a:r>
          </a:p>
          <a:p/>
          <a:p>
            <a:r>
              <a:t>Sources: MS-AI/AI Priors/AI-Powered Patient History Summarization.docx;</a:t>
            </a:r>
          </a:p>
          <a:p>
            <a:r>
              <a:t>MS-AI/AI Priors/Patient History Summarization .pptx (slides 2-3, 5-9, 11-12 + notes);</a:t>
            </a:r>
          </a:p>
          <a:p>
            <a:r>
              <a:t>MS-AI/AI Priors/Patient-History-Summarization-UseCase 1.pdf (pages 1-2);</a:t>
            </a:r>
          </a:p>
          <a:p>
            <a:r>
              <a:t>MS-AI/AI Priors/AI Patient Summary Customer Perspective 1.html;</a:t>
            </a:r>
          </a:p>
          <a:p>
            <a:r>
              <a:t>MS-AI/AI Priors/AI Patient Summary Support Runbook 1.html (sections 1-4).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this slide is about our own operations. PACS and HL7 problems are still found</a:t>
            </a:r>
          </a:p>
          <a:p>
            <a:r>
              <a:t>reactively - a queue backs up, an interface fails or a volume fills, and we hear about it</a:t>
            </a:r>
          </a:p>
          <a:p>
            <a:r>
              <a:t>after the customer is already affected. Every one of those events then costs manual</a:t>
            </a:r>
          </a:p>
          <a:p>
            <a:r>
              <a:t>investigation time.</a:t>
            </a:r>
          </a:p>
          <a:p/>
          <a:p>
            <a:r>
              <a:t>What is already completed: PACS / HL7 service monitoring, queue and interface visibility,</a:t>
            </a:r>
          </a:p>
          <a:p>
            <a:r>
              <a:t>operational status mapping, automation, and automated issue classification. That is the</a:t>
            </a:r>
          </a:p>
          <a:p>
            <a:r>
              <a:t>foundation - we can see the estate and act on it in a standard way.</a:t>
            </a:r>
          </a:p>
          <a:p/>
          <a:p>
            <a:r>
              <a:t>What AI adds on top: risk forecasting, storage capacity prediction and performance</a:t>
            </a:r>
          </a:p>
          <a:p>
            <a:r>
              <a:t>degradation prediction, plus prioritized remediation recommendations so the team is told</a:t>
            </a:r>
          </a:p>
          <a:p>
            <a:r>
              <a:t>what to do first, not just what is broken. Queue backlog forecasting is in progress, and</a:t>
            </a:r>
          </a:p>
          <a:p>
            <a:r>
              <a:t>the prioritized remediation recommendations are the next increment.</a:t>
            </a:r>
          </a:p>
          <a:p/>
          <a:p>
            <a:r>
              <a:t>What is next after that: an AI Copilot for Operations - plain-language questions such as</a:t>
            </a:r>
          </a:p>
          <a:p>
            <a:r>
              <a:t>"why is HL7 failing?" or "which server is most at risk?" - so investigation is not limited</a:t>
            </a:r>
          </a:p>
          <a:p>
            <a:r>
              <a:t>to the few engineers who know where to look.</a:t>
            </a:r>
          </a:p>
          <a:p/>
          <a:p>
            <a:r>
              <a:t>Business impact: earlier detection, faster resolution, reduced operational effort, a better</a:t>
            </a:r>
          </a:p>
          <a:p>
            <a:r>
              <a:t>customer experience, improved system availability, and better capacity planning because</a:t>
            </a:r>
          </a:p>
          <a:p>
            <a:r>
              <a:t>growth is forecast instead of discovered.</a:t>
            </a:r>
          </a:p>
          <a:p/>
          <a:p>
            <a:r>
              <a:t>Framing for this audience: this is an operational efficiency and customer experience</a:t>
            </a:r>
          </a:p>
          <a:p>
            <a:r>
              <a:t>initiative, not only a technical dashboard. It changes how much unplanned, out-of-hours</a:t>
            </a:r>
          </a:p>
          <a:p>
            <a:r>
              <a:t>work we absorb and how early we can talk to a customer.</a:t>
            </a:r>
          </a:p>
          <a:p/>
          <a:p>
            <a:r>
              <a:t>Evidence discipline: I am deliberately not quoting savings, percentages, ROI, dates or</a:t>
            </a:r>
          </a:p>
          <a:p>
            <a:r>
              <a:t>production scope - the source material does not contain them. The benefits listed are</a:t>
            </a:r>
          </a:p>
          <a:p>
            <a:r>
              <a:t>expected benefits, and the next useful step is agreeing the two or three operational</a:t>
            </a:r>
          </a:p>
          <a:p>
            <a:r>
              <a:t>metrics (time to detect, time to resolve, volume of emergency work) that would prove them.</a:t>
            </a:r>
          </a:p>
          <a:p/>
          <a:p>
            <a:r>
              <a:t>Sources: MS-AI/AI Dashboard/AI Dashboard Brief Project Description.docx (Objectives, Key</a:t>
            </a:r>
          </a:p>
          <a:p>
            <a:r>
              <a:t>Capabilities, Business Value); MS-AI/AI Dashboard/Proactive Infrastructure Management_ A</a:t>
            </a:r>
          </a:p>
          <a:p>
            <a:r>
              <a:t>Monitoring, Alerting, and Auto-Remediation Solution_20260513141714.pptx (slides 2-3, 5, 7,</a:t>
            </a:r>
          </a:p>
          <a:p>
            <a:r>
              <a:t>9, 13-14).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the planning material holds roughly twenty ideas. Rather than read a feature</a:t>
            </a:r>
          </a:p>
          <a:p>
            <a:r>
              <a:t>list, I have grouped them into four investment themes and put one recommendation in front</a:t>
            </a:r>
          </a:p>
          <a:p>
            <a:r>
              <a:t>of you.</a:t>
            </a:r>
          </a:p>
          <a:p/>
          <a:p>
            <a:r>
              <a:t>Why these four, and what is behind each theme (all from</a:t>
            </a:r>
          </a:p>
          <a:p>
            <a:r>
              <a:t>MS-AI/Next Ideas/Q4 and 2027 ideas.docx):</a:t>
            </a:r>
          </a:p>
          <a:p>
            <a:r>
              <a:t>1. Reporting quality &amp; safety — AI report discrepancy detector comparing preliminary and</a:t>
            </a:r>
          </a:p>
          <a:p>
            <a:r>
              <a:t>   final reports (critical, major, follow-up, laterality and measurement discrepancies with</a:t>
            </a:r>
          </a:p>
          <a:p>
            <a:r>
              <a:t>   a pre-sign-off warning), findings-vs-impression consistency checks, critical result</a:t>
            </a:r>
          </a:p>
          <a:p>
            <a:r>
              <a:t>   detection, template completeness and a prelim-to-final quality score, plus follow-up</a:t>
            </a:r>
          </a:p>
          <a:p>
            <a:r>
              <a:t>   recommendation tracking that creates tasks in PACS or an administrative dashboard, and</a:t>
            </a:r>
          </a:p>
          <a:p>
            <a:r>
              <a:t>   ORU / report enrichment for referring physicians.</a:t>
            </a:r>
          </a:p>
          <a:p>
            <a:r>
              <a:t>2. Operational intelligence — HL7 and interface issue triage from interface-engine logs,</a:t>
            </a:r>
          </a:p>
          <a:p>
            <a:r>
              <a:t>   HL7 troubleshooting executive summary mode, AI log analysis, error-grouping over logs</a:t>
            </a:r>
          </a:p>
          <a:p>
            <a:r>
              <a:t>   already collected, and integration of the AI dashboard with CRM contract data to raise</a:t>
            </a:r>
          </a:p>
          <a:p>
            <a:r>
              <a:t>   alerts when storage or concurrent-user limits are exceeded.</a:t>
            </a:r>
          </a:p>
          <a:p>
            <a:r>
              <a:t>3. Engineering productivity — the EHR Orchestrator test-automation proof of concept</a:t>
            </a:r>
          </a:p>
          <a:p>
            <a:r>
              <a:t>   (chat-driven, record, test and AI modes across desktop and web, which already surfaced</a:t>
            </a:r>
          </a:p>
          <a:p>
            <a:r>
              <a:t>   defects logged in TFS), natural-language codebase knowledge access, and dead-code</a:t>
            </a:r>
          </a:p>
          <a:p>
            <a:r>
              <a:t>   cleanup.</a:t>
            </a:r>
          </a:p>
          <a:p>
            <a:r>
              <a:t>4. PACS independence &amp; platform modernisation — removing the out-of-support EMR module and</a:t>
            </a:r>
          </a:p>
          <a:p>
            <a:r>
              <a:t>   moving required logic to PACS, separating thick-client and web business logic with</a:t>
            </a:r>
          </a:p>
          <a:p>
            <a:r>
              <a:t>   cross-OS file handling, an admin tool for PACS-only installations, object storage in an</a:t>
            </a:r>
          </a:p>
          <a:p>
            <a:r>
              <a:t>   OCI bucket, and AI-generated ECG findings from ECG signals.</a:t>
            </a:r>
          </a:p>
          <a:p/>
          <a:p>
            <a:r>
              <a:t>Deliberately kept off the slide: the market comparators — Us2.ai for automated</a:t>
            </a:r>
          </a:p>
          <a:p>
            <a:r>
              <a:t>echocardiography reporting and Intelerad for detection and triage. They are evidence that</a:t>
            </a:r>
          </a:p>
          <a:p>
            <a:r>
              <a:t>the market is moving toward AI measurement extraction and worklist prioritisation; they are</a:t>
            </a:r>
          </a:p>
          <a:p>
            <a:r>
              <a:t>not our achievements and should not be presented as such. Also omitted for space: the ECG</a:t>
            </a:r>
          </a:p>
          <a:p>
            <a:r>
              <a:t>finding generation idea, which is scientifically attractive but carries the heaviest</a:t>
            </a:r>
          </a:p>
          <a:p>
            <a:r>
              <a:t>regulatory load, and the autonomous infrastructure-remediation agent concept.</a:t>
            </a:r>
          </a:p>
          <a:p/>
          <a:p>
            <a:r>
              <a:t>Gap to flag: secure image and report sharing was requested as a topic, but I could not find</a:t>
            </a:r>
          </a:p>
          <a:p>
            <a:r>
              <a:t>it anywhere in the planning document. If leadership expects it in the portfolio, the idea</a:t>
            </a:r>
          </a:p>
          <a:p>
            <a:r>
              <a:t>needs to be supplied before it can be positioned.</a:t>
            </a:r>
          </a:p>
          <a:p/>
          <a:p>
            <a:r>
              <a:t>Effort basis and uncertainty: Small / Medium / Large here are preliminary R&amp;D judgements</a:t>
            </a:r>
          </a:p>
          <a:p>
            <a:r>
              <a:t>based on documented scope and dependency breadth — discrepancy detection needs clinical</a:t>
            </a:r>
          </a:p>
          <a:p>
            <a:r>
              <a:t>validation and sign-off workflow changes; operational intelligence largely reuses the</a:t>
            </a:r>
          </a:p>
          <a:p>
            <a:r>
              <a:t>Sentinel platform; engineering productivity already has a working proof of concept; PACS</a:t>
            </a:r>
          </a:p>
          <a:p>
            <a:r>
              <a:t>independence touches database, business logic and deployment across every customer. No</a:t>
            </a:r>
          </a:p>
          <a:p>
            <a:r>
              <a:t>source contains effort figures or dates, and none of the proofs of concept justify</a:t>
            </a:r>
          </a:p>
          <a:p>
            <a:r>
              <a:t>estimating full-product delivery. Treat all four as recommendations for discovery, not</a:t>
            </a:r>
          </a:p>
          <a:p>
            <a:r>
              <a:t>commitments.</a:t>
            </a:r>
          </a:p>
          <a:p/>
          <a:p>
            <a:r>
              <a:t>Why the recommended starting point: the discrepancy detector addresses patient-safety and</a:t>
            </a:r>
          </a:p>
          <a:p>
            <a:r>
              <a:t>liability risk — the highest-value problem in the set — while the Sentinel HL7/PACS</a:t>
            </a:r>
          </a:p>
          <a:p>
            <a:r>
              <a:t>extension gives the fastest return because the platform already exists. Both are testable</a:t>
            </a:r>
          </a:p>
          <a:p>
            <a:r>
              <a:t>at small scale.</a:t>
            </a:r>
          </a:p>
          <a:p/>
          <a:p>
            <a:r>
              <a:t>The ask: approve discovery funding for a discrepancy-detector pilot with one customer, and</a:t>
            </a:r>
          </a:p>
          <a:p>
            <a:r>
              <a:t>confirm whether HL7/PACS monitoring belongs in the next Sentinel increment. Each of the</a:t>
            </a:r>
          </a:p>
          <a:p>
            <a:r>
              <a:t>other themes returns with a sized proposal once discovery output is available.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E8C8B"/>
                </a:solidFill>
                <a:latin typeface="Segoe UI"/>
              </a:rPr>
              <a:t>DELIVERED  ·  PATIENT HISTORY SUMMARIZATION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0B2545"/>
                </a:solidFill>
                <a:latin typeface="Segoe UI"/>
              </a:rPr>
              <a:t>Years of Prior Reports, One Structured Patient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8872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>
                <a:solidFill>
                  <a:srgbClr val="1B3A5C"/>
                </a:solidFill>
                <a:latin typeface="Segoe UI"/>
              </a:rPr>
              <a:t>Live in the reporting workflow today; pilot and production adoption not yet evidenced.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103120"/>
            <a:ext cx="580644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556677"/>
                </a:solidFill>
                <a:latin typeface="Segoe UI"/>
              </a:rPr>
              <a:t>Before  </a:t>
            </a:r>
            <a:r>
              <a:rPr sz="1600" b="0">
                <a:solidFill>
                  <a:srgbClr val="556677"/>
                </a:solidFill>
                <a:latin typeface="Segoe UI"/>
              </a:rPr>
              <a:t>Search → read every prior report → summarise mentally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0E8C8B"/>
                </a:solidFill>
                <a:latin typeface="Segoe UI"/>
              </a:rPr>
              <a:t>After  </a:t>
            </a:r>
            <a:r>
              <a:rPr sz="1600" b="0">
                <a:solidFill>
                  <a:srgbClr val="1B3A5C"/>
                </a:solidFill>
                <a:latin typeface="Segoe UI"/>
              </a:rPr>
              <a:t>Open exam → summary ready → validate → report</a:t>
            </a:r>
          </a:p>
        </p:txBody>
      </p:sp>
      <p:sp>
        <p:nvSpPr>
          <p:cNvPr id="7" name="Oval 6"/>
          <p:cNvSpPr/>
          <p:nvPr/>
        </p:nvSpPr>
        <p:spPr>
          <a:xfrm>
            <a:off x="566928" y="3493008"/>
            <a:ext cx="128016" cy="128016"/>
          </a:xfrm>
          <a:prstGeom prst="ellipse">
            <a:avLst/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3310128"/>
            <a:ext cx="549554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0B2545"/>
                </a:solidFill>
                <a:latin typeface="Segoe UI"/>
              </a:rPr>
              <a:t>Faster review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556677"/>
                </a:solidFill>
                <a:latin typeface="Segoe UI"/>
              </a:rPr>
              <a:t>Prefetched before the exam opens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4224528"/>
            <a:ext cx="128016" cy="128016"/>
          </a:xfrm>
          <a:prstGeom prst="ellipse">
            <a:avLst/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4041648"/>
            <a:ext cx="549554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0B2545"/>
                </a:solidFill>
                <a:latin typeface="Segoe UI"/>
              </a:rPr>
              <a:t>Better context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556677"/>
                </a:solidFill>
                <a:latin typeface="Segoe UI"/>
              </a:rPr>
              <a:t>Findings, progression and procedures together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4956048"/>
            <a:ext cx="128016" cy="128016"/>
          </a:xfrm>
          <a:prstGeom prst="ellipse">
            <a:avLst/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773168"/>
            <a:ext cx="549554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0B2545"/>
                </a:solidFill>
                <a:latin typeface="Segoe UI"/>
              </a:rPr>
              <a:t>Consistent structure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556677"/>
                </a:solidFill>
                <a:latin typeface="Segoe UI"/>
              </a:rPr>
              <a:t>Structured to USCDI v4 / C-CDA</a:t>
            </a:r>
          </a:p>
        </p:txBody>
      </p:sp>
      <p:pic>
        <p:nvPicPr>
          <p:cNvPr id="13" name="Picture 12" descr="ai-history-summary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2331720"/>
            <a:ext cx="4839919" cy="200477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720840" y="2267712"/>
            <a:ext cx="4967935" cy="2132786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4848" y="4482794"/>
            <a:ext cx="48399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56677"/>
                </a:solidFill>
                <a:latin typeface="Segoe UI"/>
              </a:rPr>
              <a:t>AI History Summary — demo data, identifiers removed.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541264"/>
            <a:ext cx="3551834" cy="969264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100" b="1">
                <a:solidFill>
                  <a:srgbClr val="0E8C8B"/>
                </a:solidFill>
                <a:latin typeface="Segoe UI"/>
              </a:rPr>
              <a:t>BUSINESS VALUE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1B3A5C"/>
                </a:solidFill>
                <a:latin typeface="Segoe UI"/>
              </a:rPr>
              <a:t>Less re-reading; history harder to miss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9930" y="5541264"/>
            <a:ext cx="3551834" cy="969264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100" b="1">
                <a:solidFill>
                  <a:srgbClr val="0E8C8B"/>
                </a:solidFill>
                <a:latin typeface="Segoe UI"/>
              </a:rPr>
              <a:t>IMPACT / EVIDENCE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1B3A5C"/>
                </a:solidFill>
                <a:latin typeface="Segoe UI"/>
              </a:rPr>
              <a:t>Generated today; time saved not yet measured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5541264"/>
            <a:ext cx="3551834" cy="969264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100" b="1">
                <a:solidFill>
                  <a:srgbClr val="0E8C8B"/>
                </a:solidFill>
                <a:latin typeface="Segoe UI"/>
              </a:rPr>
              <a:t>EFFORT &amp; SCOPE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1B3A5C"/>
                </a:solidFill>
                <a:latin typeface="Segoe UI"/>
              </a:rPr>
              <a:t>Effort not documented · v5.21, v5.22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E8C8B"/>
                </a:solidFill>
                <a:latin typeface="Segoe UI"/>
              </a:rPr>
              <a:t>AI OPERATIONS  ·  PACS / HL7 SERVICE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0B2545"/>
                </a:solidFill>
                <a:latin typeface="Segoe UI"/>
              </a:rPr>
              <a:t>AI Operations Intelligence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8872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>
                <a:solidFill>
                  <a:srgbClr val="1B3A5C"/>
                </a:solidFill>
                <a:latin typeface="Segoe UI"/>
              </a:rPr>
              <a:t>From reactive monitoring to predictive PACS / HL7 operations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920240"/>
            <a:ext cx="3527450" cy="27797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164592" bIns="91440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300" b="1">
                <a:solidFill>
                  <a:srgbClr val="0E8C8B"/>
                </a:solidFill>
                <a:latin typeface="Segoe UI"/>
              </a:rPr>
              <a:t>COMPLETED FOUNDATION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100" b="0">
                <a:solidFill>
                  <a:srgbClr val="556677"/>
                </a:solidFill>
                <a:latin typeface="Segoe UI"/>
              </a:rPr>
              <a:t>Built and running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E8C8B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PACS / HL7 service monitoring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E8C8B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Queue and interface visibility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E8C8B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Operational status mapping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E8C8B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Automation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E8C8B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Automated issue classification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920240"/>
            <a:ext cx="3527450" cy="63500"/>
          </a:xfrm>
          <a:prstGeom prst="rect">
            <a:avLst/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32122" y="1920240"/>
            <a:ext cx="3527450" cy="27797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164592" bIns="91440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300" b="1">
                <a:solidFill>
                  <a:srgbClr val="1B3A5C"/>
                </a:solidFill>
                <a:latin typeface="Segoe UI"/>
              </a:rPr>
              <a:t>AI INTELLIGENCE LAYER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100" b="0">
                <a:solidFill>
                  <a:srgbClr val="556677"/>
                </a:solidFill>
                <a:latin typeface="Segoe UI"/>
              </a:rPr>
              <a:t>What AI adds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1B3A5C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Risk forecasting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1B3A5C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Storage capacity prediction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1B3A5C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Performance degradation prediction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1B3A5C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Queue backlog forecasting</a:t>
            </a:r>
            <a:r>
              <a:rPr sz="1100" b="1">
                <a:solidFill>
                  <a:srgbClr val="B57A0E"/>
                </a:solidFill>
                <a:latin typeface="Segoe UI"/>
              </a:rPr>
              <a:t>   In Progress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1B3A5C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Prioritized remediation recommendations</a:t>
            </a:r>
            <a:r>
              <a:rPr sz="1100" b="1">
                <a:solidFill>
                  <a:srgbClr val="B57A0E"/>
                </a:solidFill>
                <a:latin typeface="Segoe UI"/>
              </a:rPr>
              <a:t>   Next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2122" y="1920240"/>
            <a:ext cx="3527450" cy="635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97316" y="1920240"/>
            <a:ext cx="3527450" cy="27797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164592" bIns="91440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300" b="1">
                <a:solidFill>
                  <a:srgbClr val="0B2545"/>
                </a:solidFill>
                <a:latin typeface="Segoe UI"/>
              </a:rPr>
              <a:t>BUSINESS IMPACT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100" b="0">
                <a:solidFill>
                  <a:srgbClr val="556677"/>
                </a:solidFill>
                <a:latin typeface="Segoe UI"/>
              </a:rPr>
              <a:t>Why it matters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B2545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Earlier detection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B2545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Faster resolution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B2545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Reduced operational effort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B2545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Better customer experience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B2545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Improved system availability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7316" y="1920240"/>
            <a:ext cx="3527450" cy="635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4882896"/>
            <a:ext cx="3527450" cy="6400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0E8C8B"/>
                </a:solidFill>
                <a:latin typeface="Segoe UI"/>
              </a:rPr>
              <a:t>COMPLETED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B3A5C"/>
                </a:solidFill>
                <a:latin typeface="Segoe UI"/>
              </a:rPr>
              <a:t>Monitoring + automation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2122" y="4882896"/>
            <a:ext cx="3527450" cy="6400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B57A0E"/>
                </a:solidFill>
                <a:latin typeface="Segoe UI"/>
              </a:rPr>
              <a:t>IN PROGRESS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B3A5C"/>
                </a:solidFill>
                <a:latin typeface="Segoe UI"/>
              </a:rPr>
              <a:t>Forecasting + queue backlog prediction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7316" y="4882896"/>
            <a:ext cx="3527450" cy="6400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1B3A5C"/>
                </a:solidFill>
                <a:latin typeface="Segoe UI"/>
              </a:rPr>
              <a:t>NEXT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B3A5C"/>
                </a:solidFill>
                <a:latin typeface="Segoe UI"/>
              </a:rPr>
              <a:t>AI Copilot for Operations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742432"/>
            <a:ext cx="11057839" cy="566928"/>
          </a:xfrm>
          <a:prstGeom prst="roundRect">
            <a:avLst>
              <a:gd name="adj" fmla="val 4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Business Benefits:  </a:t>
            </a:r>
            <a:r>
              <a:rPr sz="1400" b="0">
                <a:solidFill>
                  <a:srgbClr val="E6F3F3"/>
                </a:solidFill>
                <a:latin typeface="Segoe UI"/>
              </a:rPr>
              <a:t>Prevent outages  |  Better planning  |  Reduced emergency work  |  Capacity optimization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E8C8B"/>
                </a:solidFill>
                <a:latin typeface="Segoe UI"/>
              </a:rPr>
              <a:t>NEXT  ·  INVESTMENT OPTIONS FOR Q4 AND 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0B2545"/>
                </a:solidFill>
                <a:latin typeface="Segoe UI"/>
              </a:rPr>
              <a:t>Four Themes, One Recommended Starting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8872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>
                <a:solidFill>
                  <a:srgbClr val="1B3A5C"/>
                </a:solidFill>
                <a:latin typeface="Segoe UI"/>
              </a:rPr>
              <a:t>Preliminary R&amp;D sizing, not delivery commitments; full initiative list in the notes.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84831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E8C8B"/>
                </a:solidFill>
                <a:latin typeface="Segoe UI"/>
              </a:rPr>
              <a:t>THEME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72968" y="2084831"/>
            <a:ext cx="3886199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E8C8B"/>
                </a:solidFill>
                <a:latin typeface="Segoe UI"/>
              </a:rPr>
              <a:t>BUSINESS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0607" y="2084831"/>
            <a:ext cx="13258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E8C8B"/>
                </a:solidFill>
                <a:latin typeface="Segoe UI"/>
              </a:rPr>
              <a:t>EFFORT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67927" y="2084831"/>
            <a:ext cx="30540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E8C8B"/>
                </a:solidFill>
                <a:latin typeface="Segoe UI"/>
              </a:rPr>
              <a:t>PROPOSED NEXT STEP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32303"/>
            <a:ext cx="11057839" cy="73152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505455"/>
            <a:ext cx="2331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B2545"/>
                </a:solidFill>
                <a:latin typeface="Segoe UI"/>
              </a:rPr>
              <a:t>Reporting quality &amp; safety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2505455"/>
            <a:ext cx="379475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556677"/>
                </a:solidFill>
                <a:latin typeface="Segoe UI"/>
              </a:rPr>
              <a:t>Catch prelim-vs-final discrepancies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0607" y="2505455"/>
            <a:ext cx="12344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B57A0E"/>
                </a:solidFill>
                <a:latin typeface="Segoe UI"/>
              </a:rPr>
              <a:t>Medium–Large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67927" y="2505455"/>
            <a:ext cx="29626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556677"/>
                </a:solidFill>
                <a:latin typeface="Segoe UI"/>
              </a:rPr>
              <a:t>Pilot with one customer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291839"/>
            <a:ext cx="2331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B2545"/>
                </a:solidFill>
                <a:latin typeface="Segoe UI"/>
              </a:rPr>
              <a:t>Operational intelligence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72968" y="3291839"/>
            <a:ext cx="379475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556677"/>
                </a:solidFill>
                <a:latin typeface="Segoe UI"/>
              </a:rPr>
              <a:t>AI triage of HL7 and interface failures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0607" y="3291839"/>
            <a:ext cx="12344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B57A0E"/>
                </a:solidFill>
                <a:latin typeface="Segoe UI"/>
              </a:rPr>
              <a:t>Medium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7927" y="3291839"/>
            <a:ext cx="29626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556677"/>
                </a:solidFill>
                <a:latin typeface="Segoe UI"/>
              </a:rPr>
              <a:t>Extend Sentinel to HL7 / PACS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005071"/>
            <a:ext cx="11057839" cy="73152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078223"/>
            <a:ext cx="2331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B2545"/>
                </a:solidFill>
                <a:latin typeface="Segoe UI"/>
              </a:rPr>
              <a:t>Engineering productivity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72968" y="4078223"/>
            <a:ext cx="379475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556677"/>
                </a:solidFill>
                <a:latin typeface="Segoe UI"/>
              </a:rPr>
              <a:t>AI test automation and codebase access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0607" y="4078223"/>
            <a:ext cx="12344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B57A0E"/>
                </a:solidFill>
                <a:latin typeface="Segoe UI"/>
              </a:rPr>
              <a:t>Small–Medium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67927" y="4078223"/>
            <a:ext cx="29626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556677"/>
                </a:solidFill>
                <a:latin typeface="Segoe UI"/>
              </a:rPr>
              <a:t>Continue the existing POC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864607"/>
            <a:ext cx="2331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B2545"/>
                </a:solidFill>
                <a:latin typeface="Segoe UI"/>
              </a:rPr>
              <a:t>PACS independence &amp; 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72968" y="4864607"/>
            <a:ext cx="379475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556677"/>
                </a:solidFill>
                <a:latin typeface="Segoe UI"/>
              </a:rPr>
              <a:t>Retire EMR dependency; object storage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0607" y="4864607"/>
            <a:ext cx="12344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B57A0E"/>
                </a:solidFill>
                <a:latin typeface="Segoe UI"/>
              </a:rPr>
              <a:t>Large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67927" y="4864607"/>
            <a:ext cx="29626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556677"/>
                </a:solidFill>
                <a:latin typeface="Segoe UI"/>
              </a:rPr>
              <a:t>Run the object-storage POC first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705855"/>
            <a:ext cx="11057839" cy="841248"/>
          </a:xfrm>
          <a:prstGeom prst="roundRect">
            <a:avLst>
              <a:gd name="adj" fmla="val 4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6F3F3"/>
                </a:solidFill>
                <a:latin typeface="Segoe UI"/>
              </a:rPr>
              <a:t>RECOMMENDATION — NO ASK DOCUMENTED IN SOURCES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Approve discovery funding for the discrepancy detector; confirm HL7/PACS in the next Sentinel increment.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
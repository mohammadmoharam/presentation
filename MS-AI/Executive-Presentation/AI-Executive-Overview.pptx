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Opening: we have taken AI from idea to a working capability inside the product our</a:t>
            </a:r>
          </a:p>
          <a:p>
            <a:r>
              <a:t>clinicians already use every day.</a:t>
            </a:r>
          </a:p>
          <a:p/>
          <a:p>
            <a:r>
              <a:t>The problem: before finalising a report, a reading physician may need several years of</a:t>
            </a:r>
          </a:p>
          <a:p>
            <a:r>
              <a:t>prior reports across modalities. The information exists, but rebuilding the clinical</a:t>
            </a:r>
          </a:p>
          <a:p>
            <a:r>
              <a:t>story is slow, inconsistent between readers and easy to get wrong ("Patient History</a:t>
            </a:r>
          </a:p>
          <a:p>
            <a:r>
              <a:t>Summarization .pptx", slides 2-3 and notes). That is cognitive load on our most</a:t>
            </a:r>
          </a:p>
          <a:p>
            <a:r>
              <a:t>expensive clinical minute.</a:t>
            </a:r>
          </a:p>
          <a:p/>
          <a:p>
            <a:r>
              <a:t>The value: the AI generates two views — AI History Summary and AI History Details —</a:t>
            </a:r>
          </a:p>
          <a:p>
            <a:r>
              <a:t>reachable in one click from the Previous Exams tab, with critical and abnormal items</a:t>
            </a:r>
          </a:p>
          <a:p>
            <a:r>
              <a:t>visually prioritised ("AI-Powered Patient History Summarization.docx", Key capabilities;</a:t>
            </a:r>
          </a:p>
          <a:p>
            <a:r>
              <a:t>"AI Patient Summary - Customer Perspective 1.html"). Because the summary is prefetched</a:t>
            </a:r>
          </a:p>
          <a:p>
            <a:r>
              <a:t>when the order arrives and refreshed when the report is verified, it is waiting before</a:t>
            </a:r>
          </a:p>
          <a:p>
            <a:r>
              <a:t>the clinician asks for it (use-case PDF, page 1, "AI processing strategy"). We chose</a:t>
            </a:r>
          </a:p>
          <a:p>
            <a:r>
              <a:t>USCDI v4 and C-CDA as the summary skeleton so one mission serves all exam types and</a:t>
            </a:r>
          </a:p>
          <a:p>
            <a:r>
              <a:t>customers rather than per-customer variants (deck slides 5 and 11).</a:t>
            </a:r>
          </a:p>
          <a:p/>
          <a:p>
            <a:r>
              <a:t>Example: the sample on screen consolidates a vascular patient's problem list with status,</a:t>
            </a:r>
          </a:p>
          <a:p>
            <a:r>
              <a:t>first/last noted dates and progression notes — explicitly flagging what is "not documented</a:t>
            </a:r>
          </a:p>
          <a:p>
            <a:r>
              <a:t>in any provided report" rather than inventing content.</a:t>
            </a:r>
          </a:p>
          <a:p/>
          <a:p>
            <a:r>
              <a:t>Status and limits — important for credibility: development is complete and summaries are</a:t>
            </a:r>
          </a:p>
          <a:p>
            <a:r>
              <a:t>generated automatically after exam finalisation, with baseline and incremental jobs run by</a:t>
            </a:r>
          </a:p>
          <a:p>
            <a:r>
              <a:t>a dedicated parser ("AI Patient Summary - Support Runbook 1.html", sections 2 and 4). What</a:t>
            </a:r>
          </a:p>
          <a:p>
            <a:r>
              <a:t>we do NOT have in our sources is pilot validation data, customer adoption, measured time</a:t>
            </a:r>
          </a:p>
          <a:p>
            <a:r>
              <a:t>saved or accuracy benchmarking. Every benefit on this slide is an expected benefit.</a:t>
            </a:r>
          </a:p>
          <a:p/>
          <a:p>
            <a:r>
              <a:t>Effort, dependencies, risk: delivery effort is not documented anywhere in the source set,</a:t>
            </a:r>
          </a:p>
          <a:p>
            <a:r>
              <a:t>so I am not quoting a figure. Known effort concentrations were Matcha model selection</a:t>
            </a:r>
          </a:p>
          <a:p>
            <a:r>
              <a:t>(quality vs. latency vs. token cost) and caching to control cost (deck slides 8-9).</a:t>
            </a:r>
          </a:p>
          <a:p>
            <a:r>
              <a:t>Dependencies: Matcha AI availability, the MATCHA_API_KEY held server-side, and customer</a:t>
            </a:r>
          </a:p>
          <a:p>
            <a:r>
              <a:t>versions 5.21 / 5.22. Privacy design anonymises the PDF before the AI call and re-injects</a:t>
            </a:r>
          </a:p>
          <a:p>
            <a:r>
              <a:t>identifiers locally (runbook, section 4) — worth stating, but it is a design claim, not an</a:t>
            </a:r>
          </a:p>
          <a:p>
            <a:r>
              <a:t>audited compliance statement.</a:t>
            </a:r>
          </a:p>
          <a:p/>
          <a:p>
            <a:r>
              <a:t>Decision / next step: approve a measured pilot — agree the sites, the baseline and the two</a:t>
            </a:r>
          </a:p>
          <a:p>
            <a:r>
              <a:t>or three metrics (review time, findings surfaced, clinician acceptance) so the next review</a:t>
            </a:r>
          </a:p>
          <a:p>
            <a:r>
              <a:t>reports evidence instead of intent.</a:t>
            </a:r>
          </a:p>
          <a:p/>
          <a:p>
            <a:r>
              <a:t>Transition: that is value delivered. Next, the value we are building for our own</a:t>
            </a:r>
          </a:p>
          <a:p>
            <a:r>
              <a:t>operations teams.</a:t>
            </a:r>
          </a:p>
          <a:p/>
          <a:p>
            <a:r>
              <a:t>Sources: MS-AI/AI Priors/AI-Powered Patient History Summarization.docx;</a:t>
            </a:r>
          </a:p>
          <a:p>
            <a:r>
              <a:t>MS-AI/AI Priors/Patient History Summarization .pptx (slides 2-3, 5-9, 11-12 + notes);</a:t>
            </a:r>
          </a:p>
          <a:p>
            <a:r>
              <a:t>MS-AI/AI Priors/Patient-History-Summarization-UseCase 1.pdf (pages 1-2);</a:t>
            </a:r>
          </a:p>
          <a:p>
            <a:r>
              <a:t>MS-AI/AI Priors/AI Patient Summary Customer Perspective 1.html;</a:t>
            </a:r>
          </a:p>
          <a:p>
            <a:r>
              <a:t>MS-AI/AI Priors/AI Patient Summary Support Runbook 1.html (sections 1-4).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Opening: this slide is about our own operations. PACS and HL7 problems are still found</a:t>
            </a:r>
          </a:p>
          <a:p>
            <a:r>
              <a:t>reactively - a queue backs up, an interface fails or a volume fills, and we hear about it</a:t>
            </a:r>
          </a:p>
          <a:p>
            <a:r>
              <a:t>after the customer is already affected. Every one of those events then costs manual</a:t>
            </a:r>
          </a:p>
          <a:p>
            <a:r>
              <a:t>investigation time.</a:t>
            </a:r>
          </a:p>
          <a:p/>
          <a:p>
            <a:r>
              <a:t>What is already completed: PACS / HL7 service monitoring, queue and interface visibility,</a:t>
            </a:r>
          </a:p>
          <a:p>
            <a:r>
              <a:t>operational status mapping, automation, and automated issue classification. That is the</a:t>
            </a:r>
          </a:p>
          <a:p>
            <a:r>
              <a:t>foundation - we can see the estate and act on it in a standard way.</a:t>
            </a:r>
          </a:p>
          <a:p/>
          <a:p>
            <a:r>
              <a:t>What AI adds on top: risk forecasting, storage capacity prediction and performance</a:t>
            </a:r>
          </a:p>
          <a:p>
            <a:r>
              <a:t>degradation prediction, plus prioritized remediation recommendations so the team is told</a:t>
            </a:r>
          </a:p>
          <a:p>
            <a:r>
              <a:t>what to do first, not just what is broken. Queue backlog forecasting is in progress, and</a:t>
            </a:r>
          </a:p>
          <a:p>
            <a:r>
              <a:t>the prioritized remediation recommendations are the next increment.</a:t>
            </a:r>
          </a:p>
          <a:p/>
          <a:p>
            <a:r>
              <a:t>What is next after that: an AI Copilot for Operations - plain-language questions such as</a:t>
            </a:r>
          </a:p>
          <a:p>
            <a:r>
              <a:t>"why is HL7 failing?" or "which server is most at risk?" - so investigation is not limited</a:t>
            </a:r>
          </a:p>
          <a:p>
            <a:r>
              <a:t>to the few engineers who know where to look.</a:t>
            </a:r>
          </a:p>
          <a:p/>
          <a:p>
            <a:r>
              <a:t>Business impact: earlier detection, faster resolution, reduced operational effort, a better</a:t>
            </a:r>
          </a:p>
          <a:p>
            <a:r>
              <a:t>customer experience, improved system availability, and better capacity planning because</a:t>
            </a:r>
          </a:p>
          <a:p>
            <a:r>
              <a:t>growth is forecast instead of discovered.</a:t>
            </a:r>
          </a:p>
          <a:p/>
          <a:p>
            <a:r>
              <a:t>Framing for this audience: this is an operational efficiency and customer experience</a:t>
            </a:r>
          </a:p>
          <a:p>
            <a:r>
              <a:t>initiative, not only a technical dashboard. It changes how much unplanned, out-of-hours</a:t>
            </a:r>
          </a:p>
          <a:p>
            <a:r>
              <a:t>work we absorb and how early we can talk to a customer.</a:t>
            </a:r>
          </a:p>
          <a:p/>
          <a:p>
            <a:r>
              <a:t>Evidence discipline: I am deliberately not quoting savings, percentages, ROI, dates or</a:t>
            </a:r>
          </a:p>
          <a:p>
            <a:r>
              <a:t>production scope - the source material does not contain them. The benefits listed are</a:t>
            </a:r>
          </a:p>
          <a:p>
            <a:r>
              <a:t>expected benefits, and the next useful step is agreeing the two or three operational</a:t>
            </a:r>
          </a:p>
          <a:p>
            <a:r>
              <a:t>metrics (time to detect, time to resolve, volume of emergency work) that would prove them.</a:t>
            </a:r>
          </a:p>
          <a:p/>
          <a:p>
            <a:r>
              <a:t>Sources: MS-AI/AI Dashboard/AI Dashboard Brief Project Description.docx (Objectives, Key</a:t>
            </a:r>
          </a:p>
          <a:p>
            <a:r>
              <a:t>Capabilities, Business Value); MS-AI/AI Dashboard/Proactive Infrastructure Management_ A</a:t>
            </a:r>
          </a:p>
          <a:p>
            <a:r>
              <a:t>Monitoring, Alerting, and Auto-Remediation Solution_20260513141714.pptx (slides 2-3, 5, 7,</a:t>
            </a:r>
          </a:p>
          <a:p>
            <a:r>
              <a:t>9, 13-14).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Opening: this slide groups the next R&amp;D ideas into three priority themes rather than a long</a:t>
            </a:r>
          </a:p>
          <a:p>
            <a:r>
              <a:t>feature list, so we can talk about where to focus rather than what exists on paper.</a:t>
            </a:r>
          </a:p>
          <a:p/>
          <a:p>
            <a:r>
              <a:t>Why the themes matter to management: the first protects patients and reduces reporting</a:t>
            </a:r>
          </a:p>
          <a:p>
            <a:r>
              <a:t>risk, the second reduces operational burden and improves how quickly we respond to</a:t>
            </a:r>
          </a:p>
          <a:p>
            <a:r>
              <a:t>customers, and the third increases how much the engineering team can deliver with the</a:t>
            </a:r>
          </a:p>
          <a:p>
            <a:r>
              <a:t>people we already have.</a:t>
            </a:r>
          </a:p>
          <a:p/>
          <a:p>
            <a:r>
              <a:t>1. Reporting Quality &amp; Safety. The AI Report Discrepancy Detector compares the preliminary</a:t>
            </a:r>
          </a:p>
          <a:p>
            <a:r>
              <a:t>   report against the final report and flags clinically meaningful changes before sign-off -</a:t>
            </a:r>
          </a:p>
          <a:p>
            <a:r>
              <a:t>   positive to negative findings, critical findings added or removed, severity, laterality,</a:t>
            </a:r>
          </a:p>
          <a:p>
            <a:r>
              <a:t>   anatomy, significant measurement changes, impression conflicting with findings, and</a:t>
            </a:r>
          </a:p>
          <a:p>
            <a:r>
              <a:t>   removed follow-up recommendations. The documented workflow is a warning before finalising</a:t>
            </a:r>
          </a:p>
          <a:p>
            <a:r>
              <a:t>   the report: continue, revise, or add an addendum. The source also describes related</a:t>
            </a:r>
          </a:p>
          <a:p>
            <a:r>
              <a:t>   checks - critical result detection, template completeness, and a prelim-to-final quality</a:t>
            </a:r>
          </a:p>
          <a:p>
            <a:r>
              <a:t>   score by site, modality, provider or exam type. AI-generated ECG findings from ECG signals</a:t>
            </a:r>
          </a:p>
          <a:p>
            <a:r>
              <a:t>   is listed as a research opportunity for structured interpretation support. In both cases</a:t>
            </a:r>
          </a:p>
          <a:p>
            <a:r>
              <a:t>   AI assists review; it does not replace clinician judgement.</a:t>
            </a:r>
          </a:p>
          <a:p/>
          <a:p>
            <a:r>
              <a:t>2. Operational Intelligence. Unified PACS / HL7 monitoring and investigation builds directly</a:t>
            </a:r>
          </a:p>
          <a:p>
            <a:r>
              <a:t>   on the dashboard direction shown on the previous slide, and the ideas document adds</a:t>
            </a:r>
          </a:p>
          <a:p>
            <a:r>
              <a:t>   interface issue triage from interface-engine logs (connectivity, ACK timeout, application</a:t>
            </a:r>
          </a:p>
          <a:p>
            <a:r>
              <a:t>   reject, data validation, destination downtime) plus an executive summary mode that states</a:t>
            </a:r>
          </a:p>
          <a:p>
            <a:r>
              <a:t>   what happened, when it started, which facility is affected and how many studies are</a:t>
            </a:r>
          </a:p>
          <a:p>
            <a:r>
              <a:t>   impacted. Log analysis and proactive problem detection groups recurring errors, ranks them</a:t>
            </a:r>
          </a:p>
          <a:p>
            <a:r>
              <a:t>   by severity and explains the likely cause in plain language, which cuts manual log review</a:t>
            </a:r>
          </a:p>
          <a:p>
            <a:r>
              <a:t>   and improves support response and customer communication.</a:t>
            </a:r>
          </a:p>
          <a:p/>
          <a:p>
            <a:r>
              <a:t>3. Engineering Productivity. AI-assisted test orchestration comes from the EHR Orchestrator</a:t>
            </a:r>
          </a:p>
          <a:p>
            <a:r>
              <a:t>   proof of concept - chat-driven, record, structured test and AI modes across desktop and</a:t>
            </a:r>
          </a:p>
          <a:p>
            <a:r>
              <a:t>   web - which already surfaced defects logged in TFS; it can reduce manual QA effort and</a:t>
            </a:r>
          </a:p>
          <a:p>
            <a:r>
              <a:t>   make validation repeatable. An internal codebase knowledge assistant lets teams query a</a:t>
            </a:r>
          </a:p>
          <a:p>
            <a:r>
              <a:t>   large, poorly documented codebase in natural language, reducing dependency on a few senior</a:t>
            </a:r>
          </a:p>
          <a:p>
            <a:r>
              <a:t>   experts and shortening onboarding.</a:t>
            </a:r>
          </a:p>
          <a:p/>
          <a:p>
            <a:r>
              <a:t>Status framing: these are candidate R&amp;D opportunities, not delivery commitments. No dates,</a:t>
            </a:r>
          </a:p>
          <a:p>
            <a:r>
              <a:t>sizing, ROI, accuracy or production-readiness claims are implied, because the sources contain</a:t>
            </a:r>
          </a:p>
          <a:p>
            <a:r>
              <a:t>none.</a:t>
            </a:r>
          </a:p>
          <a:p/>
          <a:p>
            <a:r>
              <a:t>Source review notes on MS-AI/Next Ideas/Q4 and 2027 ideas.docx. Other documented ideas are</a:t>
            </a:r>
          </a:p>
          <a:p>
            <a:r>
              <a:t>intentionally not on the slide to keep it readable: follow-up recommendation tracking, ORU /</a:t>
            </a:r>
          </a:p>
          <a:p>
            <a:r>
              <a:t>report enrichment, AI dashboard integration with CRM contract data, dead-code cleanup, EMR</a:t>
            </a:r>
          </a:p>
          <a:p>
            <a:r>
              <a:t>dependency removal, thick-client/web separation for cross-OS support, an admin tool for</a:t>
            </a:r>
          </a:p>
          <a:p>
            <a:r>
              <a:t>PACS-only installations, and an OCI bucket storage POC. The Us2.ai and Intelerad entries are</a:t>
            </a:r>
          </a:p>
          <a:p>
            <a:r>
              <a:t>market comparators, not our work, and are excluded for that reason.</a:t>
            </a:r>
          </a:p>
          <a:p/>
          <a:p>
            <a:r>
              <a:t>Open questions to flag: several items (the log analysis platform, the log error-grouping</a:t>
            </a:r>
          </a:p>
          <a:p>
            <a:r>
              <a:t>service and the codebase assistant) are written in the first person but reference an external</a:t>
            </a:r>
          </a:p>
          <a:p>
            <a:r>
              <a:t>organisation, and the figures quoted there should not be presented as our results until</a:t>
            </a:r>
          </a:p>
          <a:p>
            <a:r>
              <a:t>ownership is confirmed. Effort and sizing are deliberately absent from the slide and remain</a:t>
            </a:r>
          </a:p>
          <a:p>
            <a:r>
              <a:t>an open analysis item for discovery. Secure image and report sharing was raised previously</a:t>
            </a:r>
          </a:p>
          <a:p>
            <a:r>
              <a:t>but does not appear anywhere in the source document.</a:t>
            </a:r>
          </a:p>
          <a:p/>
          <a:p>
            <a:r>
              <a:t>The ask: the proposed decision is to select the highest-value pilots for discovery and</a:t>
            </a:r>
          </a:p>
          <a:p>
            <a:r>
              <a:t>validation.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0E8C8B"/>
                </a:solidFill>
                <a:latin typeface="Segoe UI"/>
              </a:rPr>
              <a:t>DELIVERED  ·  PATIENT HISTORY SUMMARIZATION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10578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>
                <a:solidFill>
                  <a:srgbClr val="0B2545"/>
                </a:solidFill>
                <a:latin typeface="Segoe UI"/>
              </a:rPr>
              <a:t>Years of Prior Reports, One Structured Patient 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188720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900" b="0">
                <a:solidFill>
                  <a:srgbClr val="1B3A5C"/>
                </a:solidFill>
                <a:latin typeface="Segoe UI"/>
              </a:rPr>
              <a:t>Live in the reporting workflow today; pilot and production adoption not yet evidenced.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103120"/>
            <a:ext cx="5806440" cy="1097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>
              <a:lnSpc>
                <a:spcPct val="105000"/>
              </a:lnSpc>
              <a:spcAft>
                <a:spcPts val="800"/>
              </a:spcAft>
            </a:pPr>
            <a:r>
              <a:rPr sz="1400" b="1">
                <a:solidFill>
                  <a:srgbClr val="556677"/>
                </a:solidFill>
                <a:latin typeface="Segoe UI"/>
              </a:rPr>
              <a:t>Before  </a:t>
            </a:r>
            <a:r>
              <a:rPr sz="1600" b="0">
                <a:solidFill>
                  <a:srgbClr val="556677"/>
                </a:solidFill>
                <a:latin typeface="Segoe UI"/>
              </a:rPr>
              <a:t>Search → read every prior report → summarise mentally</a:t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0E8C8B"/>
                </a:solidFill>
                <a:latin typeface="Segoe UI"/>
              </a:rPr>
              <a:t>After  </a:t>
            </a:r>
            <a:r>
              <a:rPr sz="1600" b="0">
                <a:solidFill>
                  <a:srgbClr val="1B3A5C"/>
                </a:solidFill>
                <a:latin typeface="Segoe UI"/>
              </a:rPr>
              <a:t>Open exam → summary ready → validate → report</a:t>
            </a:r>
          </a:p>
        </p:txBody>
      </p:sp>
      <p:sp>
        <p:nvSpPr>
          <p:cNvPr id="7" name="Oval 6"/>
          <p:cNvSpPr/>
          <p:nvPr/>
        </p:nvSpPr>
        <p:spPr>
          <a:xfrm>
            <a:off x="566928" y="3493008"/>
            <a:ext cx="128016" cy="128016"/>
          </a:xfrm>
          <a:prstGeom prst="ellipse">
            <a:avLst/>
          </a:prstGeom>
          <a:solidFill>
            <a:srgbClr val="0E8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3310128"/>
            <a:ext cx="549554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800" b="1">
                <a:solidFill>
                  <a:srgbClr val="0B2545"/>
                </a:solidFill>
                <a:latin typeface="Segoe UI"/>
              </a:rPr>
              <a:t>Faster review</a:t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600" b="0">
                <a:solidFill>
                  <a:srgbClr val="556677"/>
                </a:solidFill>
                <a:latin typeface="Segoe UI"/>
              </a:rPr>
              <a:t>Prefetched before the exam opens</a:t>
            </a:r>
          </a:p>
        </p:txBody>
      </p:sp>
      <p:sp>
        <p:nvSpPr>
          <p:cNvPr id="9" name="Oval 8"/>
          <p:cNvSpPr/>
          <p:nvPr/>
        </p:nvSpPr>
        <p:spPr>
          <a:xfrm>
            <a:off x="566928" y="4224528"/>
            <a:ext cx="128016" cy="128016"/>
          </a:xfrm>
          <a:prstGeom prst="ellipse">
            <a:avLst/>
          </a:prstGeom>
          <a:solidFill>
            <a:srgbClr val="0E8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4041648"/>
            <a:ext cx="549554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800" b="1">
                <a:solidFill>
                  <a:srgbClr val="0B2545"/>
                </a:solidFill>
                <a:latin typeface="Segoe UI"/>
              </a:rPr>
              <a:t>Better context</a:t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600" b="0">
                <a:solidFill>
                  <a:srgbClr val="556677"/>
                </a:solidFill>
                <a:latin typeface="Segoe UI"/>
              </a:rPr>
              <a:t>Findings, progression and procedures together</a:t>
            </a:r>
          </a:p>
        </p:txBody>
      </p:sp>
      <p:sp>
        <p:nvSpPr>
          <p:cNvPr id="11" name="Oval 10"/>
          <p:cNvSpPr/>
          <p:nvPr/>
        </p:nvSpPr>
        <p:spPr>
          <a:xfrm>
            <a:off x="566928" y="4956048"/>
            <a:ext cx="128016" cy="128016"/>
          </a:xfrm>
          <a:prstGeom prst="ellipse">
            <a:avLst/>
          </a:prstGeom>
          <a:solidFill>
            <a:srgbClr val="0E8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773168"/>
            <a:ext cx="549554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800" b="1">
                <a:solidFill>
                  <a:srgbClr val="0B2545"/>
                </a:solidFill>
                <a:latin typeface="Segoe UI"/>
              </a:rPr>
              <a:t>Consistent structure</a:t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600" b="0">
                <a:solidFill>
                  <a:srgbClr val="556677"/>
                </a:solidFill>
                <a:latin typeface="Segoe UI"/>
              </a:rPr>
              <a:t>Structured to USCDI v4 / C-CDA</a:t>
            </a:r>
          </a:p>
        </p:txBody>
      </p:sp>
      <p:pic>
        <p:nvPicPr>
          <p:cNvPr id="13" name="Picture 12" descr="ai-history-summary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4848" y="2331720"/>
            <a:ext cx="4839919" cy="200477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6720840" y="2267712"/>
            <a:ext cx="4967935" cy="2132786"/>
          </a:xfrm>
          <a:prstGeom prst="roundRect">
            <a:avLst>
              <a:gd name="adj" fmla="val 4000"/>
            </a:avLst>
          </a:prstGeom>
          <a:noFill/>
          <a:ln w="12700">
            <a:solidFill>
              <a:srgbClr val="D6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4848" y="4482794"/>
            <a:ext cx="483991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556677"/>
                </a:solidFill>
                <a:latin typeface="Segoe UI"/>
              </a:rPr>
              <a:t>AI History Summary — demo data, identifiers removed.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5541264"/>
            <a:ext cx="3551834" cy="969264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2700">
            <a:solidFill>
              <a:srgbClr val="D6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100" b="1">
                <a:solidFill>
                  <a:srgbClr val="0E8C8B"/>
                </a:solidFill>
                <a:latin typeface="Segoe UI"/>
              </a:rPr>
              <a:t>BUSINESS VALUE</a:t>
            </a:r>
          </a:p>
          <a:p>
            <a:pPr>
              <a:lnSpc>
                <a:spcPct val="110000"/>
              </a:lnSpc>
              <a:spcAft>
                <a:spcPts val="0"/>
              </a:spcAft>
            </a:pPr>
            <a:r>
              <a:rPr sz="1500" b="0">
                <a:solidFill>
                  <a:srgbClr val="1B3A5C"/>
                </a:solidFill>
                <a:latin typeface="Segoe UI"/>
              </a:rPr>
              <a:t>Less re-reading; history harder to miss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19930" y="5541264"/>
            <a:ext cx="3551834" cy="969264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2700">
            <a:solidFill>
              <a:srgbClr val="D6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100" b="1">
                <a:solidFill>
                  <a:srgbClr val="0E8C8B"/>
                </a:solidFill>
                <a:latin typeface="Segoe UI"/>
              </a:rPr>
              <a:t>IMPACT / EVIDENCE</a:t>
            </a:r>
          </a:p>
          <a:p>
            <a:pPr>
              <a:lnSpc>
                <a:spcPct val="110000"/>
              </a:lnSpc>
              <a:spcAft>
                <a:spcPts val="0"/>
              </a:spcAft>
            </a:pPr>
            <a:r>
              <a:rPr sz="1500" b="0">
                <a:solidFill>
                  <a:srgbClr val="1B3A5C"/>
                </a:solidFill>
                <a:latin typeface="Segoe UI"/>
              </a:rPr>
              <a:t>Generated today; time saved not yet measured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72932" y="5541264"/>
            <a:ext cx="3551834" cy="969264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2700">
            <a:solidFill>
              <a:srgbClr val="D6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100" b="1">
                <a:solidFill>
                  <a:srgbClr val="0E8C8B"/>
                </a:solidFill>
                <a:latin typeface="Segoe UI"/>
              </a:rPr>
              <a:t>EFFORT &amp; SCOPE</a:t>
            </a:r>
          </a:p>
          <a:p>
            <a:pPr>
              <a:lnSpc>
                <a:spcPct val="110000"/>
              </a:lnSpc>
              <a:spcAft>
                <a:spcPts val="0"/>
              </a:spcAft>
            </a:pPr>
            <a:r>
              <a:rPr sz="1500" b="0">
                <a:solidFill>
                  <a:srgbClr val="1B3A5C"/>
                </a:solidFill>
                <a:latin typeface="Segoe UI"/>
              </a:rPr>
              <a:t>Effort not documented · v5.21, v5.22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0E8C8B"/>
                </a:solidFill>
                <a:latin typeface="Segoe UI"/>
              </a:rPr>
              <a:t>AI OPERATIONS  ·  PACS / HL7 SERVICE 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10578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>
                <a:solidFill>
                  <a:srgbClr val="0B2545"/>
                </a:solidFill>
                <a:latin typeface="Segoe UI"/>
              </a:rPr>
              <a:t>AI Operations Intelligence Dashboard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188720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900" b="0">
                <a:solidFill>
                  <a:srgbClr val="1B3A5C"/>
                </a:solidFill>
                <a:latin typeface="Segoe UI"/>
              </a:rPr>
              <a:t>From reactive monitoring to predictive PACS / HL7 operations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920240"/>
            <a:ext cx="3527450" cy="277977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8872" rIns="118872" tIns="164592" bIns="91440"/>
          <a:lstStyle/>
          <a:p>
            <a:pPr algn="ctr">
              <a:lnSpc>
                <a:spcPct val="115000"/>
              </a:lnSpc>
              <a:spcAft>
                <a:spcPts val="100"/>
              </a:spcAft>
            </a:pPr>
            <a:r>
              <a:rPr sz="1300" b="1">
                <a:solidFill>
                  <a:srgbClr val="0E8C8B"/>
                </a:solidFill>
                <a:latin typeface="Segoe UI"/>
              </a:rPr>
              <a:t>COMPLETED FOUNDATION</a:t>
            </a:r>
          </a:p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100" b="0">
                <a:solidFill>
                  <a:srgbClr val="556677"/>
                </a:solidFill>
                <a:latin typeface="Segoe UI"/>
              </a:rPr>
              <a:t>Built and running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00" b="1">
                <a:solidFill>
                  <a:srgbClr val="0E8C8B"/>
                </a:solidFill>
                <a:latin typeface="Segoe UI"/>
              </a:rPr>
              <a:t>▪  </a:t>
            </a:r>
            <a:r>
              <a:rPr sz="1300" b="0">
                <a:solidFill>
                  <a:srgbClr val="1B3A5C"/>
                </a:solidFill>
                <a:latin typeface="Segoe UI"/>
              </a:rPr>
              <a:t>PACS / HL7 service monitoring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00" b="1">
                <a:solidFill>
                  <a:srgbClr val="0E8C8B"/>
                </a:solidFill>
                <a:latin typeface="Segoe UI"/>
              </a:rPr>
              <a:t>▪  </a:t>
            </a:r>
            <a:r>
              <a:rPr sz="1300" b="0">
                <a:solidFill>
                  <a:srgbClr val="1B3A5C"/>
                </a:solidFill>
                <a:latin typeface="Segoe UI"/>
              </a:rPr>
              <a:t>Queue and interface visibility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00" b="1">
                <a:solidFill>
                  <a:srgbClr val="0E8C8B"/>
                </a:solidFill>
                <a:latin typeface="Segoe UI"/>
              </a:rPr>
              <a:t>▪  </a:t>
            </a:r>
            <a:r>
              <a:rPr sz="1300" b="0">
                <a:solidFill>
                  <a:srgbClr val="1B3A5C"/>
                </a:solidFill>
                <a:latin typeface="Segoe UI"/>
              </a:rPr>
              <a:t>Operational status mapping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00" b="1">
                <a:solidFill>
                  <a:srgbClr val="0E8C8B"/>
                </a:solidFill>
                <a:latin typeface="Segoe UI"/>
              </a:rPr>
              <a:t>▪  </a:t>
            </a:r>
            <a:r>
              <a:rPr sz="1300" b="0">
                <a:solidFill>
                  <a:srgbClr val="1B3A5C"/>
                </a:solidFill>
                <a:latin typeface="Segoe UI"/>
              </a:rPr>
              <a:t>Automation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00" b="1">
                <a:solidFill>
                  <a:srgbClr val="0E8C8B"/>
                </a:solidFill>
                <a:latin typeface="Segoe UI"/>
              </a:rPr>
              <a:t>▪  </a:t>
            </a:r>
            <a:r>
              <a:rPr sz="1300" b="0">
                <a:solidFill>
                  <a:srgbClr val="1B3A5C"/>
                </a:solidFill>
                <a:latin typeface="Segoe UI"/>
              </a:rPr>
              <a:t>Automated issue classification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920240"/>
            <a:ext cx="3527450" cy="63500"/>
          </a:xfrm>
          <a:prstGeom prst="rect">
            <a:avLst/>
          </a:prstGeom>
          <a:solidFill>
            <a:srgbClr val="0E8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32122" y="1920240"/>
            <a:ext cx="3527450" cy="277977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8872" rIns="118872" tIns="164592" bIns="91440"/>
          <a:lstStyle/>
          <a:p>
            <a:pPr algn="ctr">
              <a:lnSpc>
                <a:spcPct val="115000"/>
              </a:lnSpc>
              <a:spcAft>
                <a:spcPts val="100"/>
              </a:spcAft>
            </a:pPr>
            <a:r>
              <a:rPr sz="1300" b="1">
                <a:solidFill>
                  <a:srgbClr val="1B3A5C"/>
                </a:solidFill>
                <a:latin typeface="Segoe UI"/>
              </a:rPr>
              <a:t>AI INTELLIGENCE LAYER</a:t>
            </a:r>
          </a:p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100" b="0">
                <a:solidFill>
                  <a:srgbClr val="556677"/>
                </a:solidFill>
                <a:latin typeface="Segoe UI"/>
              </a:rPr>
              <a:t>What AI adds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00" b="1">
                <a:solidFill>
                  <a:srgbClr val="1B3A5C"/>
                </a:solidFill>
                <a:latin typeface="Segoe UI"/>
              </a:rPr>
              <a:t>▪  </a:t>
            </a:r>
            <a:r>
              <a:rPr sz="1300" b="0">
                <a:solidFill>
                  <a:srgbClr val="1B3A5C"/>
                </a:solidFill>
                <a:latin typeface="Segoe UI"/>
              </a:rPr>
              <a:t>Risk forecasting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00" b="1">
                <a:solidFill>
                  <a:srgbClr val="1B3A5C"/>
                </a:solidFill>
                <a:latin typeface="Segoe UI"/>
              </a:rPr>
              <a:t>▪  </a:t>
            </a:r>
            <a:r>
              <a:rPr sz="1300" b="0">
                <a:solidFill>
                  <a:srgbClr val="1B3A5C"/>
                </a:solidFill>
                <a:latin typeface="Segoe UI"/>
              </a:rPr>
              <a:t>Storage capacity prediction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00" b="1">
                <a:solidFill>
                  <a:srgbClr val="1B3A5C"/>
                </a:solidFill>
                <a:latin typeface="Segoe UI"/>
              </a:rPr>
              <a:t>▪  </a:t>
            </a:r>
            <a:r>
              <a:rPr sz="1300" b="0">
                <a:solidFill>
                  <a:srgbClr val="1B3A5C"/>
                </a:solidFill>
                <a:latin typeface="Segoe UI"/>
              </a:rPr>
              <a:t>Performance degradation prediction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00" b="1">
                <a:solidFill>
                  <a:srgbClr val="1B3A5C"/>
                </a:solidFill>
                <a:latin typeface="Segoe UI"/>
              </a:rPr>
              <a:t>▪  </a:t>
            </a:r>
            <a:r>
              <a:rPr sz="1300" b="0">
                <a:solidFill>
                  <a:srgbClr val="1B3A5C"/>
                </a:solidFill>
                <a:latin typeface="Segoe UI"/>
              </a:rPr>
              <a:t>Queue backlog forecasting</a:t>
            </a:r>
            <a:r>
              <a:rPr sz="1100" b="1">
                <a:solidFill>
                  <a:srgbClr val="B57A0E"/>
                </a:solidFill>
                <a:latin typeface="Segoe UI"/>
              </a:rPr>
              <a:t>   In Progress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00" b="1">
                <a:solidFill>
                  <a:srgbClr val="1B3A5C"/>
                </a:solidFill>
                <a:latin typeface="Segoe UI"/>
              </a:rPr>
              <a:t>▪  </a:t>
            </a:r>
            <a:r>
              <a:rPr sz="1300" b="0">
                <a:solidFill>
                  <a:srgbClr val="1B3A5C"/>
                </a:solidFill>
                <a:latin typeface="Segoe UI"/>
              </a:rPr>
              <a:t>Prioritized remediation recommendations</a:t>
            </a:r>
            <a:r>
              <a:rPr sz="1100" b="1">
                <a:solidFill>
                  <a:srgbClr val="B57A0E"/>
                </a:solidFill>
                <a:latin typeface="Segoe UI"/>
              </a:rPr>
              <a:t>   Next</a:t>
            </a:r>
          </a:p>
        </p:txBody>
      </p:sp>
      <p:sp>
        <p:nvSpPr>
          <p:cNvPr id="9" name="Rectangle 8"/>
          <p:cNvSpPr/>
          <p:nvPr/>
        </p:nvSpPr>
        <p:spPr>
          <a:xfrm>
            <a:off x="4332122" y="1920240"/>
            <a:ext cx="3527450" cy="635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097316" y="1920240"/>
            <a:ext cx="3527450" cy="277977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8872" rIns="118872" tIns="164592" bIns="91440"/>
          <a:lstStyle/>
          <a:p>
            <a:pPr algn="ctr">
              <a:lnSpc>
                <a:spcPct val="115000"/>
              </a:lnSpc>
              <a:spcAft>
                <a:spcPts val="100"/>
              </a:spcAft>
            </a:pPr>
            <a:r>
              <a:rPr sz="1300" b="1">
                <a:solidFill>
                  <a:srgbClr val="0B2545"/>
                </a:solidFill>
                <a:latin typeface="Segoe UI"/>
              </a:rPr>
              <a:t>BUSINESS IMPACT</a:t>
            </a:r>
          </a:p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100" b="0">
                <a:solidFill>
                  <a:srgbClr val="556677"/>
                </a:solidFill>
                <a:latin typeface="Segoe UI"/>
              </a:rPr>
              <a:t>Why it matters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00" b="1">
                <a:solidFill>
                  <a:srgbClr val="0B2545"/>
                </a:solidFill>
                <a:latin typeface="Segoe UI"/>
              </a:rPr>
              <a:t>▪  </a:t>
            </a:r>
            <a:r>
              <a:rPr sz="1300" b="0">
                <a:solidFill>
                  <a:srgbClr val="1B3A5C"/>
                </a:solidFill>
                <a:latin typeface="Segoe UI"/>
              </a:rPr>
              <a:t>Earlier detection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00" b="1">
                <a:solidFill>
                  <a:srgbClr val="0B2545"/>
                </a:solidFill>
                <a:latin typeface="Segoe UI"/>
              </a:rPr>
              <a:t>▪  </a:t>
            </a:r>
            <a:r>
              <a:rPr sz="1300" b="0">
                <a:solidFill>
                  <a:srgbClr val="1B3A5C"/>
                </a:solidFill>
                <a:latin typeface="Segoe UI"/>
              </a:rPr>
              <a:t>Faster resolution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00" b="1">
                <a:solidFill>
                  <a:srgbClr val="0B2545"/>
                </a:solidFill>
                <a:latin typeface="Segoe UI"/>
              </a:rPr>
              <a:t>▪  </a:t>
            </a:r>
            <a:r>
              <a:rPr sz="1300" b="0">
                <a:solidFill>
                  <a:srgbClr val="1B3A5C"/>
                </a:solidFill>
                <a:latin typeface="Segoe UI"/>
              </a:rPr>
              <a:t>Reduced operational effort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00" b="1">
                <a:solidFill>
                  <a:srgbClr val="0B2545"/>
                </a:solidFill>
                <a:latin typeface="Segoe UI"/>
              </a:rPr>
              <a:t>▪  </a:t>
            </a:r>
            <a:r>
              <a:rPr sz="1300" b="0">
                <a:solidFill>
                  <a:srgbClr val="1B3A5C"/>
                </a:solidFill>
                <a:latin typeface="Segoe UI"/>
              </a:rPr>
              <a:t>Better customer experience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00" b="1">
                <a:solidFill>
                  <a:srgbClr val="0B2545"/>
                </a:solidFill>
                <a:latin typeface="Segoe UI"/>
              </a:rPr>
              <a:t>▪  </a:t>
            </a:r>
            <a:r>
              <a:rPr sz="1300" b="0">
                <a:solidFill>
                  <a:srgbClr val="1B3A5C"/>
                </a:solidFill>
                <a:latin typeface="Segoe UI"/>
              </a:rPr>
              <a:t>Improved system availability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97316" y="1920240"/>
            <a:ext cx="3527450" cy="635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66928" y="4882896"/>
            <a:ext cx="3527450" cy="64008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2700">
            <a:solidFill>
              <a:srgbClr val="D6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91440" bIns="91440"/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0E8C8B"/>
                </a:solidFill>
                <a:latin typeface="Segoe UI"/>
              </a:rPr>
              <a:t>COMPLETED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50" b="0">
                <a:solidFill>
                  <a:srgbClr val="1B3A5C"/>
                </a:solidFill>
                <a:latin typeface="Segoe UI"/>
              </a:rPr>
              <a:t>Monitoring + automation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32122" y="4882896"/>
            <a:ext cx="3527450" cy="64008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2700">
            <a:solidFill>
              <a:srgbClr val="D6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91440" bIns="91440"/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B57A0E"/>
                </a:solidFill>
                <a:latin typeface="Segoe UI"/>
              </a:rPr>
              <a:t>IN PROGRESS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50" b="0">
                <a:solidFill>
                  <a:srgbClr val="1B3A5C"/>
                </a:solidFill>
                <a:latin typeface="Segoe UI"/>
              </a:rPr>
              <a:t>Forecasting + queue backlog prediction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7316" y="4882896"/>
            <a:ext cx="3527450" cy="64008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2700">
            <a:solidFill>
              <a:srgbClr val="D6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91440" bIns="91440"/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1B3A5C"/>
                </a:solidFill>
                <a:latin typeface="Segoe UI"/>
              </a:rPr>
              <a:t>NEXT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50" b="0">
                <a:solidFill>
                  <a:srgbClr val="1B3A5C"/>
                </a:solidFill>
                <a:latin typeface="Segoe UI"/>
              </a:rPr>
              <a:t>AI Copilot for Operations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742432"/>
            <a:ext cx="11057839" cy="566928"/>
          </a:xfrm>
          <a:prstGeom prst="roundRect">
            <a:avLst>
              <a:gd name="adj" fmla="val 4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Segoe UI"/>
              </a:rPr>
              <a:t>Business Benefits:  </a:t>
            </a:r>
            <a:r>
              <a:rPr sz="1400" b="0">
                <a:solidFill>
                  <a:srgbClr val="E6F3F3"/>
                </a:solidFill>
                <a:latin typeface="Segoe UI"/>
              </a:rPr>
              <a:t>Prevent outages  |  Better planning  |  Reduced emergency work  |  Capacity optimization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0E8C8B"/>
                </a:solidFill>
                <a:latin typeface="Segoe UI"/>
              </a:rPr>
              <a:t>NEXT  ·  AI R&amp;D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10578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>
                <a:solidFill>
                  <a:srgbClr val="0B2545"/>
                </a:solidFill>
                <a:latin typeface="Segoe UI"/>
              </a:rPr>
              <a:t>Future AI R&amp;D Opportunities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188720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900" b="0">
                <a:solidFill>
                  <a:srgbClr val="1B3A5C"/>
                </a:solidFill>
                <a:latin typeface="Segoe UI"/>
              </a:rPr>
              <a:t>Focused portfolio for safer reporting, smarter operations and scalable engineering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048256"/>
            <a:ext cx="3527450" cy="33101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82880" bIns="91440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0E8C8B"/>
                </a:solidFill>
                <a:latin typeface="Segoe UI"/>
              </a:rPr>
              <a:t>01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0B2545"/>
                </a:solidFill>
                <a:latin typeface="Segoe UI"/>
              </a:rPr>
              <a:t>Reporting Quality &amp; Safety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400" b="1">
                <a:solidFill>
                  <a:srgbClr val="0E8C8B"/>
                </a:solidFill>
                <a:latin typeface="Segoe UI"/>
              </a:rPr>
              <a:t>▪  </a:t>
            </a:r>
            <a:r>
              <a:rPr sz="1400" b="0">
                <a:solidFill>
                  <a:srgbClr val="1B3A5C"/>
                </a:solidFill>
                <a:latin typeface="Segoe UI"/>
              </a:rPr>
              <a:t>AI Report Discrepancy Detector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400" b="1">
                <a:solidFill>
                  <a:srgbClr val="0E8C8B"/>
                </a:solidFill>
                <a:latin typeface="Segoe UI"/>
              </a:rPr>
              <a:t>▪  </a:t>
            </a:r>
            <a:r>
              <a:rPr sz="1400" b="0">
                <a:solidFill>
                  <a:srgbClr val="1B3A5C"/>
                </a:solidFill>
                <a:latin typeface="Segoe UI"/>
              </a:rPr>
              <a:t>AI ECG Findings from Signals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2048256"/>
            <a:ext cx="3527450" cy="63500"/>
          </a:xfrm>
          <a:prstGeom prst="rect">
            <a:avLst/>
          </a:prstGeom>
          <a:solidFill>
            <a:srgbClr val="0E8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94944" y="4133088"/>
            <a:ext cx="3271418" cy="1078992"/>
          </a:xfrm>
          <a:prstGeom prst="roundRect">
            <a:avLst>
              <a:gd name="adj" fmla="val 8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0E8C8B"/>
                </a:solidFill>
                <a:latin typeface="Segoe UI"/>
              </a:rPr>
              <a:t>VALUE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200" b="0">
                <a:solidFill>
                  <a:srgbClr val="556677"/>
                </a:solidFill>
                <a:latin typeface="Segoe UI"/>
              </a:rPr>
              <a:t>Safer workflows, earlier discrepancy awareness, structured interpretation support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32122" y="2048256"/>
            <a:ext cx="3527450" cy="33101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82880" bIns="91440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1B3A5C"/>
                </a:solidFill>
                <a:latin typeface="Segoe UI"/>
              </a:rPr>
              <a:t>02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0B2545"/>
                </a:solidFill>
                <a:latin typeface="Segoe UI"/>
              </a:rPr>
              <a:t>Operational Intelligence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400" b="1">
                <a:solidFill>
                  <a:srgbClr val="1B3A5C"/>
                </a:solidFill>
                <a:latin typeface="Segoe UI"/>
              </a:rPr>
              <a:t>▪  </a:t>
            </a:r>
            <a:r>
              <a:rPr sz="1400" b="0">
                <a:solidFill>
                  <a:srgbClr val="1B3A5C"/>
                </a:solidFill>
                <a:latin typeface="Segoe UI"/>
              </a:rPr>
              <a:t>Unified PACS / HL7 Investigation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400" b="1">
                <a:solidFill>
                  <a:srgbClr val="1B3A5C"/>
                </a:solidFill>
                <a:latin typeface="Segoe UI"/>
              </a:rPr>
              <a:t>▪  </a:t>
            </a:r>
            <a:r>
              <a:rPr sz="1400" b="0">
                <a:solidFill>
                  <a:srgbClr val="1B3A5C"/>
                </a:solidFill>
                <a:latin typeface="Segoe UI"/>
              </a:rPr>
              <a:t>Proactive Log Analysis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32122" y="2048256"/>
            <a:ext cx="3527450" cy="635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460138" y="4133088"/>
            <a:ext cx="3271418" cy="1078992"/>
          </a:xfrm>
          <a:prstGeom prst="roundRect">
            <a:avLst>
              <a:gd name="adj" fmla="val 8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1B3A5C"/>
                </a:solidFill>
                <a:latin typeface="Segoe UI"/>
              </a:rPr>
              <a:t>VALUE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200" b="0">
                <a:solidFill>
                  <a:srgbClr val="556677"/>
                </a:solidFill>
                <a:latin typeface="Segoe UI"/>
              </a:rPr>
              <a:t>Earlier detection, faster triage and root cause, less manual investigation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7316" y="2048256"/>
            <a:ext cx="3527450" cy="33101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82880" bIns="91440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0B2545"/>
                </a:solidFill>
                <a:latin typeface="Segoe UI"/>
              </a:rPr>
              <a:t>03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0B2545"/>
                </a:solidFill>
                <a:latin typeface="Segoe UI"/>
              </a:rPr>
              <a:t>Engineering Productivity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400" b="1">
                <a:solidFill>
                  <a:srgbClr val="0B2545"/>
                </a:solidFill>
                <a:latin typeface="Segoe UI"/>
              </a:rPr>
              <a:t>▪  </a:t>
            </a:r>
            <a:r>
              <a:rPr sz="1400" b="0">
                <a:solidFill>
                  <a:srgbClr val="1B3A5C"/>
                </a:solidFill>
                <a:latin typeface="Segoe UI"/>
              </a:rPr>
              <a:t>AI-Assisted Test Orchestration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400" b="1">
                <a:solidFill>
                  <a:srgbClr val="0B2545"/>
                </a:solidFill>
                <a:latin typeface="Segoe UI"/>
              </a:rPr>
              <a:t>▪  </a:t>
            </a:r>
            <a:r>
              <a:rPr sz="1400" b="0">
                <a:solidFill>
                  <a:srgbClr val="1B3A5C"/>
                </a:solidFill>
                <a:latin typeface="Segoe UI"/>
              </a:rPr>
              <a:t>Codebase Knowledge Assistant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97316" y="2048256"/>
            <a:ext cx="3527450" cy="635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25332" y="4133088"/>
            <a:ext cx="3271418" cy="1078992"/>
          </a:xfrm>
          <a:prstGeom prst="roundRect">
            <a:avLst>
              <a:gd name="adj" fmla="val 8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0B2545"/>
                </a:solidFill>
                <a:latin typeface="Segoe UI"/>
              </a:rPr>
              <a:t>VALUE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200" b="0">
                <a:solidFill>
                  <a:srgbClr val="556677"/>
                </a:solidFill>
                <a:latin typeface="Segoe UI"/>
              </a:rPr>
              <a:t>Faster validation, better regression coverage, reusable knowledge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632704"/>
            <a:ext cx="11057839" cy="640080"/>
          </a:xfrm>
          <a:prstGeom prst="roundRect">
            <a:avLst>
              <a:gd name="adj" fmla="val 4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Portfolio intent:  </a:t>
            </a:r>
            <a:r>
              <a:rPr sz="1500" b="0">
                <a:solidFill>
                  <a:srgbClr val="E6F3F3"/>
                </a:solidFill>
                <a:latin typeface="Segoe UI"/>
              </a:rPr>
              <a:t>Prioritize pilots that improve safety, reduce operational burden and scale team productivity.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
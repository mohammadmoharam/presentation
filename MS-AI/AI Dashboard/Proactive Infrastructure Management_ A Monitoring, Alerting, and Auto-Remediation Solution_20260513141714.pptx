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9" r:id="rId10"/>
    <p:sldId id="270" r:id="rId11"/>
    <p:sldId id="272" r:id="rId12"/>
    <p:sldId id="267" r:id="rId13"/>
    <p:sldId id="271" r:id="rId14"/>
    <p:sldId id="273" r:id="rId15"/>
    <p:sldId id="274" r:id="rId16"/>
    <p:sldId id="275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5594" autoAdjust="0"/>
  </p:normalViewPr>
  <p:slideViewPr>
    <p:cSldViewPr snapToGrid="0">
      <p:cViewPr varScale="1">
        <p:scale>
          <a:sx n="120" d="100"/>
          <a:sy n="120" d="100"/>
        </p:scale>
        <p:origin x="126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Good morning, everyone.</a:t>
            </a:r>
          </a:p>
          <a:p>
            <a:r>
              <a:rPr lang="en-US"/>
              <a:t>Today, </a:t>
            </a:r>
            <a:r>
              <a:rPr lang="en-US" dirty="0"/>
              <a:t>I would like to demonstrate a POC for our vision healthcare operations management.</a:t>
            </a:r>
          </a:p>
          <a:p>
            <a:r>
              <a:rPr lang="en-US" dirty="0"/>
              <a:t>This is not simply a monitoring dashboard. It is an AI-enabled operational platform that combines monitoring, forecasting, automation, and communication workflows into a single experience.</a:t>
            </a:r>
          </a:p>
          <a:p>
            <a:r>
              <a:rPr lang="en-US" dirty="0"/>
              <a:t>The goal is to help healthcare IT teams move from reactive support toward proactive and eventually autonomous operations.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Our operations team spends time reacting.</a:t>
            </a:r>
          </a:p>
          <a:p>
            <a:r>
              <a:rPr lang="en-US" dirty="0"/>
              <a:t>By the time an alert is raised, the business impact has already started.</a:t>
            </a:r>
          </a:p>
          <a:p>
            <a:r>
              <a:rPr lang="en-US" dirty="0"/>
              <a:t>Engineers manually investigate logs, check storage, determine root causes, draft emails, and coordinate responses.</a:t>
            </a:r>
          </a:p>
          <a:p>
            <a:r>
              <a:rPr lang="en-US" dirty="0"/>
              <a:t>The process is expensive, inconsistent, and difficult to scale as environments grow.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platform introduces intelligence at every stage of the operational lifecycle.</a:t>
            </a:r>
          </a:p>
          <a:p>
            <a:r>
              <a:rPr lang="en-US" dirty="0"/>
              <a:t>Instead of simply telling teams that something is broken, it helps predict what may break, explains why, recommends actions, and prepares communications before service disruption occurs.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platform combines four major capability areas.</a:t>
            </a:r>
          </a:p>
          <a:p>
            <a:r>
              <a:rPr lang="en-US" dirty="0"/>
              <a:t>Monitoring provides visibility.</a:t>
            </a:r>
          </a:p>
          <a:p>
            <a:r>
              <a:rPr lang="en-US" dirty="0"/>
              <a:t>AI provides understanding and prediction.</a:t>
            </a:r>
          </a:p>
          <a:p>
            <a:r>
              <a:rPr lang="en-US" dirty="0"/>
              <a:t>Automation executes approved actions.</a:t>
            </a:r>
          </a:p>
          <a:p>
            <a:r>
              <a:rPr lang="en-US" dirty="0"/>
              <a:t>Communication ensures stakeholders receive the right information quickly and consistently.</a:t>
            </a:r>
          </a:p>
          <a:p>
            <a:r>
              <a:rPr lang="en-US" dirty="0"/>
              <a:t>Together they form a complete operational control platform.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Instead of reviewing dozens of alerts and metrics, administrators receive a summarized operational picture with prioritized actions.</a:t>
            </a:r>
          </a:p>
          <a:p>
            <a:r>
              <a:rPr lang="en-US" dirty="0"/>
              <a:t>The focus is decision support rather than raw monitoring.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lide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lide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Today an engineer may spend 20 to 30 minutes investigating an issue before determining the cause.</a:t>
            </a:r>
          </a:p>
          <a:p>
            <a:r>
              <a:rPr lang="en-US" dirty="0"/>
              <a:t>The AI assistant reduces this effort by summarizing evidence and presenting probable causes immediately.</a:t>
            </a:r>
          </a:p>
          <a:p>
            <a:r>
              <a:rPr lang="en-US" dirty="0"/>
              <a:t>This accelerates triage, improves consistency, and reduces Mean Time To Resolution.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One of the strongest business benefits is prediction.</a:t>
            </a:r>
          </a:p>
          <a:p>
            <a:r>
              <a:rPr lang="en-US" dirty="0"/>
              <a:t>Rather than responding to outages after they happen, teams gain time to plan and act before service impact occurs.</a:t>
            </a:r>
          </a:p>
          <a:p>
            <a:r>
              <a:rPr lang="en-US" dirty="0"/>
              <a:t>This shifts operations from reactive to proactive.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Storage issues remain one of the most common causes of healthcare platform disruption.</a:t>
            </a:r>
          </a:p>
          <a:p>
            <a:r>
              <a:rPr lang="en-US" dirty="0"/>
              <a:t>The platform continuously analyzes growth patterns and provides actionable recommendations while integrating directly with operational workflows.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slide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slide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 Automation is not uncontrolled AI.</a:t>
            </a:r>
          </a:p>
          <a:p>
            <a:r>
              <a:rPr lang="en-US" dirty="0"/>
              <a:t>Every action operates within predefined governance rules approved by the organization.</a:t>
            </a:r>
          </a:p>
          <a:p>
            <a:r>
              <a:rPr lang="en-US" dirty="0"/>
              <a:t>Teams maintain complete control while reducing repetitive operational work.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slide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slide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Communication often becomes a bottleneck during incidents.</a:t>
            </a:r>
          </a:p>
          <a:p>
            <a:r>
              <a:rPr lang="en-US" dirty="0"/>
              <a:t>The system prepares draft communications automatically, allowing teams to review and approve rather than creating messages from scratch.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not AI itself.</a:t>
            </a:r>
          </a:p>
          <a:p>
            <a:r>
              <a:rPr lang="en-US" dirty="0"/>
              <a:t>The value is operational efficiency, reduced downtime, faster response times, and improved customer satisfaction.</a:t>
            </a:r>
          </a:p>
          <a:p>
            <a:r>
              <a:rPr lang="en-US" dirty="0"/>
              <a:t>AI becomes an enabler of measurable business outcomes.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057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slide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slide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 high-level view of the solution architecture. It consists of an endpoint agent for data collection, a rule evaluation layer for logic, an automation layer for remediation, and secure integration with OCI for notifications.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proposal is intentionally structured as a journey.</a:t>
            </a:r>
          </a:p>
          <a:p>
            <a:r>
              <a:rPr lang="en-US" dirty="0"/>
              <a:t>We start with AI assistance.</a:t>
            </a:r>
          </a:p>
          <a:p>
            <a:r>
              <a:rPr lang="en-US" dirty="0"/>
              <a:t>We then introduce governed automation.</a:t>
            </a:r>
          </a:p>
          <a:p>
            <a:r>
              <a:rPr lang="en-US" dirty="0"/>
              <a:t>Over time we evolve toward autonomous healthcare operations while maintaining operational control and trust.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45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Copilot democratizes access to operational intelligence.</a:t>
            </a:r>
          </a:p>
          <a:p>
            <a:r>
              <a:rPr lang="en-US" dirty="0"/>
              <a:t>Operations managers, engineers, and support teams can obtain information through natural language instead of navigating multiple dashboards and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261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closing, I would like to share how this proof of concept was created.</a:t>
            </a:r>
          </a:p>
          <a:p>
            <a:r>
              <a:rPr lang="en-US" dirty="0"/>
              <a:t>The dashboard shown today was not built through a traditional multi-day design process.</a:t>
            </a:r>
          </a:p>
          <a:p>
            <a:r>
              <a:rPr lang="en-US" dirty="0"/>
              <a:t>Using Microsoft Copilot and AI-assisted design workflows, I was able to transform business requirements into a high-fidelity prototype within minutes.</a:t>
            </a:r>
          </a:p>
          <a:p>
            <a:r>
              <a:rPr lang="en-US" dirty="0"/>
              <a:t>We rapidly explored ideas, refined workflows, and produced presentation-ready screens at a speed that would traditionally require multiple iterations across product, design, and engineering teams.</a:t>
            </a:r>
          </a:p>
          <a:p>
            <a:r>
              <a:rPr lang="en-US" dirty="0"/>
              <a:t>Even this presentation leveraged AI assistance to help structure the narrative and messaging.</a:t>
            </a:r>
          </a:p>
          <a:p>
            <a:r>
              <a:rPr lang="en-US" dirty="0"/>
              <a:t>This demonstrates that AI is not only something we can deliver to customers.</a:t>
            </a:r>
          </a:p>
          <a:p>
            <a:r>
              <a:rPr lang="en-US" dirty="0"/>
              <a:t>AI is also transforming how we innovate internally, validate ideas faster, and bring new concepts to market with significantly greater speed.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27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opportunity is not to build another monitoring dashboard.</a:t>
            </a:r>
          </a:p>
          <a:p>
            <a:r>
              <a:rPr lang="en-US" dirty="0"/>
              <a:t>The opportunity is to create an intelligent operational platform that helps our operation run more efficiently, respond faster, and provide better service to our customers.</a:t>
            </a:r>
          </a:p>
          <a:p>
            <a:r>
              <a:rPr lang="en-US" dirty="0"/>
              <a:t>This proof of concept demonstrates how AI can be embedded directly into operational workflows to deliver measurable business value while also accelerating innovation within our own organization.</a:t>
            </a:r>
          </a:p>
          <a:p>
            <a:r>
              <a:rPr lang="en-US" dirty="0"/>
              <a:t>Thank you.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30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New Section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1977450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1162" y="3798509"/>
            <a:ext cx="981675" cy="2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Image Left Content Right">
  <p:cSld name="New Section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472450" y="1665800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9" name="Google Shape;19;p3"/>
          <p:cNvSpPr txBox="1">
            <a:spLocks noGrp="1"/>
          </p:cNvSpPr>
          <p:nvPr>
            <p:ph type="body" idx="4"/>
          </p:nvPr>
        </p:nvSpPr>
        <p:spPr>
          <a:xfrm>
            <a:off x="3083175" y="1787550"/>
            <a:ext cx="5416200" cy="28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Image Right Content Left">
  <p:cSld name="New Section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3"/>
          </p:nvPr>
        </p:nvSpPr>
        <p:spPr>
          <a:xfrm>
            <a:off x="6385500" y="1407650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" name="Google Shape;26;p4"/>
          <p:cNvSpPr txBox="1">
            <a:spLocks noGrp="1"/>
          </p:cNvSpPr>
          <p:nvPr>
            <p:ph type="body" idx="4"/>
          </p:nvPr>
        </p:nvSpPr>
        <p:spPr>
          <a:xfrm>
            <a:off x="399425" y="1692000"/>
            <a:ext cx="5416200" cy="28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Content Without Image">
  <p:cSld name="New Section_1_1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with 3 Narrow Subtitle and image_content combinations">
  <p:cSld name="New Section_1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24025" y="1135875"/>
            <a:ext cx="25911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pic" idx="3"/>
          </p:nvPr>
        </p:nvSpPr>
        <p:spPr>
          <a:xfrm>
            <a:off x="496825" y="1659175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" name="Google Shape;39;p6"/>
          <p:cNvSpPr>
            <a:spLocks noGrp="1"/>
          </p:cNvSpPr>
          <p:nvPr>
            <p:ph type="pic" idx="4"/>
          </p:nvPr>
        </p:nvSpPr>
        <p:spPr>
          <a:xfrm>
            <a:off x="6357725" y="1659175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" name="Google Shape;40;p6"/>
          <p:cNvSpPr>
            <a:spLocks noGrp="1"/>
          </p:cNvSpPr>
          <p:nvPr>
            <p:ph type="pic" idx="5"/>
          </p:nvPr>
        </p:nvSpPr>
        <p:spPr>
          <a:xfrm>
            <a:off x="3449250" y="1659175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1" name="Google Shape;41;p6"/>
          <p:cNvSpPr txBox="1">
            <a:spLocks noGrp="1"/>
          </p:cNvSpPr>
          <p:nvPr>
            <p:ph type="subTitle" idx="6"/>
          </p:nvPr>
        </p:nvSpPr>
        <p:spPr>
          <a:xfrm>
            <a:off x="3276450" y="1135875"/>
            <a:ext cx="25911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7"/>
          </p:nvPr>
        </p:nvSpPr>
        <p:spPr>
          <a:xfrm>
            <a:off x="6184925" y="1135875"/>
            <a:ext cx="25911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Page 16x9 Image">
  <p:cSld name="New Section_1_1_1_2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242900" y="-2721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60" name="Google Shape;60;p8"/>
          <p:cNvSpPr>
            <a:spLocks noGrp="1"/>
          </p:cNvSpPr>
          <p:nvPr>
            <p:ph type="pic" idx="3"/>
          </p:nvPr>
        </p:nvSpPr>
        <p:spPr>
          <a:xfrm>
            <a:off x="914250" y="637625"/>
            <a:ext cx="7315500" cy="41148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Page 1x1 Image">
  <p:cSld name="New Section_1_1_1_2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242900" y="-2721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65" name="Google Shape;65;p9"/>
          <p:cNvSpPr>
            <a:spLocks noGrp="1"/>
          </p:cNvSpPr>
          <p:nvPr>
            <p:ph type="pic" idx="3"/>
          </p:nvPr>
        </p:nvSpPr>
        <p:spPr>
          <a:xfrm>
            <a:off x="2514600" y="637625"/>
            <a:ext cx="4114800" cy="41148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r Content Right">
  <p:cSld name="New Section_1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3502050" y="340875"/>
            <a:ext cx="5642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3558200" y="1096875"/>
            <a:ext cx="53448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3"/>
          </p:nvPr>
        </p:nvSpPr>
        <p:spPr>
          <a:xfrm>
            <a:off x="187750" y="365325"/>
            <a:ext cx="3109800" cy="418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3677400" y="1997000"/>
            <a:ext cx="5225700" cy="24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ntent Left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76" name="Google Shape;76;p11"/>
          <p:cNvSpPr>
            <a:spLocks noGrp="1"/>
          </p:cNvSpPr>
          <p:nvPr>
            <p:ph type="pic" idx="3"/>
          </p:nvPr>
        </p:nvSpPr>
        <p:spPr>
          <a:xfrm>
            <a:off x="4986150" y="759850"/>
            <a:ext cx="3721500" cy="32490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398825" y="291825"/>
            <a:ext cx="43254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  <a:defRPr sz="27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423150" y="919050"/>
            <a:ext cx="4301100" cy="3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0" y="4367900"/>
            <a:ext cx="9152100" cy="4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Screen Image">
  <p:cSld name="CUSTOM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83" name="Google Shape;83;p12"/>
          <p:cNvSpPr>
            <a:spLocks noGrp="1"/>
          </p:cNvSpPr>
          <p:nvPr>
            <p:ph type="pic" idx="3"/>
          </p:nvPr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ntent Right">
  <p:cSld name="CUSTOM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3"/>
          </p:nvPr>
        </p:nvSpPr>
        <p:spPr>
          <a:xfrm>
            <a:off x="263773" y="793925"/>
            <a:ext cx="3587700" cy="31323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4338375" y="291875"/>
            <a:ext cx="45411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  <a:defRPr sz="27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4338375" y="1070100"/>
            <a:ext cx="4303800" cy="3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○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○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○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4"/>
          </p:nvPr>
        </p:nvSpPr>
        <p:spPr>
          <a:xfrm>
            <a:off x="0" y="4367900"/>
            <a:ext cx="9152100" cy="4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05300" y="1783765"/>
            <a:ext cx="7733400" cy="9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1"/>
          </p:nvPr>
        </p:nvSpPr>
        <p:spPr>
          <a:xfrm>
            <a:off x="943500" y="2688438"/>
            <a:ext cx="72570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99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008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2725" y="444225"/>
            <a:ext cx="36385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1162" y="3798509"/>
            <a:ext cx="981675" cy="2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TITLE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943500" y="3407063"/>
            <a:ext cx="72570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99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008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3"/>
          </p:nvPr>
        </p:nvSpPr>
        <p:spPr>
          <a:xfrm>
            <a:off x="2049300" y="785075"/>
            <a:ext cx="5045400" cy="26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802888"/>
            <a:ext cx="9144000" cy="342900"/>
          </a:xfrm>
          <a:prstGeom prst="rect">
            <a:avLst/>
          </a:prstGeom>
          <a:solidFill>
            <a:srgbClr val="E3E5E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 descr="A picture containing text, clipart&#10;&#10;Description automatically generate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94810" y="4860812"/>
            <a:ext cx="754380" cy="2404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05300" y="1783765"/>
            <a:ext cx="7851754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AI-Powered Healthcare Integration Operations Platform</a:t>
            </a:r>
            <a:endParaRPr sz="3600" dirty="0"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943500" y="3046784"/>
            <a:ext cx="72570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From Monitoring to Autonomous Operations</a:t>
            </a:r>
            <a:endParaRPr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242899" y="243475"/>
            <a:ext cx="8603975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000" dirty="0"/>
              <a:t>Healthcare Operations Reality Today</a:t>
            </a:r>
            <a:endParaRPr sz="4000" dirty="0"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Current Challenges</a:t>
            </a:r>
            <a:endParaRPr sz="2400" dirty="0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dirty="0"/>
              <a:t>Healthcare operations teams manage:</a:t>
            </a:r>
          </a:p>
          <a:p>
            <a:r>
              <a:rPr lang="en-US" dirty="0"/>
              <a:t>PACS environments</a:t>
            </a:r>
          </a:p>
          <a:p>
            <a:r>
              <a:rPr lang="en-US" dirty="0"/>
              <a:t>HL7 integrations</a:t>
            </a:r>
          </a:p>
          <a:p>
            <a:r>
              <a:rPr lang="en-US" dirty="0"/>
              <a:t>Imaging archives</a:t>
            </a:r>
          </a:p>
          <a:p>
            <a:r>
              <a:rPr lang="en-US" dirty="0"/>
              <a:t>Interface engines</a:t>
            </a:r>
          </a:p>
          <a:p>
            <a:r>
              <a:rPr lang="en-US" dirty="0"/>
              <a:t>Storage growth</a:t>
            </a:r>
          </a:p>
          <a:p>
            <a:r>
              <a:rPr lang="en-US" dirty="0"/>
              <a:t>Customer communications</a:t>
            </a:r>
          </a:p>
          <a:p>
            <a:r>
              <a:rPr lang="en-US" dirty="0"/>
              <a:t>Incident response</a:t>
            </a:r>
          </a:p>
          <a:p>
            <a:pPr marL="139700" indent="0">
              <a:buNone/>
            </a:pPr>
            <a:r>
              <a:rPr lang="en-US" b="1" dirty="0"/>
              <a:t>Common Problems</a:t>
            </a:r>
          </a:p>
          <a:p>
            <a:r>
              <a:rPr lang="en-US" dirty="0"/>
              <a:t>🔴 Alert overload</a:t>
            </a:r>
          </a:p>
          <a:p>
            <a:r>
              <a:rPr lang="en-US" dirty="0"/>
              <a:t>🔴 Storage issues discovered too late</a:t>
            </a:r>
          </a:p>
          <a:p>
            <a:r>
              <a:rPr lang="en-US" dirty="0"/>
              <a:t>🔴 HL7 failures require manual investigation</a:t>
            </a:r>
          </a:p>
          <a:p>
            <a:r>
              <a:rPr lang="en-US" dirty="0"/>
              <a:t>🔴 Slow customer communication during outages</a:t>
            </a:r>
          </a:p>
          <a:p>
            <a:r>
              <a:rPr lang="en-US" dirty="0"/>
              <a:t>🔴 Operations teams spend time on repetitive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Vision</a:t>
            </a:r>
            <a:endParaRPr sz="4400" dirty="0"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/>
              <a:t>From Monitoring to Intelligent Operations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Traditional Monitoring</a:t>
            </a:r>
          </a:p>
          <a:p>
            <a:r>
              <a:rPr lang="en-US" sz="1800" dirty="0"/>
              <a:t>Detect → Alert → Investigate → Communicate → Resolve</a:t>
            </a:r>
          </a:p>
          <a:p>
            <a:pPr marL="139700" indent="0">
              <a:buNone/>
            </a:pPr>
            <a:r>
              <a:rPr lang="en-US" sz="1800" b="1" dirty="0"/>
              <a:t>AI-Enabled Operations</a:t>
            </a:r>
          </a:p>
          <a:p>
            <a:r>
              <a:rPr lang="en-US" sz="1800" dirty="0"/>
              <a:t>Predict → Explain → Recommend → Automate → Communicate</a:t>
            </a:r>
          </a:p>
          <a:p>
            <a:pPr marL="139700" indent="0">
              <a:buNone/>
            </a:pPr>
            <a:r>
              <a:rPr lang="en-US" sz="1800" b="1" dirty="0"/>
              <a:t>Key Outcomes</a:t>
            </a:r>
          </a:p>
          <a:p>
            <a:r>
              <a:rPr lang="en-US" sz="1800" dirty="0"/>
              <a:t>Earlier detection</a:t>
            </a:r>
          </a:p>
          <a:p>
            <a:r>
              <a:rPr lang="en-US" sz="1800" dirty="0"/>
              <a:t>Faster resolution</a:t>
            </a:r>
          </a:p>
          <a:p>
            <a:r>
              <a:rPr lang="en-US" sz="1800" dirty="0"/>
              <a:t>Reduced operational effort</a:t>
            </a:r>
          </a:p>
          <a:p>
            <a:r>
              <a:rPr lang="en-US" sz="1800" dirty="0"/>
              <a:t>Better customer experience</a:t>
            </a:r>
          </a:p>
          <a:p>
            <a:r>
              <a:rPr lang="en-US" sz="1800" dirty="0"/>
              <a:t>Improved system availability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Platform Overview</a:t>
            </a:r>
            <a:endParaRPr sz="4400" dirty="0"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Unified Operational Intelligence Platform</a:t>
            </a:r>
            <a:endParaRPr sz="2400" dirty="0"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D05B20-90B4-D146-4998-0A8ABE36F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641835"/>
              </p:ext>
            </p:extLst>
          </p:nvPr>
        </p:nvGraphicFramePr>
        <p:xfrm>
          <a:off x="297124" y="1401409"/>
          <a:ext cx="822960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7345895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56252147"/>
                    </a:ext>
                  </a:extLst>
                </a:gridCol>
              </a:tblGrid>
              <a:tr h="3055330">
                <a:tc>
                  <a:txBody>
                    <a:bodyPr/>
                    <a:lstStyle/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Monitoring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CPU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Memory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Storage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Services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PACS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HL7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AI Intelligence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Forecasting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Correlation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Root Cause Analysis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Risk Scoring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Automation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Cleanup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Archiving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Escalations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Notifications</a:t>
                      </a: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Communication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Internal notifications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Customer updates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Executive summaries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179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AI Operations Overview</a:t>
            </a:r>
            <a:endParaRPr sz="4400" dirty="0"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AI-Powered Operations Command Center</a:t>
            </a:r>
            <a:endParaRPr sz="2400" dirty="0"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What AI Provides</a:t>
            </a:r>
          </a:p>
          <a:p>
            <a:pPr marL="139700" indent="0">
              <a:buNone/>
            </a:pPr>
            <a:r>
              <a:rPr lang="en-US" b="1" dirty="0"/>
              <a:t>Risk Forecasting</a:t>
            </a:r>
          </a:p>
          <a:p>
            <a:r>
              <a:rPr lang="en-US" dirty="0"/>
              <a:t>Storage capacity prediction</a:t>
            </a:r>
          </a:p>
          <a:p>
            <a:r>
              <a:rPr lang="en-US" dirty="0"/>
              <a:t>Performance degradation prediction</a:t>
            </a:r>
          </a:p>
          <a:p>
            <a:r>
              <a:rPr lang="en-US" dirty="0"/>
              <a:t>Queue backlog forecasting</a:t>
            </a:r>
          </a:p>
          <a:p>
            <a:pPr marL="139700" indent="0">
              <a:buNone/>
            </a:pPr>
            <a:r>
              <a:rPr lang="en-US" b="1" dirty="0"/>
              <a:t>Alert Correlation</a:t>
            </a:r>
          </a:p>
          <a:p>
            <a:r>
              <a:rPr lang="en-US" dirty="0"/>
              <a:t>Groups related failures</a:t>
            </a:r>
          </a:p>
          <a:p>
            <a:r>
              <a:rPr lang="en-US" dirty="0"/>
              <a:t>Identifies probable root causes</a:t>
            </a:r>
          </a:p>
          <a:p>
            <a:pPr marL="139700" indent="0">
              <a:buNone/>
            </a:pPr>
            <a:r>
              <a:rPr lang="en-US" b="1" dirty="0"/>
              <a:t>Business Impact Analysis</a:t>
            </a:r>
          </a:p>
          <a:p>
            <a:r>
              <a:rPr lang="en-US" dirty="0"/>
              <a:t>Systems affected</a:t>
            </a:r>
          </a:p>
          <a:p>
            <a:r>
              <a:rPr lang="en-US" dirty="0"/>
              <a:t>Customers affected</a:t>
            </a:r>
          </a:p>
          <a:p>
            <a:r>
              <a:rPr lang="en-US" dirty="0"/>
              <a:t>SLA risk</a:t>
            </a:r>
          </a:p>
          <a:p>
            <a:pPr marL="139700" indent="0">
              <a:buNone/>
            </a:pPr>
            <a:r>
              <a:rPr lang="en-US" b="1" dirty="0"/>
              <a:t>Recommended Actions</a:t>
            </a:r>
          </a:p>
          <a:p>
            <a:r>
              <a:rPr lang="en-US" dirty="0"/>
              <a:t>Prioritized remediation steps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AI-Powered Incident Investigation</a:t>
            </a:r>
            <a:endParaRPr sz="4400" dirty="0"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From Alert to Understanding</a:t>
            </a:r>
            <a:endParaRPr sz="2400" dirty="0"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AI automatically provides:</a:t>
            </a:r>
          </a:p>
          <a:p>
            <a:r>
              <a:rPr lang="en-US" sz="2000" dirty="0"/>
              <a:t>Executive summary</a:t>
            </a:r>
          </a:p>
          <a:p>
            <a:r>
              <a:rPr lang="en-US" sz="2000" dirty="0"/>
              <a:t>Operational impact</a:t>
            </a:r>
          </a:p>
          <a:p>
            <a:r>
              <a:rPr lang="en-US" sz="2000" dirty="0"/>
              <a:t>Probable root cause</a:t>
            </a:r>
          </a:p>
          <a:p>
            <a:r>
              <a:rPr lang="en-US" sz="2000" dirty="0"/>
              <a:t>Supporting evidence</a:t>
            </a:r>
          </a:p>
          <a:p>
            <a:r>
              <a:rPr lang="en-US" sz="2000" dirty="0"/>
              <a:t>Recommended actions</a:t>
            </a:r>
          </a:p>
          <a:p>
            <a:r>
              <a:rPr lang="en-US" sz="2000" dirty="0"/>
              <a:t>Suggested communications</a:t>
            </a:r>
          </a:p>
          <a:p>
            <a:pPr marL="139700" indent="0">
              <a:buNone/>
            </a:pPr>
            <a:r>
              <a:rPr lang="en-US" sz="2000" b="1" dirty="0"/>
              <a:t>Confidence Score Included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242899" y="243475"/>
            <a:ext cx="8662895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Predictive Infrastructure Intelligence</a:t>
            </a:r>
            <a:endParaRPr sz="4400" dirty="0"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Forecast Before Failure</a:t>
            </a:r>
            <a:endParaRPr sz="2400" dirty="0"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2000" b="1" dirty="0"/>
              <a:t>AI Forecast Examples</a:t>
            </a:r>
          </a:p>
          <a:p>
            <a:r>
              <a:rPr lang="en-US" sz="2000" dirty="0"/>
              <a:t>C: Drive will reach 90% utilization in 9 days</a:t>
            </a:r>
          </a:p>
          <a:p>
            <a:r>
              <a:rPr lang="en-US" sz="2000" dirty="0"/>
              <a:t>D: Archive volume threshold expected in 14 days</a:t>
            </a:r>
          </a:p>
          <a:p>
            <a:r>
              <a:rPr lang="en-US" sz="2000" dirty="0"/>
              <a:t>HL7 queue backlog may exceed SLA in 2 hours</a:t>
            </a:r>
          </a:p>
          <a:p>
            <a:r>
              <a:rPr lang="en-US" sz="2000" dirty="0"/>
              <a:t>Memory growth pattern suggests possible leak</a:t>
            </a:r>
          </a:p>
          <a:p>
            <a:pPr marL="139700" indent="0">
              <a:buNone/>
            </a:pPr>
            <a:r>
              <a:rPr lang="en-US" sz="2000" b="1" dirty="0"/>
              <a:t>Business Benefits</a:t>
            </a:r>
          </a:p>
          <a:p>
            <a:r>
              <a:rPr lang="en-US" sz="2000" dirty="0"/>
              <a:t>✔ Prevent outages</a:t>
            </a:r>
          </a:p>
          <a:p>
            <a:r>
              <a:rPr lang="en-US" sz="2000" dirty="0"/>
              <a:t>✔ Better planning</a:t>
            </a:r>
          </a:p>
          <a:p>
            <a:r>
              <a:rPr lang="en-US" sz="2000" dirty="0"/>
              <a:t>✔ Reduced emergency work</a:t>
            </a:r>
          </a:p>
          <a:p>
            <a:r>
              <a:rPr lang="en-US" sz="2000" dirty="0"/>
              <a:t>✔ Capacity optimization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AI-Driven Storage Management</a:t>
            </a:r>
            <a:endParaRPr sz="4400" dirty="0"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Intelligent Storage Operations</a:t>
            </a:r>
            <a:endParaRPr sz="2400" dirty="0"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1600" b="1" dirty="0"/>
              <a:t>AI Identifies</a:t>
            </a:r>
          </a:p>
          <a:p>
            <a:r>
              <a:rPr lang="en-US" sz="1600" dirty="0"/>
              <a:t>Abnormal growth patterns</a:t>
            </a:r>
          </a:p>
          <a:p>
            <a:r>
              <a:rPr lang="en-US" sz="1600" dirty="0"/>
              <a:t>Cleanup opportunities</a:t>
            </a:r>
          </a:p>
          <a:p>
            <a:r>
              <a:rPr lang="en-US" sz="1600" dirty="0"/>
              <a:t>Archive recommendations</a:t>
            </a:r>
          </a:p>
          <a:p>
            <a:r>
              <a:rPr lang="en-US" sz="1600" dirty="0"/>
              <a:t>Capacity expansion needs</a:t>
            </a:r>
          </a:p>
          <a:p>
            <a:r>
              <a:rPr lang="en-US" sz="1600" dirty="0"/>
              <a:t>Storage risk levels</a:t>
            </a:r>
          </a:p>
          <a:p>
            <a:pPr marL="139700" indent="0">
              <a:buNone/>
            </a:pPr>
            <a:r>
              <a:rPr lang="en-US" sz="1600" b="1" dirty="0"/>
              <a:t>Integrated with Automation Rules</a:t>
            </a:r>
          </a:p>
          <a:p>
            <a:r>
              <a:rPr lang="en-US" sz="1600" dirty="0"/>
              <a:t>Cleanup scheduling</a:t>
            </a:r>
          </a:p>
          <a:p>
            <a:r>
              <a:rPr lang="en-US" sz="1600" dirty="0"/>
              <a:t>Archive workflows</a:t>
            </a:r>
          </a:p>
          <a:p>
            <a:r>
              <a:rPr lang="en-US" sz="1600" dirty="0"/>
              <a:t>Storage expansion requests</a:t>
            </a:r>
          </a:p>
          <a:p>
            <a:r>
              <a:rPr lang="en-US" sz="1600" dirty="0"/>
              <a:t>Escalation policies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Automation Rules Engine</a:t>
            </a:r>
            <a:endParaRPr sz="4400" dirty="0"/>
          </a:p>
        </p:txBody>
      </p:sp>
      <p:sp>
        <p:nvSpPr>
          <p:cNvPr id="206" name="Google Shape;206;p29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Governed Automation</a:t>
            </a:r>
            <a:endParaRPr sz="2400" dirty="0"/>
          </a:p>
        </p:txBody>
      </p:sp>
      <p:sp>
        <p:nvSpPr>
          <p:cNvPr id="207" name="Google Shape;207;p29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1600" b="1" dirty="0"/>
              <a:t>Example Rules</a:t>
            </a:r>
          </a:p>
          <a:p>
            <a:r>
              <a:rPr lang="en-US" sz="1600" dirty="0"/>
              <a:t>Run temp cleanup at 80% disk utilization</a:t>
            </a:r>
          </a:p>
          <a:p>
            <a:r>
              <a:rPr lang="en-US" sz="1600" dirty="0"/>
              <a:t>Archive exams overnight at 85%</a:t>
            </a:r>
          </a:p>
          <a:p>
            <a:r>
              <a:rPr lang="en-US" sz="1600" dirty="0"/>
              <a:t>Create storage expansion request at 90%</a:t>
            </a:r>
          </a:p>
          <a:p>
            <a:r>
              <a:rPr lang="en-US" sz="1600" dirty="0"/>
              <a:t>Escalate PACS failures after threshold</a:t>
            </a:r>
          </a:p>
          <a:p>
            <a:r>
              <a:rPr lang="en-US" sz="1600" dirty="0"/>
              <a:t>Notify customers when HL7 downtime exceeds SLA</a:t>
            </a:r>
          </a:p>
          <a:p>
            <a:pPr marL="139700" indent="0">
              <a:buNone/>
            </a:pPr>
            <a:r>
              <a:rPr lang="en-US" sz="1600" b="1" dirty="0"/>
              <a:t>Governance Controls</a:t>
            </a:r>
          </a:p>
          <a:p>
            <a:r>
              <a:rPr lang="en-US" sz="1600" dirty="0"/>
              <a:t>Approval workflows</a:t>
            </a:r>
          </a:p>
          <a:p>
            <a:r>
              <a:rPr lang="en-US" sz="1600" dirty="0"/>
              <a:t>Scheduling controls</a:t>
            </a:r>
          </a:p>
          <a:p>
            <a:r>
              <a:rPr lang="en-US" sz="1600" dirty="0"/>
              <a:t>Maintenance windows</a:t>
            </a:r>
          </a:p>
          <a:p>
            <a:r>
              <a:rPr lang="en-US" sz="1600" dirty="0"/>
              <a:t>Audit trails</a:t>
            </a:r>
          </a:p>
          <a:p>
            <a:r>
              <a:rPr lang="en-US" sz="1600" dirty="0"/>
              <a:t>Trigger history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AI Notification Center</a:t>
            </a:r>
            <a:endParaRPr sz="4400" dirty="0"/>
          </a:p>
        </p:txBody>
      </p:sp>
      <p:sp>
        <p:nvSpPr>
          <p:cNvPr id="213" name="Google Shape;213;p30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AI-Assisted Communications</a:t>
            </a:r>
            <a:endParaRPr sz="2400" dirty="0"/>
          </a:p>
        </p:txBody>
      </p:sp>
      <p:sp>
        <p:nvSpPr>
          <p:cNvPr id="214" name="Google Shape;214;p30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2000" b="1" dirty="0"/>
              <a:t>Automatically Drafted Communications</a:t>
            </a:r>
          </a:p>
          <a:p>
            <a:r>
              <a:rPr lang="en-US" sz="2000" dirty="0"/>
              <a:t>Customer outage notifications</a:t>
            </a:r>
          </a:p>
          <a:p>
            <a:r>
              <a:rPr lang="en-US" sz="2000" dirty="0"/>
              <a:t>Internal incident communications</a:t>
            </a:r>
          </a:p>
          <a:p>
            <a:r>
              <a:rPr lang="en-US" sz="2000" dirty="0"/>
              <a:t>Escalation messages</a:t>
            </a:r>
          </a:p>
          <a:p>
            <a:r>
              <a:rPr lang="en-US" sz="2000" dirty="0"/>
              <a:t>Maintenance notices</a:t>
            </a:r>
          </a:p>
          <a:p>
            <a:pPr marL="139700" indent="0">
              <a:buNone/>
            </a:pPr>
            <a:r>
              <a:rPr lang="en-US" sz="2000" b="1" dirty="0"/>
              <a:t>Business Value</a:t>
            </a:r>
          </a:p>
          <a:p>
            <a:r>
              <a:rPr lang="en-US" sz="2000" dirty="0"/>
              <a:t>Faster communication</a:t>
            </a:r>
          </a:p>
          <a:p>
            <a:r>
              <a:rPr lang="en-US" sz="2000" dirty="0"/>
              <a:t>Consistent messaging</a:t>
            </a:r>
          </a:p>
          <a:p>
            <a:r>
              <a:rPr lang="en-US" sz="2000" dirty="0"/>
              <a:t>Reduced operational workload</a:t>
            </a:r>
          </a:p>
          <a:p>
            <a:r>
              <a:rPr lang="en-US" sz="2000" dirty="0"/>
              <a:t>Improved customer experience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9C93-9399-3B9B-4E89-01393E78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7886700" cy="99441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Business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901F-AA96-A7D1-345A-75578BF4128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Expected Operational Benefits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215563-48D9-4072-61C8-8BE432E8C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25711"/>
              </p:ext>
            </p:extLst>
          </p:nvPr>
        </p:nvGraphicFramePr>
        <p:xfrm>
          <a:off x="630936" y="1469884"/>
          <a:ext cx="7886701" cy="3243104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4791673">
                  <a:extLst>
                    <a:ext uri="{9D8B030D-6E8A-4147-A177-3AD203B41FA5}">
                      <a16:colId xmlns:a16="http://schemas.microsoft.com/office/drawing/2014/main" val="2284578209"/>
                    </a:ext>
                  </a:extLst>
                </a:gridCol>
                <a:gridCol w="3095028">
                  <a:extLst>
                    <a:ext uri="{9D8B030D-6E8A-4147-A177-3AD203B41FA5}">
                      <a16:colId xmlns:a16="http://schemas.microsoft.com/office/drawing/2014/main" val="501593380"/>
                    </a:ext>
                  </a:extLst>
                </a:gridCol>
              </a:tblGrid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Area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Impact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1684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Incident Detection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Faster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84840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Root Cause Analysis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Reduced effort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435158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Customer Communication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Accelerated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22654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Storage Planning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Proactive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743250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Manual Tasks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Reduced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396688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Service Availability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Improved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037013"/>
                  </a:ext>
                </a:extLst>
              </a:tr>
              <a:tr h="405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Operational Consistency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Increased</a:t>
                      </a:r>
                    </a:p>
                  </a:txBody>
                  <a:tcPr marL="103946" marR="103946" marT="103946" marB="519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883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0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Solution Architecture</a:t>
            </a:r>
            <a:endParaRPr sz="4400"/>
          </a:p>
        </p:txBody>
      </p:sp>
      <p:sp>
        <p:nvSpPr>
          <p:cNvPr id="192" name="Google Shape;192;p27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High-Level Components</a:t>
            </a:r>
            <a:endParaRPr sz="2400"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Endpoint Agent: Deployed on hosts for local data collection.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Rule Evaluation Layer: Centralized logic for processing data and managing state.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Automation Layer: Executes pre-approved remediation actions like volume extension.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• OCI Integration: Provides secure, reliable channel for notifications.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44E8-D678-3A02-C57D-1D02CAAA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81F5C-9687-DCE9-BFEF-C48B8DEE5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Evolution Toward Autonomous Operations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1B8D3-9590-EDD1-1383-EA0926C23EC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200" b="1" dirty="0"/>
              <a:t>Phase 1</a:t>
            </a:r>
          </a:p>
          <a:p>
            <a:r>
              <a:rPr lang="en-US" sz="1200" dirty="0"/>
              <a:t>AI-Assisted Operations</a:t>
            </a:r>
          </a:p>
          <a:p>
            <a:r>
              <a:rPr lang="en-US" sz="1200" dirty="0"/>
              <a:t>Summaries</a:t>
            </a:r>
          </a:p>
          <a:p>
            <a:r>
              <a:rPr lang="en-US" sz="1200" dirty="0"/>
              <a:t>Forecasts</a:t>
            </a:r>
          </a:p>
          <a:p>
            <a:r>
              <a:rPr lang="en-US" sz="1200" dirty="0"/>
              <a:t>Recommendations</a:t>
            </a:r>
          </a:p>
          <a:p>
            <a:pPr marL="139700" indent="0">
              <a:buNone/>
            </a:pPr>
            <a:r>
              <a:rPr lang="en-US" sz="1200" b="1" dirty="0"/>
              <a:t>Phase 2</a:t>
            </a:r>
          </a:p>
          <a:p>
            <a:r>
              <a:rPr lang="en-US" sz="1200" dirty="0"/>
              <a:t>Governed Automation</a:t>
            </a:r>
          </a:p>
          <a:p>
            <a:r>
              <a:rPr lang="en-US" sz="1200" dirty="0"/>
              <a:t>Rule execution</a:t>
            </a:r>
          </a:p>
          <a:p>
            <a:r>
              <a:rPr lang="en-US" sz="1200" dirty="0"/>
              <a:t>Scheduled remediation</a:t>
            </a:r>
          </a:p>
          <a:p>
            <a:r>
              <a:rPr lang="en-US" sz="1200" dirty="0"/>
              <a:t>Approval workflows</a:t>
            </a:r>
          </a:p>
          <a:p>
            <a:pPr marL="139700" indent="0">
              <a:buNone/>
            </a:pPr>
            <a:r>
              <a:rPr lang="en-US" sz="1200" b="1" dirty="0"/>
              <a:t>Phase 3</a:t>
            </a:r>
          </a:p>
          <a:p>
            <a:r>
              <a:rPr lang="en-US" sz="1200" dirty="0"/>
              <a:t>Autonomous Operations</a:t>
            </a:r>
          </a:p>
          <a:p>
            <a:r>
              <a:rPr lang="en-US" sz="1200" dirty="0"/>
              <a:t>Self-healing workflows</a:t>
            </a:r>
          </a:p>
          <a:p>
            <a:r>
              <a:rPr lang="en-US" sz="1200" dirty="0"/>
              <a:t>Dynamic threshold tuning</a:t>
            </a:r>
          </a:p>
          <a:p>
            <a:r>
              <a:rPr lang="en-US" sz="1200" dirty="0"/>
              <a:t>AI-driven optimization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1383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1EC6-5A87-8835-2F1E-A960F7DC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: AI Copilot for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921A6-D0DB-011F-8A29-9A961C7B96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Ask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A3CF3-5CAF-46A1-1B96-2AFEA1235E3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Example Questions</a:t>
            </a:r>
          </a:p>
          <a:p>
            <a:r>
              <a:rPr lang="en-US" dirty="0"/>
              <a:t>Why is HL7 failing?</a:t>
            </a:r>
          </a:p>
          <a:p>
            <a:r>
              <a:rPr lang="en-US" dirty="0"/>
              <a:t>Which server is most at risk?</a:t>
            </a:r>
          </a:p>
          <a:p>
            <a:r>
              <a:rPr lang="en-US" dirty="0"/>
              <a:t>Forecast when D: drive will be full</a:t>
            </a:r>
          </a:p>
          <a:p>
            <a:r>
              <a:rPr lang="en-US" dirty="0"/>
              <a:t>Draft a customer email for this outage</a:t>
            </a:r>
          </a:p>
          <a:p>
            <a:r>
              <a:rPr lang="en-US" dirty="0"/>
              <a:t>What automation rules are recommended?</a:t>
            </a:r>
          </a:p>
          <a:p>
            <a:pPr marL="13970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Natural language access</a:t>
            </a:r>
          </a:p>
          <a:p>
            <a:r>
              <a:rPr lang="en-US" dirty="0"/>
              <a:t>Faster investigations</a:t>
            </a:r>
          </a:p>
          <a:p>
            <a:r>
              <a:rPr lang="en-US" dirty="0"/>
              <a:t>Broader accessibility</a:t>
            </a:r>
          </a:p>
          <a:p>
            <a:r>
              <a:rPr lang="en-US" dirty="0"/>
              <a:t>Reduced learning curve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84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5ADC-0696-EF15-725A-4F4F0334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Accelerated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994FC-5EEF-E53D-08DE-4104D9065F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the Future Faster with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4A7F7-BC12-0D75-35F1-9FBADEDB3D1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200" b="1" dirty="0"/>
              <a:t>This Proof of Concept Was AI-Assisted</a:t>
            </a:r>
          </a:p>
          <a:p>
            <a:r>
              <a:rPr lang="en-US" sz="1200" dirty="0"/>
              <a:t>✅ Dashboard concepts created using AI-assisted ideation</a:t>
            </a:r>
          </a:p>
          <a:p>
            <a:r>
              <a:rPr lang="en-US" sz="1200" dirty="0"/>
              <a:t>✅ High-fidelity mockups generated using Microsoft Copilot</a:t>
            </a:r>
          </a:p>
          <a:p>
            <a:r>
              <a:rPr lang="en-US" sz="1200" dirty="0"/>
              <a:t>✅ Enterprise healthcare screens created in minutes rather than days</a:t>
            </a:r>
          </a:p>
          <a:p>
            <a:r>
              <a:rPr lang="en-US" sz="1200" dirty="0"/>
              <a:t>✅ Rapid iteration through natural language prompts</a:t>
            </a:r>
          </a:p>
          <a:p>
            <a:r>
              <a:rPr lang="en-US" sz="1200" dirty="0"/>
              <a:t>✅ This presentation was partially prepared using AI assistance</a:t>
            </a:r>
          </a:p>
          <a:p>
            <a:pPr marL="139700" indent="0">
              <a:buNone/>
            </a:pPr>
            <a:r>
              <a:rPr lang="en-US" sz="1200" b="1" dirty="0"/>
              <a:t>Outcome</a:t>
            </a:r>
          </a:p>
          <a:p>
            <a:r>
              <a:rPr lang="en-US" sz="1200" dirty="0"/>
              <a:t>Traditional Approach:</a:t>
            </a:r>
          </a:p>
          <a:p>
            <a:r>
              <a:rPr lang="en-US" sz="1200" dirty="0"/>
              <a:t>Multiple days</a:t>
            </a:r>
          </a:p>
          <a:p>
            <a:r>
              <a:rPr lang="en-US" sz="1200" dirty="0"/>
              <a:t>Several iterations</a:t>
            </a:r>
          </a:p>
          <a:p>
            <a:r>
              <a:rPr lang="en-US" sz="1200" dirty="0"/>
              <a:t>Dedicated design cycles</a:t>
            </a:r>
          </a:p>
          <a:p>
            <a:r>
              <a:rPr lang="en-US" sz="1200" dirty="0"/>
              <a:t>AI-Assisted Approach:</a:t>
            </a:r>
          </a:p>
          <a:p>
            <a:r>
              <a:rPr lang="en-US" sz="1200" dirty="0"/>
              <a:t>Minutes to hours</a:t>
            </a:r>
          </a:p>
          <a:p>
            <a:r>
              <a:rPr lang="en-US" sz="1200" dirty="0"/>
              <a:t>Real-time iteration</a:t>
            </a:r>
          </a:p>
          <a:p>
            <a:r>
              <a:rPr lang="en-US" sz="1200" dirty="0"/>
              <a:t>Faster stakeholder validation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6704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59EB-AE36-0079-4D29-861AC20C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8806E-21F1-E3A6-410D-EEC5D046C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Reactive Support to Autonomous Healthcare Operations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0A9DE-CD58-6442-3B6C-E7EC0D706CD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b="1" dirty="0"/>
              <a:t>Predict.</a:t>
            </a:r>
          </a:p>
          <a:p>
            <a:pPr>
              <a:lnSpc>
                <a:spcPct val="300000"/>
              </a:lnSpc>
            </a:pPr>
            <a:r>
              <a:rPr lang="en-US" b="1" dirty="0"/>
              <a:t>Explain.</a:t>
            </a:r>
          </a:p>
          <a:p>
            <a:pPr>
              <a:lnSpc>
                <a:spcPct val="300000"/>
              </a:lnSpc>
            </a:pPr>
            <a:r>
              <a:rPr lang="en-US" b="1" dirty="0"/>
              <a:t>Automate.</a:t>
            </a:r>
          </a:p>
          <a:p>
            <a:pPr>
              <a:lnSpc>
                <a:spcPct val="300000"/>
              </a:lnSpc>
            </a:pPr>
            <a:r>
              <a:rPr lang="en-US" b="1" dirty="0"/>
              <a:t>Communicate.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75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rris Color Palette">
      <a:dk1>
        <a:srgbClr val="002B36"/>
      </a:dk1>
      <a:lt1>
        <a:srgbClr val="FFFFFF"/>
      </a:lt1>
      <a:dk2>
        <a:srgbClr val="24515F"/>
      </a:dk2>
      <a:lt2>
        <a:srgbClr val="F3F6FA"/>
      </a:lt2>
      <a:accent1>
        <a:srgbClr val="008099"/>
      </a:accent1>
      <a:accent2>
        <a:srgbClr val="2EAEC7"/>
      </a:accent2>
      <a:accent3>
        <a:srgbClr val="59C09E"/>
      </a:accent3>
      <a:accent4>
        <a:srgbClr val="F79961"/>
      </a:accent4>
      <a:accent5>
        <a:srgbClr val="E16D5D"/>
      </a:accent5>
      <a:accent6>
        <a:srgbClr val="93619C"/>
      </a:accent6>
      <a:hlink>
        <a:srgbClr val="3499AD"/>
      </a:hlink>
      <a:folHlink>
        <a:srgbClr val="9361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1410</Words>
  <Application>Microsoft Office PowerPoint</Application>
  <PresentationFormat>On-screen Show (16:9)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AI-Powered Healthcare Integration Operations Platform</vt:lpstr>
      <vt:lpstr>Healthcare Operations Reality Today</vt:lpstr>
      <vt:lpstr>Vision</vt:lpstr>
      <vt:lpstr>Platform Overview</vt:lpstr>
      <vt:lpstr>AI Operations Overview</vt:lpstr>
      <vt:lpstr>AI-Powered Incident Investigation</vt:lpstr>
      <vt:lpstr>Predictive Infrastructure Intelligence</vt:lpstr>
      <vt:lpstr>AI-Driven Storage Management</vt:lpstr>
      <vt:lpstr>Automation Rules Engine</vt:lpstr>
      <vt:lpstr>AI Notification Center</vt:lpstr>
      <vt:lpstr>Business Impact</vt:lpstr>
      <vt:lpstr>Solution Architecture</vt:lpstr>
      <vt:lpstr>Future Roadmap</vt:lpstr>
      <vt:lpstr>Next : AI Copilot for Operations</vt:lpstr>
      <vt:lpstr>AI Accelerated Innovation</vt:lpstr>
      <vt:lpstr>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 Moharam</cp:lastModifiedBy>
  <cp:revision>2</cp:revision>
  <dcterms:modified xsi:type="dcterms:W3CDTF">2026-06-03T12:44:03Z</dcterms:modified>
</cp:coreProperties>
</file>
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6" r:id="rId7"/>
    <p:sldId id="267" r:id="rId8"/>
    <p:sldId id="268" r:id="rId9"/>
    <p:sldId id="269" r:id="rId10"/>
    <p:sldId id="276" r:id="rId11"/>
    <p:sldId id="277" r:id="rId12"/>
    <p:sldId id="278" r:id="rId13"/>
    <p:sldId id="279" r:id="rId14"/>
    <p:sldId id="280" r:id="rId15"/>
    <p:sldId id="281" r:id="rId16"/>
    <p:sldId id="283" r:id="rId17"/>
    <p:sldId id="286" r:id="rId18"/>
    <p:sldId id="287" r:id="rId19"/>
    <p:sldId id="290" r:id="rId20"/>
    <p:sldId id="29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477" autoAdjust="0"/>
  </p:normalViewPr>
  <p:slideViewPr>
    <p:cSldViewPr snapToGrid="0" snapToObjects="1">
      <p:cViewPr varScale="1">
        <p:scale>
          <a:sx n="81" d="100"/>
          <a:sy n="81" d="100"/>
        </p:scale>
        <p:origin x="57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6728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Welcome everyone. Today’s session is a practical enablement program for L1 Support. The goal is to help us resolve more issues independently and make the escalations that do reach Development much faster to investigate.</a:t>
            </a:r>
          </a:p>
          <a:p>
            <a:r>
              <a:rPr sz="1100" dirty="0">
                <a:latin typeface="Aptos"/>
              </a:rPr>
              <a:t>As we go through the deck, think about recent escalations that took too long, had missing information, or bounced between teams. We will use those real patterns to build a consistent troubleshooting and escalation standard.</a:t>
            </a:r>
          </a:p>
          <a:p>
            <a:r>
              <a:rPr sz="1100" dirty="0">
                <a:latin typeface="Aptos"/>
              </a:rPr>
              <a:t>Support and Development are on the same side: faster customer resolution. This workflow is not about blocking escalations; it is about making every escalation actionable.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This training is about the behaviors we use every day: how we classify tickets, gather evidence, use internal expertise, and decide when Development should be engaged.</a:t>
            </a:r>
          </a:p>
          <a:p>
            <a:r>
              <a:rPr sz="1100" dirty="0">
                <a:latin typeface="Aptos"/>
              </a:rPr>
              <a:t>Development can move quickly only when the issue is scoped, the evidence is complete, and the customer scenario is clear. A ticket that only says ‘not working’ creates delay, even when the underlying issue is important.</a:t>
            </a:r>
          </a:p>
          <a:p>
            <a:r>
              <a:rPr sz="1100" dirty="0">
                <a:latin typeface="Aptos"/>
              </a:rPr>
              <a:t>Treat each section as a checklist you can apply immediately after this session. The goal is not perfection; the goal is consistency and fewer avoidable escalations.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Here is the agenda for today. Release awareness helps us identify expected behavior. Troubleshooting and investigation establish facts. Escalation standards make the handoff actionable. Knowledge Base usage and collaboration reduce repeat escalations.</a:t>
            </a:r>
          </a:p>
          <a:p>
            <a:r>
              <a:rPr sz="1100" dirty="0">
                <a:latin typeface="Aptos"/>
              </a:rPr>
              <a:t>The timing is flexible depending on discussion. If we have current high-volume issue types, we will use them as examples during the troubleshooting and escalation sections.</a:t>
            </a:r>
          </a:p>
          <a:p>
            <a:r>
              <a:rPr sz="1100" dirty="0">
                <a:latin typeface="Aptos"/>
              </a:rPr>
              <a:t>We have Q&amp;A at the end, but please ask questions during the session when they clarify a process, checklist, or example.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Module 1 starts with product release updates because release awareness is the foundation for post-release support. Many tickets that look like defects are actually changed behavior, new validations, configuration gaps, or permission changes introduced by a release.</a:t>
            </a:r>
          </a:p>
          <a:p>
            <a:r>
              <a:rPr sz="1100" dirty="0">
                <a:latin typeface="Aptos"/>
              </a:rPr>
              <a:t>We do not need to memorize every line of every release note. The practical approach is to group changes by business area and understand which customer workflows may be affected.</a:t>
            </a:r>
          </a:p>
          <a:p>
            <a:r>
              <a:rPr sz="1100" dirty="0">
                <a:latin typeface="Aptos"/>
              </a:rPr>
              <a:t>Before we continue, think about which release changes usually generate the most tickets for us: reporting, exams, interfaces, filters, or permissions. Those examples will make this module more concrete.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I want us to use these five business areas as the mental model for reviewing a release. Each area maps to common customer symptoms: missing exams, reporting differences, interface failures, performance issues, or access and security changes.</a:t>
            </a:r>
          </a:p>
          <a:p>
            <a:r>
              <a:rPr sz="1100" dirty="0">
                <a:latin typeface="Aptos"/>
              </a:rPr>
              <a:t>When post-release tickets come in, categorize them using these areas. That helps us see whether a spike is isolated, customer-specific, or part of a broader release adoption issue.</a:t>
            </a:r>
          </a:p>
          <a:p>
            <a:r>
              <a:rPr sz="1100" dirty="0">
                <a:latin typeface="Aptos"/>
              </a:rPr>
              <a:t>When a customer reports a new issue after an upgrade, capture the business area and version immediately. Those two facts often determine the first troubleshooting path.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The key takeaway from Module 1 is that not every behavior change is a bug. After a release, we should first determine whether the behavior is expected, configuration-dependent, or permission-related.</a:t>
            </a:r>
          </a:p>
          <a:p>
            <a:r>
              <a:rPr sz="1100" dirty="0">
                <a:latin typeface="Aptos"/>
              </a:rPr>
              <a:t>Think back to the examples we covered: missing exams may be filters or permissions, reporting differences may be macro or worksheet flow, and integration failures may be endpoint or routing changes.</a:t>
            </a:r>
          </a:p>
          <a:p>
            <a:r>
              <a:rPr sz="1100" dirty="0">
                <a:latin typeface="Aptos"/>
              </a:rPr>
              <a:t>Release awareness is only one input. Next, we will move into the structured troubleshooting method that applies to every issue type.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Troubleshooting is one of the highest-leverage support skills. A strong L1 investigation can resolve simple issues immediately and make complex issues easier for L2 or Development to act on.</a:t>
            </a:r>
          </a:p>
          <a:p>
            <a:r>
              <a:rPr sz="1100" dirty="0">
                <a:latin typeface="Aptos"/>
              </a:rPr>
              <a:t>Structured troubleshooting protects the customer experience. It prevents random checks, repeated questions, and unnecessary escalation delays.</a:t>
            </a:r>
          </a:p>
          <a:p>
            <a:r>
              <a:rPr sz="1100" dirty="0">
                <a:latin typeface="Aptos"/>
              </a:rPr>
              <a:t>When scope is not established early, we can assign the wrong priority, involve the wrong team, miss the right logs, and create repeated customer follow-up.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This is the core investigation checklist. For a quality escalation, we need to answer what is failing, who is affected, when it started, where it happens, and what the scope is.</a:t>
            </a:r>
          </a:p>
          <a:p>
            <a:r>
              <a:rPr sz="1100" dirty="0">
                <a:latin typeface="Aptos"/>
              </a:rPr>
              <a:t>A statement like ‘Report not working’ becomes actionable only when we know which report, which user, when it started, which environment, and whether all reports or only one exam type are affected.</a:t>
            </a:r>
          </a:p>
          <a:p>
            <a:r>
              <a:rPr sz="1100" dirty="0">
                <a:latin typeface="Aptos"/>
              </a:rPr>
              <a:t>These answers belong in the ticket body, not hidden in chat threads. The ticket should tell the next engineer exactly what is known.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This matrix shows how the same investigation principle changes by issue type. Our first goal is always to distinguish isolated impact from broad impact.</a:t>
            </a:r>
          </a:p>
          <a:p>
            <a:r>
              <a:rPr sz="1100" dirty="0">
                <a:latin typeface="Aptos"/>
              </a:rPr>
              <a:t>For each row, think about the evidence that proves the answer. Login may need a user comparison. HL7 may need message IDs and queue status. Viewer issues may need workstation and browser details. Database symptoms may need operation type and timing.</a:t>
            </a:r>
          </a:p>
          <a:p>
            <a:r>
              <a:rPr sz="1100" dirty="0">
                <a:latin typeface="Aptos"/>
              </a:rPr>
              <a:t>Use this matrix as a triage script. It helps us ask fewer questions, but better questions, during the first customer interaction.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Module 3 defines what a Development-ready escalation looks like. Development wants to help, but incomplete tickets slow everyone down.</a:t>
            </a:r>
          </a:p>
          <a:p>
            <a:r>
              <a:rPr sz="1100" dirty="0">
                <a:latin typeface="Aptos"/>
              </a:rPr>
              <a:t>A good escalation does not need to prove the root cause. It needs to define the problem, scope, evidence, and prior checks clearly enough for the next team to act.</a:t>
            </a:r>
          </a:p>
          <a:p>
            <a:r>
              <a:rPr sz="1100" dirty="0">
                <a:latin typeface="Aptos"/>
              </a:rPr>
              <a:t>The next slides cover the required ticket fields and examples of good versus bad escalation quality.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This is the Development escalation checklist. Every escalated ticket should contain these fields, or it should explicitly explain why a field does not apply.</a:t>
            </a:r>
          </a:p>
          <a:p>
            <a:r>
              <a:rPr sz="1100" dirty="0">
                <a:latin typeface="Aptos"/>
              </a:rPr>
              <a:t>The checklist prevents missing information from being discovered after handoff. The goal is to reduce repeated customer follow-up and internal rework.</a:t>
            </a:r>
          </a:p>
          <a:p>
            <a:r>
              <a:rPr sz="1100" dirty="0">
                <a:latin typeface="Aptos"/>
              </a:rPr>
              <a:t>This checklist is a strong candidate for a ticket template or required macro so Support does not have to rebuild the structure manually each time.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Customer and environment details may seem basic, but missing basics cause major delays. Development must know the customer, environment, version, and installation type before interpreting behavior.</a:t>
            </a:r>
          </a:p>
          <a:p>
            <a:r>
              <a:rPr sz="1100" dirty="0">
                <a:latin typeface="Aptos"/>
              </a:rPr>
              <a:t>Installation type matters because PACS Only, All-In-One, and Enterprise deployments can differ in routing, services, integrations, and operational ownership.</a:t>
            </a:r>
          </a:p>
          <a:p>
            <a:r>
              <a:rPr sz="1100" dirty="0">
                <a:latin typeface="Aptos"/>
              </a:rPr>
              <a:t>Do not rely on assumptions from the ticket title. Put the customer and environment details in the escalation body where they are immediately visible.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Access and upgrade information removes friction at the start of investigation. If Development cannot access the environment or does not know recent changes, the ticket may pause before technical analysis begins.</a:t>
            </a:r>
          </a:p>
          <a:p>
            <a:r>
              <a:rPr sz="1100" dirty="0">
                <a:latin typeface="Aptos"/>
              </a:rPr>
              <a:t>Upgrade timing is especially important. Issues that begin immediately after upgrade often relate to release behavior, migration, configuration, cache, or permissions.</a:t>
            </a:r>
          </a:p>
          <a:p>
            <a:r>
              <a:rPr sz="1100" dirty="0">
                <a:latin typeface="Aptos"/>
              </a:rPr>
              <a:t>If access is restricted, identify the owner and the process. Do not escalate without telling Development how access will be coordinated.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Issue classification is critical because each class has a different next action. Questions need answers or KB articles. Configuration requests need setup guidance. Feature requests need product review. Bugs need evidence and Development investigation.</a:t>
            </a:r>
          </a:p>
          <a:p>
            <a:r>
              <a:rPr sz="1100" dirty="0">
                <a:latin typeface="Aptos"/>
              </a:rPr>
              <a:t>Use the decision tree this way: if behavior is expected, it is not a bug. If setup is required, it is configuration. If the customer wants new behavior, it is an enhancement. If the system fails against expected behavior, it may be a bug.</a:t>
            </a:r>
          </a:p>
          <a:p>
            <a:r>
              <a:rPr sz="1100" dirty="0">
                <a:latin typeface="Aptos"/>
              </a:rPr>
              <a:t>Misclassification creates delays and frustration. A configuration request escalated as a bug may bounce back, and a true bug labeled as a question may not receive the right urgency.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Scope determines almost everything about the next step: priority, owner, reproduction approach, and likely root cause. A single exam problem is investigated differently from an all-user production outage.</a:t>
            </a:r>
          </a:p>
          <a:p>
            <a:r>
              <a:rPr sz="1100" dirty="0">
                <a:latin typeface="Aptos"/>
              </a:rPr>
              <a:t>One user points to permissions or browser. One exam points to data or workflow. All exams point to service, configuration, or systemic defect. One site points to location routing or infrastructure.</a:t>
            </a:r>
          </a:p>
          <a:p>
            <a:r>
              <a:rPr sz="1100" dirty="0">
                <a:latin typeface="Aptos"/>
              </a:rPr>
              <a:t>If scope is unknown, say what has been tested and what still needs confirmation. Unknown scope is acceptable only when the ticket explains the gap and the plan to close 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Logs should be relevant, focused, and tied to the issue timeframe. Large log dumps slow investigation and may create privacy or security concerns.</a:t>
            </a:r>
          </a:p>
          <a:p>
            <a:r>
              <a:rPr sz="1100" dirty="0">
                <a:latin typeface="Aptos"/>
              </a:rPr>
              <a:t>For the 10-minute guidance, collect a window before and after the issue so investigators can see setup, failure, and after-effects. Adjust the window for intermittent or long-running jobs when needed.</a:t>
            </a:r>
          </a:p>
          <a:p>
            <a:r>
              <a:rPr sz="1100" dirty="0">
                <a:latin typeface="Aptos"/>
              </a:rPr>
              <a:t>Always include the timezone and exact timestamp of reproduction. A log file without timing context can be difficult to use.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This comparison makes escalation quality tangible. The bad example is common because it feels urgent, but it gives the next team almost nothing to act on.</a:t>
            </a:r>
          </a:p>
          <a:p>
            <a:r>
              <a:rPr sz="1100" dirty="0">
                <a:latin typeface="Aptos"/>
              </a:rPr>
              <a:t>The good example includes customer, version, impact, timing, scope, evidence, KB check, and senior review. With that information, Development can immediately decide how to reproduce or inspect logs.</a:t>
            </a:r>
          </a:p>
          <a:p>
            <a:r>
              <a:rPr sz="1100" dirty="0">
                <a:latin typeface="Aptos"/>
              </a:rPr>
              <a:t>For a reporting issue, we would add details such as report ID, exam ID, expected text, actual text, and exact timestamp.</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Module 4 is the prevention layer. Strong support teams reuse knowledge and collaborate internally before escalating to engineering.</a:t>
            </a:r>
          </a:p>
          <a:p>
            <a:r>
              <a:rPr sz="1100" dirty="0">
                <a:latin typeface="Aptos"/>
              </a:rPr>
              <a:t>KB search and previous ticket review are not optional administrative steps. They identify known workarounds, configuration fixes, release behavior, and prior Development conclusions.</a:t>
            </a:r>
          </a:p>
          <a:p>
            <a:r>
              <a:rPr sz="1100" dirty="0">
                <a:latin typeface="Aptos"/>
              </a:rPr>
              <a:t>If no KB article exists for a recurring issue, flag that as an improvement opportunity. Reducing repeat escalations depends on capturing knowledge after resolution.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By the end of this training, the expected behaviors are clear. We should classify issues correctly, complete standard troubleshooting, gather focused evidence, use the KB, consult internal experts, and escalate with quality.</a:t>
            </a:r>
          </a:p>
          <a:p>
            <a:r>
              <a:rPr sz="1100" dirty="0">
                <a:latin typeface="Aptos"/>
              </a:rPr>
              <a:t>This is also a continuous improvement loop. Each resolved ticket should improve future troubleshooting through KB updates, better templates, and stronger examples.</a:t>
            </a:r>
          </a:p>
          <a:p>
            <a:r>
              <a:rPr sz="1100" dirty="0">
                <a:latin typeface="Aptos"/>
              </a:rPr>
              <a:t>Use these slides as a desk reference after today. The checklists are designed to be reused in real tickets, not only remembered from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dirty="0">
                <a:latin typeface="Aptos"/>
              </a:rPr>
              <a:t>For Q&amp;A, let’s turn the training into action. What issue types are most commonly escalated today? What information is usually missing? Where do delays happen? What questions does Development ask repeatedly?</a:t>
            </a:r>
          </a:p>
          <a:p>
            <a:r>
              <a:rPr sz="1100" dirty="0">
                <a:latin typeface="Aptos"/>
              </a:rPr>
              <a:t>As we discuss, capture improvement ideas. Strong candidates include ticket template updates, KB article creation, training refreshers, quick-reference checklists, and better release note summaries.</a:t>
            </a:r>
          </a:p>
          <a:p>
            <a:r>
              <a:rPr sz="1100" dirty="0">
                <a:latin typeface="Aptos"/>
              </a:rPr>
              <a:t>The goal is not to reduce escalations by ignoring issues. The goal is to reduce unnecessary escalations and improve the quality of necessary ones.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2D4D"/>
        </a:solidFill>
        <a:effectLst/>
      </p:bgPr>
    </p:bg>
    <p:spTree>
      <p:nvGrpSpPr>
        <p:cNvPr id="1" name=""/>
        <p:cNvGrpSpPr/>
        <p:nvPr/>
      </p:nvGrpSpPr>
      <p:grpSpPr>
        <a:xfrm>
          <a:off x="0" y="0"/>
          <a:ext cx="0" cy="0"/>
          <a:chOff x="0" y="0"/>
          <a:chExt cx="0" cy="0"/>
        </a:xfrm>
      </p:grpSpPr>
      <p:sp>
        <p:nvSpPr>
          <p:cNvPr id="2" name="Parallelogram 1"/>
          <p:cNvSpPr/>
          <p:nvPr/>
        </p:nvSpPr>
        <p:spPr>
          <a:xfrm>
            <a:off x="6583680" y="-182880"/>
            <a:ext cx="2560320" cy="7223760"/>
          </a:xfrm>
          <a:prstGeom prst="parallelogram">
            <a:avLst/>
          </a:prstGeom>
          <a:solidFill>
            <a:srgbClr val="1847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Parallelogram 2"/>
          <p:cNvSpPr/>
          <p:nvPr/>
        </p:nvSpPr>
        <p:spPr>
          <a:xfrm>
            <a:off x="7406640" y="-182880"/>
            <a:ext cx="2560320" cy="7223760"/>
          </a:xfrm>
          <a:prstGeom prst="parallelogram">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Parallelogram 3"/>
          <p:cNvSpPr/>
          <p:nvPr/>
        </p:nvSpPr>
        <p:spPr>
          <a:xfrm>
            <a:off x="8229600" y="-182880"/>
            <a:ext cx="2560320" cy="7223760"/>
          </a:xfrm>
          <a:prstGeom prst="parallelogram">
            <a:avLst/>
          </a:prstGeom>
          <a:solidFill>
            <a:srgbClr val="115E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85800" y="685800"/>
            <a:ext cx="1463040" cy="32004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1200" b="1" i="0" dirty="0">
                <a:solidFill>
                  <a:srgbClr val="FFFFFF"/>
                </a:solidFill>
                <a:latin typeface="Aptos"/>
              </a:rPr>
              <a:t>TRAINING DECK</a:t>
            </a:r>
          </a:p>
        </p:txBody>
      </p:sp>
      <p:sp>
        <p:nvSpPr>
          <p:cNvPr id="6" name="Rectangle 5"/>
          <p:cNvSpPr/>
          <p:nvPr/>
        </p:nvSpPr>
        <p:spPr>
          <a:xfrm>
            <a:off x="685800" y="1325880"/>
            <a:ext cx="6583680" cy="685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3600" b="1" i="0">
                <a:solidFill>
                  <a:srgbClr val="FFFFFF"/>
                </a:solidFill>
                <a:latin typeface="Aptos"/>
              </a:rPr>
              <a:t>Support Excellence Program</a:t>
            </a:r>
          </a:p>
        </p:txBody>
      </p:sp>
      <p:sp>
        <p:nvSpPr>
          <p:cNvPr id="7" name="Rectangle 6"/>
          <p:cNvSpPr/>
          <p:nvPr/>
        </p:nvSpPr>
        <p:spPr>
          <a:xfrm>
            <a:off x="685800" y="2057400"/>
            <a:ext cx="6858000" cy="6400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400" b="1" i="0">
                <a:solidFill>
                  <a:srgbClr val="DBEAFE"/>
                </a:solidFill>
                <a:latin typeface="Aptos"/>
              </a:rPr>
              <a:t>How to Troubleshoot, Investigate, and Escalate Effectively</a:t>
            </a:r>
          </a:p>
        </p:txBody>
      </p:sp>
      <p:sp>
        <p:nvSpPr>
          <p:cNvPr id="8" name="Rounded Rectangle 7"/>
          <p:cNvSpPr/>
          <p:nvPr/>
        </p:nvSpPr>
        <p:spPr>
          <a:xfrm>
            <a:off x="713232" y="2999232"/>
            <a:ext cx="5394960" cy="1143000"/>
          </a:xfrm>
          <a:prstGeom prst="roundRect">
            <a:avLst/>
          </a:prstGeom>
          <a:solidFill>
            <a:srgbClr val="EBF5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6FC4"/>
                </a:solidFill>
                <a:latin typeface="Aptos Display"/>
              </a:rPr>
              <a:t>Audience</a:t>
            </a:r>
          </a:p>
          <a:p>
            <a:pPr>
              <a:spcBef>
                <a:spcPts val="500"/>
              </a:spcBef>
            </a:pPr>
            <a:r>
              <a:rPr sz="1300" dirty="0">
                <a:solidFill>
                  <a:srgbClr val="0F172A"/>
                </a:solidFill>
                <a:latin typeface="Aptos"/>
              </a:rPr>
              <a:t>Support Team </a:t>
            </a:r>
          </a:p>
        </p:txBody>
      </p:sp>
      <p:sp>
        <p:nvSpPr>
          <p:cNvPr id="9" name="Rounded Rectangle 8"/>
          <p:cNvSpPr/>
          <p:nvPr/>
        </p:nvSpPr>
        <p:spPr>
          <a:xfrm>
            <a:off x="713232" y="4279392"/>
            <a:ext cx="5394960" cy="1143000"/>
          </a:xfrm>
          <a:prstGeom prst="roundRect">
            <a:avLst/>
          </a:prstGeom>
          <a:solidFill>
            <a:srgbClr val="EAFBF2"/>
          </a:solidFill>
          <a:ln w="15240">
            <a:solidFill>
              <a:srgbClr val="1F9756"/>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9756"/>
                </a:solidFill>
                <a:latin typeface="Aptos Display"/>
              </a:rPr>
              <a:t>Presented By</a:t>
            </a:r>
          </a:p>
          <a:p>
            <a:pPr>
              <a:spcBef>
                <a:spcPts val="500"/>
              </a:spcBef>
            </a:pPr>
            <a:r>
              <a:rPr sz="1300" dirty="0">
                <a:solidFill>
                  <a:srgbClr val="0F172A"/>
                </a:solidFill>
                <a:latin typeface="Aptos"/>
              </a:rPr>
              <a:t>Development Escalation</a:t>
            </a:r>
          </a:p>
        </p:txBody>
      </p:sp>
      <p:sp>
        <p:nvSpPr>
          <p:cNvPr id="10" name="Rectangle 9"/>
          <p:cNvSpPr/>
          <p:nvPr/>
        </p:nvSpPr>
        <p:spPr>
          <a:xfrm>
            <a:off x="7360920" y="1965960"/>
            <a:ext cx="3383280" cy="594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000" b="1" i="0">
                <a:solidFill>
                  <a:srgbClr val="FFFFFF"/>
                </a:solidFill>
                <a:latin typeface="Aptos"/>
              </a:rPr>
              <a:t>Support → Investigate → Escalate</a:t>
            </a:r>
          </a:p>
        </p:txBody>
      </p:sp>
      <p:sp>
        <p:nvSpPr>
          <p:cNvPr id="11" name="Rounded Rectangle 10"/>
          <p:cNvSpPr/>
          <p:nvPr/>
        </p:nvSpPr>
        <p:spPr>
          <a:xfrm>
            <a:off x="6720840" y="2834640"/>
            <a:ext cx="966978" cy="658368"/>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Triage</a:t>
            </a:r>
          </a:p>
        </p:txBody>
      </p:sp>
      <p:cxnSp>
        <p:nvCxnSpPr>
          <p:cNvPr id="12" name="Connector 11"/>
          <p:cNvCxnSpPr/>
          <p:nvPr/>
        </p:nvCxnSpPr>
        <p:spPr>
          <a:xfrm>
            <a:off x="7687817" y="3163824"/>
            <a:ext cx="128017" cy="0"/>
          </a:xfrm>
          <a:prstGeom prst="line">
            <a:avLst/>
          </a:prstGeom>
          <a:ln w="25400">
            <a:solidFill>
              <a:srgbClr val="1F975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852410" y="2834640"/>
            <a:ext cx="966978" cy="658368"/>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Evidence</a:t>
            </a:r>
          </a:p>
        </p:txBody>
      </p:sp>
      <p:cxnSp>
        <p:nvCxnSpPr>
          <p:cNvPr id="14" name="Connector 13"/>
          <p:cNvCxnSpPr/>
          <p:nvPr/>
        </p:nvCxnSpPr>
        <p:spPr>
          <a:xfrm>
            <a:off x="8819388" y="3163824"/>
            <a:ext cx="128016" cy="0"/>
          </a:xfrm>
          <a:prstGeom prst="line">
            <a:avLst/>
          </a:prstGeom>
          <a:ln w="25400">
            <a:solidFill>
              <a:srgbClr val="1F975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983980" y="2834640"/>
            <a:ext cx="966978" cy="658368"/>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Review</a:t>
            </a:r>
          </a:p>
        </p:txBody>
      </p:sp>
      <p:cxnSp>
        <p:nvCxnSpPr>
          <p:cNvPr id="16" name="Connector 15"/>
          <p:cNvCxnSpPr/>
          <p:nvPr/>
        </p:nvCxnSpPr>
        <p:spPr>
          <a:xfrm>
            <a:off x="9950958" y="3163824"/>
            <a:ext cx="128016" cy="0"/>
          </a:xfrm>
          <a:prstGeom prst="line">
            <a:avLst/>
          </a:prstGeom>
          <a:ln w="25400">
            <a:solidFill>
              <a:srgbClr val="1F975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115550" y="2834640"/>
            <a:ext cx="966978" cy="658368"/>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Escalate</a:t>
            </a:r>
          </a:p>
        </p:txBody>
      </p:sp>
      <p:sp>
        <p:nvSpPr>
          <p:cNvPr id="18" name="Rectangle 17"/>
          <p:cNvSpPr/>
          <p:nvPr/>
        </p:nvSpPr>
        <p:spPr>
          <a:xfrm>
            <a:off x="7680960" y="4023360"/>
            <a:ext cx="2606040" cy="10058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3800" b="0" i="0">
                <a:solidFill>
                  <a:srgbClr val="FFFFFF"/>
                </a:solidFill>
                <a:latin typeface="Aptos"/>
              </a:rPr>
              <a:t>🛠️  🔍  📋  🚀</a:t>
            </a:r>
          </a:p>
        </p:txBody>
      </p:sp>
      <p:sp>
        <p:nvSpPr>
          <p:cNvPr id="19" name="Rectangle 18"/>
          <p:cNvSpPr/>
          <p:nvPr/>
        </p:nvSpPr>
        <p:spPr>
          <a:xfrm>
            <a:off x="685800" y="6309360"/>
            <a:ext cx="2743200" cy="20116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800" b="0" i="0">
                <a:solidFill>
                  <a:srgbClr val="CBD5E1"/>
                </a:solidFill>
                <a:latin typeface="Aptos"/>
              </a:rPr>
              <a:t>Corporate support training | Practical and action-oriented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PROGRAM CONTEXT</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Training Purpose</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77240" y="1508760"/>
            <a:ext cx="10652760" cy="960120"/>
          </a:xfrm>
          <a:prstGeom prst="roundRect">
            <a:avLst/>
          </a:prstGeom>
          <a:solidFill>
            <a:srgbClr val="E2EF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6FC4"/>
                </a:solidFill>
                <a:latin typeface="Aptos Display"/>
              </a:rPr>
              <a:t>Goal of this session</a:t>
            </a:r>
          </a:p>
          <a:p>
            <a:pPr>
              <a:spcBef>
                <a:spcPts val="500"/>
              </a:spcBef>
            </a:pPr>
            <a:r>
              <a:rPr sz="1300" dirty="0">
                <a:solidFill>
                  <a:srgbClr val="0F172A"/>
                </a:solidFill>
                <a:latin typeface="Aptos"/>
              </a:rPr>
              <a:t>Improve support quality by helping </a:t>
            </a:r>
            <a:r>
              <a:rPr lang="en-US" sz="1300" dirty="0">
                <a:solidFill>
                  <a:srgbClr val="0F172A"/>
                </a:solidFill>
                <a:latin typeface="Aptos"/>
              </a:rPr>
              <a:t>Support</a:t>
            </a:r>
            <a:r>
              <a:rPr sz="1300" dirty="0">
                <a:solidFill>
                  <a:srgbClr val="0F172A"/>
                </a:solidFill>
                <a:latin typeface="Aptos"/>
              </a:rPr>
              <a:t> teams troubleshoot effectively, investigate issues properly, and escalate only when the correct information has been collected.</a:t>
            </a:r>
          </a:p>
        </p:txBody>
      </p:sp>
      <p:sp>
        <p:nvSpPr>
          <p:cNvPr id="8" name="Rounded Rectangle 7"/>
          <p:cNvSpPr/>
          <p:nvPr/>
        </p:nvSpPr>
        <p:spPr>
          <a:xfrm>
            <a:off x="868680" y="2788920"/>
            <a:ext cx="3246120" cy="11430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96695" y="28986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10" name="Rectangle 9"/>
          <p:cNvSpPr/>
          <p:nvPr/>
        </p:nvSpPr>
        <p:spPr>
          <a:xfrm>
            <a:off x="1545336" y="2907791"/>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Better investigation</a:t>
            </a:r>
          </a:p>
        </p:txBody>
      </p:sp>
      <p:sp>
        <p:nvSpPr>
          <p:cNvPr id="11" name="Rectangle 10"/>
          <p:cNvSpPr/>
          <p:nvPr/>
        </p:nvSpPr>
        <p:spPr>
          <a:xfrm>
            <a:off x="1033271" y="3319272"/>
            <a:ext cx="2916936"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Clear scope, reliable evidence, and reproducible steps.</a:t>
            </a:r>
          </a:p>
        </p:txBody>
      </p:sp>
      <p:sp>
        <p:nvSpPr>
          <p:cNvPr id="12" name="Rounded Rectangle 11"/>
          <p:cNvSpPr/>
          <p:nvPr/>
        </p:nvSpPr>
        <p:spPr>
          <a:xfrm>
            <a:off x="4480560" y="2788920"/>
            <a:ext cx="3246120" cy="11430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608576" y="28986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4" name="Rectangle 13"/>
          <p:cNvSpPr/>
          <p:nvPr/>
        </p:nvSpPr>
        <p:spPr>
          <a:xfrm>
            <a:off x="5157216" y="2907791"/>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Faster resolution</a:t>
            </a:r>
          </a:p>
        </p:txBody>
      </p:sp>
      <p:sp>
        <p:nvSpPr>
          <p:cNvPr id="15" name="Rectangle 14"/>
          <p:cNvSpPr/>
          <p:nvPr/>
        </p:nvSpPr>
        <p:spPr>
          <a:xfrm>
            <a:off x="4645152" y="3319272"/>
            <a:ext cx="2916936"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Less back-and-forth; fewer delays between teams.</a:t>
            </a:r>
          </a:p>
        </p:txBody>
      </p:sp>
      <p:sp>
        <p:nvSpPr>
          <p:cNvPr id="16" name="Rounded Rectangle 15"/>
          <p:cNvSpPr/>
          <p:nvPr/>
        </p:nvSpPr>
        <p:spPr>
          <a:xfrm>
            <a:off x="8092440" y="2788920"/>
            <a:ext cx="3246120" cy="11430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220456" y="28986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8" name="Rectangle 17"/>
          <p:cNvSpPr/>
          <p:nvPr/>
        </p:nvSpPr>
        <p:spPr>
          <a:xfrm>
            <a:off x="8769096" y="2907791"/>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Higher satisfaction</a:t>
            </a:r>
          </a:p>
        </p:txBody>
      </p:sp>
      <p:sp>
        <p:nvSpPr>
          <p:cNvPr id="19" name="Rectangle 18"/>
          <p:cNvSpPr/>
          <p:nvPr/>
        </p:nvSpPr>
        <p:spPr>
          <a:xfrm>
            <a:off x="8257031" y="3319272"/>
            <a:ext cx="2916936" cy="54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Customers see confident ownership and timely answers.</a:t>
            </a:r>
          </a:p>
        </p:txBody>
      </p:sp>
      <p:sp>
        <p:nvSpPr>
          <p:cNvPr id="20" name="Rounded Rectangle 19"/>
          <p:cNvSpPr/>
          <p:nvPr/>
        </p:nvSpPr>
        <p:spPr>
          <a:xfrm>
            <a:off x="1051560" y="4800599"/>
            <a:ext cx="10058400" cy="886967"/>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1" i="0" dirty="0">
                <a:solidFill>
                  <a:srgbClr val="122D4D"/>
                </a:solidFill>
                <a:latin typeface="Aptos"/>
              </a:rPr>
              <a:t>Key message: Better investigation leads to faster resolution, fewer delays, and higher customer satisfaction.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sz="900" b="1" i="0" dirty="0">
              <a:solidFill>
                <a:srgbClr val="1F6FC4"/>
              </a:solidFill>
              <a:latin typeface="Aptos"/>
            </a:endParaRP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Agenda</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455664"/>
            <a:ext cx="7498079" cy="20116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800" b="0" i="0" dirty="0">
                <a:solidFill>
                  <a:srgbClr val="64748B"/>
                </a:solidFill>
                <a:latin typeface="Aptos"/>
              </a:rPr>
              <a:t>Support Excellence Program | Development Escalation Team </a:t>
            </a:r>
          </a:p>
        </p:txBody>
      </p:sp>
      <p:sp>
        <p:nvSpPr>
          <p:cNvPr id="7" name="Rounded Rectangle 6"/>
          <p:cNvSpPr/>
          <p:nvPr/>
        </p:nvSpPr>
        <p:spPr>
          <a:xfrm>
            <a:off x="868680" y="1417320"/>
            <a:ext cx="502920" cy="5029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600" b="1" i="0">
                <a:solidFill>
                  <a:srgbClr val="FFFFFF"/>
                </a:solidFill>
                <a:latin typeface="Aptos"/>
              </a:rPr>
              <a:t>1</a:t>
            </a:r>
          </a:p>
        </p:txBody>
      </p:sp>
      <p:sp>
        <p:nvSpPr>
          <p:cNvPr id="8" name="Rectangle 7"/>
          <p:cNvSpPr/>
          <p:nvPr/>
        </p:nvSpPr>
        <p:spPr>
          <a:xfrm>
            <a:off x="1508760" y="1444752"/>
            <a:ext cx="658368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1" i="0">
                <a:solidFill>
                  <a:srgbClr val="122D4D"/>
                </a:solidFill>
                <a:latin typeface="Aptos"/>
              </a:rPr>
              <a:t>Product Release Updates &amp; New Features</a:t>
            </a:r>
          </a:p>
        </p:txBody>
      </p:sp>
      <p:sp>
        <p:nvSpPr>
          <p:cNvPr id="10" name="Rounded Rectangle 9"/>
          <p:cNvSpPr/>
          <p:nvPr/>
        </p:nvSpPr>
        <p:spPr>
          <a:xfrm>
            <a:off x="868680" y="2286000"/>
            <a:ext cx="502920" cy="502920"/>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600" b="1" i="0">
                <a:solidFill>
                  <a:srgbClr val="FFFFFF"/>
                </a:solidFill>
                <a:latin typeface="Aptos"/>
              </a:rPr>
              <a:t>2</a:t>
            </a:r>
          </a:p>
        </p:txBody>
      </p:sp>
      <p:sp>
        <p:nvSpPr>
          <p:cNvPr id="11" name="Rectangle 10"/>
          <p:cNvSpPr/>
          <p:nvPr/>
        </p:nvSpPr>
        <p:spPr>
          <a:xfrm>
            <a:off x="1508760" y="2313432"/>
            <a:ext cx="658368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1" i="0">
                <a:solidFill>
                  <a:srgbClr val="122D4D"/>
                </a:solidFill>
                <a:latin typeface="Aptos"/>
              </a:rPr>
              <a:t>Troubleshooting &amp; Initial Investigation</a:t>
            </a:r>
          </a:p>
        </p:txBody>
      </p:sp>
      <p:sp>
        <p:nvSpPr>
          <p:cNvPr id="13" name="Rounded Rectangle 12"/>
          <p:cNvSpPr/>
          <p:nvPr/>
        </p:nvSpPr>
        <p:spPr>
          <a:xfrm>
            <a:off x="868680" y="3154680"/>
            <a:ext cx="502920" cy="502920"/>
          </a:xfrm>
          <a:prstGeom prst="roundRect">
            <a:avLst/>
          </a:prstGeom>
          <a:solidFill>
            <a:srgbClr val="F2B83A"/>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600" b="1" i="0">
                <a:solidFill>
                  <a:srgbClr val="FFFFFF"/>
                </a:solidFill>
                <a:latin typeface="Aptos"/>
              </a:rPr>
              <a:t>3</a:t>
            </a:r>
          </a:p>
        </p:txBody>
      </p:sp>
      <p:sp>
        <p:nvSpPr>
          <p:cNvPr id="14" name="Rectangle 13"/>
          <p:cNvSpPr/>
          <p:nvPr/>
        </p:nvSpPr>
        <p:spPr>
          <a:xfrm>
            <a:off x="1508760" y="3182112"/>
            <a:ext cx="658368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1" i="0">
                <a:solidFill>
                  <a:srgbClr val="122D4D"/>
                </a:solidFill>
                <a:latin typeface="Aptos"/>
              </a:rPr>
              <a:t>Escalation Standards &amp; Required Information</a:t>
            </a:r>
          </a:p>
        </p:txBody>
      </p:sp>
      <p:sp>
        <p:nvSpPr>
          <p:cNvPr id="16" name="Rounded Rectangle 15"/>
          <p:cNvSpPr/>
          <p:nvPr/>
        </p:nvSpPr>
        <p:spPr>
          <a:xfrm>
            <a:off x="868680" y="4023359"/>
            <a:ext cx="502920" cy="5029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600" b="1" i="0">
                <a:solidFill>
                  <a:srgbClr val="FFFFFF"/>
                </a:solidFill>
                <a:latin typeface="Aptos"/>
              </a:rPr>
              <a:t>4</a:t>
            </a:r>
          </a:p>
        </p:txBody>
      </p:sp>
      <p:sp>
        <p:nvSpPr>
          <p:cNvPr id="17" name="Rectangle 16"/>
          <p:cNvSpPr/>
          <p:nvPr/>
        </p:nvSpPr>
        <p:spPr>
          <a:xfrm>
            <a:off x="1508760" y="4050791"/>
            <a:ext cx="658368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1" i="0">
                <a:solidFill>
                  <a:srgbClr val="122D4D"/>
                </a:solidFill>
                <a:latin typeface="Aptos"/>
              </a:rPr>
              <a:t>Knowledge Base Usage &amp; Internal Collaboration</a:t>
            </a:r>
          </a:p>
        </p:txBody>
      </p:sp>
      <p:sp>
        <p:nvSpPr>
          <p:cNvPr id="19" name="Rounded Rectangle 18"/>
          <p:cNvSpPr/>
          <p:nvPr/>
        </p:nvSpPr>
        <p:spPr>
          <a:xfrm>
            <a:off x="868680" y="4892040"/>
            <a:ext cx="502920" cy="502920"/>
          </a:xfrm>
          <a:prstGeom prst="round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600" b="1" i="0">
                <a:solidFill>
                  <a:srgbClr val="FFFFFF"/>
                </a:solidFill>
                <a:latin typeface="Aptos"/>
              </a:rPr>
              <a:t>5</a:t>
            </a:r>
          </a:p>
        </p:txBody>
      </p:sp>
      <p:sp>
        <p:nvSpPr>
          <p:cNvPr id="20" name="Rectangle 19"/>
          <p:cNvSpPr/>
          <p:nvPr/>
        </p:nvSpPr>
        <p:spPr>
          <a:xfrm>
            <a:off x="1508760" y="4919472"/>
            <a:ext cx="658368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1" i="0">
                <a:solidFill>
                  <a:srgbClr val="122D4D"/>
                </a:solidFill>
                <a:latin typeface="Aptos"/>
              </a:rPr>
              <a:t>Q&amp;A Session</a:t>
            </a:r>
          </a:p>
        </p:txBody>
      </p:sp>
      <p:sp>
        <p:nvSpPr>
          <p:cNvPr id="22" name="Rounded Rectangle 21"/>
          <p:cNvSpPr/>
          <p:nvPr/>
        </p:nvSpPr>
        <p:spPr>
          <a:xfrm>
            <a:off x="868680" y="5715000"/>
            <a:ext cx="10287000" cy="502920"/>
          </a:xfrm>
          <a:prstGeom prst="roundRect">
            <a:avLst/>
          </a:prstGeom>
          <a:solidFill>
            <a:srgbClr val="E2F5EA"/>
          </a:solidFill>
          <a:ln w="15240">
            <a:solidFill>
              <a:srgbClr val="1F9756"/>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1F9756"/>
                </a:solidFill>
                <a:latin typeface="Aptos Display"/>
              </a:rPr>
              <a:t>Delivery approach</a:t>
            </a:r>
          </a:p>
          <a:p>
            <a:pPr>
              <a:spcBef>
                <a:spcPts val="500"/>
              </a:spcBef>
            </a:pPr>
            <a:r>
              <a:rPr sz="1300">
                <a:solidFill>
                  <a:srgbClr val="0F172A"/>
                </a:solidFill>
                <a:latin typeface="Aptos"/>
              </a:rPr>
              <a:t>Concise concepts, practical examples, checklists, and discussion prompts throughout.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1</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Module 1 – Product Release Updates and Feature Changes</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546762"/>
            <a:ext cx="10424160" cy="914400"/>
          </a:xfrm>
          <a:prstGeom prst="roundRect">
            <a:avLst/>
          </a:prstGeom>
          <a:solidFill>
            <a:srgbClr val="E2EF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6FC4"/>
                </a:solidFill>
                <a:latin typeface="Aptos Display"/>
              </a:rPr>
              <a:t>Release review method</a:t>
            </a:r>
          </a:p>
          <a:p>
            <a:pPr>
              <a:spcBef>
                <a:spcPts val="500"/>
              </a:spcBef>
            </a:pPr>
            <a:r>
              <a:rPr sz="1300" dirty="0">
                <a:solidFill>
                  <a:srgbClr val="0F172A"/>
                </a:solidFill>
                <a:latin typeface="Aptos"/>
              </a:rPr>
              <a:t>Do not review release notes item by item. Group changes by business area so Support can understand customer impact and expected behavior.</a:t>
            </a:r>
          </a:p>
        </p:txBody>
      </p:sp>
      <p:sp>
        <p:nvSpPr>
          <p:cNvPr id="8" name="Rounded Rectangle 7"/>
          <p:cNvSpPr/>
          <p:nvPr/>
        </p:nvSpPr>
        <p:spPr>
          <a:xfrm>
            <a:off x="822960" y="2788920"/>
            <a:ext cx="1929384" cy="7315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Release note</a:t>
            </a:r>
          </a:p>
        </p:txBody>
      </p:sp>
      <p:cxnSp>
        <p:nvCxnSpPr>
          <p:cNvPr id="9" name="Connector 8"/>
          <p:cNvCxnSpPr/>
          <p:nvPr/>
        </p:nvCxnSpPr>
        <p:spPr>
          <a:xfrm>
            <a:off x="2752344" y="3154679"/>
            <a:ext cx="128016" cy="0"/>
          </a:xfrm>
          <a:prstGeom prst="line">
            <a:avLst/>
          </a:prstGeom>
          <a:ln w="25400">
            <a:solidFill>
              <a:srgbClr val="1F6FC4"/>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16936" y="2788920"/>
            <a:ext cx="1929384" cy="7315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Business area</a:t>
            </a:r>
          </a:p>
        </p:txBody>
      </p:sp>
      <p:cxnSp>
        <p:nvCxnSpPr>
          <p:cNvPr id="11" name="Connector 10"/>
          <p:cNvCxnSpPr/>
          <p:nvPr/>
        </p:nvCxnSpPr>
        <p:spPr>
          <a:xfrm>
            <a:off x="4846320" y="3154679"/>
            <a:ext cx="128016" cy="0"/>
          </a:xfrm>
          <a:prstGeom prst="line">
            <a:avLst/>
          </a:prstGeom>
          <a:ln w="25400">
            <a:solidFill>
              <a:srgbClr val="1F6FC4"/>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10912" y="2788920"/>
            <a:ext cx="1929384" cy="7315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Customer impact</a:t>
            </a:r>
          </a:p>
        </p:txBody>
      </p:sp>
      <p:cxnSp>
        <p:nvCxnSpPr>
          <p:cNvPr id="13" name="Connector 12"/>
          <p:cNvCxnSpPr/>
          <p:nvPr/>
        </p:nvCxnSpPr>
        <p:spPr>
          <a:xfrm>
            <a:off x="6940296" y="3154679"/>
            <a:ext cx="128016" cy="0"/>
          </a:xfrm>
          <a:prstGeom prst="line">
            <a:avLst/>
          </a:prstGeom>
          <a:ln w="25400">
            <a:solidFill>
              <a:srgbClr val="1F6FC4"/>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104888" y="2788920"/>
            <a:ext cx="1929384" cy="7315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Support checks</a:t>
            </a:r>
          </a:p>
        </p:txBody>
      </p:sp>
      <p:cxnSp>
        <p:nvCxnSpPr>
          <p:cNvPr id="15" name="Connector 14"/>
          <p:cNvCxnSpPr/>
          <p:nvPr/>
        </p:nvCxnSpPr>
        <p:spPr>
          <a:xfrm>
            <a:off x="9034272" y="3154679"/>
            <a:ext cx="128016" cy="0"/>
          </a:xfrm>
          <a:prstGeom prst="line">
            <a:avLst/>
          </a:prstGeom>
          <a:ln w="25400">
            <a:solidFill>
              <a:srgbClr val="1F6FC4"/>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198864" y="2788920"/>
            <a:ext cx="1929384" cy="7315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Escalation decision</a:t>
            </a:r>
          </a:p>
        </p:txBody>
      </p:sp>
      <p:sp>
        <p:nvSpPr>
          <p:cNvPr id="17" name="Rounded Rectangle 16"/>
          <p:cNvSpPr/>
          <p:nvPr/>
        </p:nvSpPr>
        <p:spPr>
          <a:xfrm>
            <a:off x="1005840" y="4251959"/>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8" name="Rectangle 17"/>
          <p:cNvSpPr/>
          <p:nvPr/>
        </p:nvSpPr>
        <p:spPr>
          <a:xfrm>
            <a:off x="1261872" y="4206240"/>
            <a:ext cx="971092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600" b="0" i="0" dirty="0">
                <a:solidFill>
                  <a:srgbClr val="0F172A"/>
                </a:solidFill>
                <a:latin typeface="Aptos"/>
              </a:rPr>
              <a:t>Focus on changed workflows, permissions, defaults.</a:t>
            </a:r>
          </a:p>
        </p:txBody>
      </p:sp>
      <p:sp>
        <p:nvSpPr>
          <p:cNvPr id="19" name="Rounded Rectangle 18"/>
          <p:cNvSpPr/>
          <p:nvPr/>
        </p:nvSpPr>
        <p:spPr>
          <a:xfrm>
            <a:off x="1005840" y="4800599"/>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20" name="Rectangle 19"/>
          <p:cNvSpPr/>
          <p:nvPr/>
        </p:nvSpPr>
        <p:spPr>
          <a:xfrm>
            <a:off x="1261872" y="4754879"/>
            <a:ext cx="971092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600" b="0" i="0">
                <a:solidFill>
                  <a:srgbClr val="0F172A"/>
                </a:solidFill>
                <a:latin typeface="Aptos"/>
              </a:rPr>
              <a:t>Ask: “Could this be expected behavior after the release?” before labeling it a bug.</a:t>
            </a:r>
          </a:p>
        </p:txBody>
      </p:sp>
      <p:sp>
        <p:nvSpPr>
          <p:cNvPr id="21" name="Rounded Rectangle 20"/>
          <p:cNvSpPr/>
          <p:nvPr/>
        </p:nvSpPr>
        <p:spPr>
          <a:xfrm>
            <a:off x="1005840" y="5349239"/>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22" name="Rectangle 21"/>
          <p:cNvSpPr/>
          <p:nvPr/>
        </p:nvSpPr>
        <p:spPr>
          <a:xfrm>
            <a:off x="1261872" y="5303519"/>
            <a:ext cx="971092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600" b="0" i="0" dirty="0">
                <a:solidFill>
                  <a:srgbClr val="0F172A"/>
                </a:solidFill>
                <a:latin typeface="Aptos"/>
              </a:rPr>
              <a:t>Capture release-specific patterns in Knowledge Base articles and ticket macros.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1</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Release Updates by Business Area</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66928" y="1508760"/>
            <a:ext cx="2057400" cy="2971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94944"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9" name="Rectangle 8"/>
          <p:cNvSpPr/>
          <p:nvPr/>
        </p:nvSpPr>
        <p:spPr>
          <a:xfrm>
            <a:off x="1243584" y="1627631"/>
            <a:ext cx="12527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Exam Workflow</a:t>
            </a:r>
          </a:p>
        </p:txBody>
      </p:sp>
      <p:sp>
        <p:nvSpPr>
          <p:cNvPr id="10" name="Rectangle 9"/>
          <p:cNvSpPr/>
          <p:nvPr/>
        </p:nvSpPr>
        <p:spPr>
          <a:xfrm>
            <a:off x="731520" y="2039112"/>
            <a:ext cx="1728216" cy="2377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Deletion audit, soft delete, finalize controls</a:t>
            </a:r>
          </a:p>
        </p:txBody>
      </p:sp>
      <p:sp>
        <p:nvSpPr>
          <p:cNvPr id="11" name="Rounded Rectangle 10"/>
          <p:cNvSpPr/>
          <p:nvPr/>
        </p:nvSpPr>
        <p:spPr>
          <a:xfrm>
            <a:off x="2880360" y="1508760"/>
            <a:ext cx="2057400" cy="2971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008376"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3" name="Rectangle 12"/>
          <p:cNvSpPr/>
          <p:nvPr/>
        </p:nvSpPr>
        <p:spPr>
          <a:xfrm>
            <a:off x="3557015" y="1627631"/>
            <a:ext cx="12527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Exam List &amp; Filters</a:t>
            </a:r>
          </a:p>
        </p:txBody>
      </p:sp>
      <p:sp>
        <p:nvSpPr>
          <p:cNvPr id="14" name="Rectangle 13"/>
          <p:cNvSpPr/>
          <p:nvPr/>
        </p:nvSpPr>
        <p:spPr>
          <a:xfrm>
            <a:off x="3044952" y="2039112"/>
            <a:ext cx="1728216" cy="2377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Filtering, locations, permissions, dual-screen behavior</a:t>
            </a:r>
          </a:p>
        </p:txBody>
      </p:sp>
      <p:sp>
        <p:nvSpPr>
          <p:cNvPr id="15" name="Rounded Rectangle 14"/>
          <p:cNvSpPr/>
          <p:nvPr/>
        </p:nvSpPr>
        <p:spPr>
          <a:xfrm>
            <a:off x="5193792" y="1508760"/>
            <a:ext cx="2057400" cy="2971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321807"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F2B83A"/>
                </a:solidFill>
                <a:latin typeface="Aptos"/>
              </a:rPr>
              <a:t>📊</a:t>
            </a:r>
          </a:p>
        </p:txBody>
      </p:sp>
      <p:sp>
        <p:nvSpPr>
          <p:cNvPr id="17" name="Rectangle 16"/>
          <p:cNvSpPr/>
          <p:nvPr/>
        </p:nvSpPr>
        <p:spPr>
          <a:xfrm>
            <a:off x="5870448" y="1627631"/>
            <a:ext cx="12527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Reporting &amp; Worksheets</a:t>
            </a:r>
          </a:p>
        </p:txBody>
      </p:sp>
      <p:sp>
        <p:nvSpPr>
          <p:cNvPr id="18" name="Rectangle 17"/>
          <p:cNvSpPr/>
          <p:nvPr/>
        </p:nvSpPr>
        <p:spPr>
          <a:xfrm>
            <a:off x="5358383" y="2039112"/>
            <a:ext cx="1728216" cy="2377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Preview, Conclusion Editor, macros, worksheet fixes</a:t>
            </a:r>
          </a:p>
        </p:txBody>
      </p:sp>
      <p:sp>
        <p:nvSpPr>
          <p:cNvPr id="19" name="Rounded Rectangle 18"/>
          <p:cNvSpPr/>
          <p:nvPr/>
        </p:nvSpPr>
        <p:spPr>
          <a:xfrm>
            <a:off x="7507223" y="1508760"/>
            <a:ext cx="2057400" cy="2971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635240"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21" name="Rectangle 20"/>
          <p:cNvSpPr/>
          <p:nvPr/>
        </p:nvSpPr>
        <p:spPr>
          <a:xfrm>
            <a:off x="8183879" y="1627631"/>
            <a:ext cx="12527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Integrations</a:t>
            </a:r>
          </a:p>
        </p:txBody>
      </p:sp>
      <p:sp>
        <p:nvSpPr>
          <p:cNvPr id="22" name="Rectangle 21"/>
          <p:cNvSpPr/>
          <p:nvPr/>
        </p:nvSpPr>
        <p:spPr>
          <a:xfrm>
            <a:off x="7671815" y="2039112"/>
            <a:ext cx="1728216" cy="2377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HL7, routing, NPI, WADO, DICOM HTTP</a:t>
            </a:r>
          </a:p>
        </p:txBody>
      </p:sp>
      <p:sp>
        <p:nvSpPr>
          <p:cNvPr id="23" name="Rounded Rectangle 22"/>
          <p:cNvSpPr/>
          <p:nvPr/>
        </p:nvSpPr>
        <p:spPr>
          <a:xfrm>
            <a:off x="9820655" y="1508760"/>
            <a:ext cx="2057400" cy="2971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948672"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C53030"/>
                </a:solidFill>
                <a:latin typeface="Aptos"/>
              </a:rPr>
              <a:t>🔐</a:t>
            </a:r>
          </a:p>
        </p:txBody>
      </p:sp>
      <p:sp>
        <p:nvSpPr>
          <p:cNvPr id="25" name="Rectangle 24"/>
          <p:cNvSpPr/>
          <p:nvPr/>
        </p:nvSpPr>
        <p:spPr>
          <a:xfrm>
            <a:off x="10497311" y="1627631"/>
            <a:ext cx="12527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Infrastructure &amp; Security</a:t>
            </a:r>
          </a:p>
        </p:txBody>
      </p:sp>
      <p:sp>
        <p:nvSpPr>
          <p:cNvPr id="26" name="Rectangle 25"/>
          <p:cNvSpPr/>
          <p:nvPr/>
        </p:nvSpPr>
        <p:spPr>
          <a:xfrm>
            <a:off x="9985247" y="2039112"/>
            <a:ext cx="1728216" cy="2377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Documents, cache, hostname, hardening</a:t>
            </a:r>
          </a:p>
        </p:txBody>
      </p:sp>
      <p:sp>
        <p:nvSpPr>
          <p:cNvPr id="27" name="Rounded Rectangle 26"/>
          <p:cNvSpPr/>
          <p:nvPr/>
        </p:nvSpPr>
        <p:spPr>
          <a:xfrm>
            <a:off x="914400" y="5074920"/>
            <a:ext cx="10149840" cy="685800"/>
          </a:xfrm>
          <a:prstGeom prst="roundRect">
            <a:avLst/>
          </a:prstGeom>
          <a:solidFill>
            <a:srgbClr val="E2F5EA"/>
          </a:solidFill>
          <a:ln w="15240">
            <a:solidFill>
              <a:srgbClr val="1F9756"/>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1F9756"/>
                </a:solidFill>
                <a:latin typeface="Aptos Display"/>
              </a:rPr>
              <a:t>Support lens</a:t>
            </a:r>
          </a:p>
          <a:p>
            <a:pPr>
              <a:spcBef>
                <a:spcPts val="500"/>
              </a:spcBef>
            </a:pPr>
            <a:r>
              <a:rPr sz="1300">
                <a:solidFill>
                  <a:srgbClr val="0F172A"/>
                </a:solidFill>
                <a:latin typeface="Aptos"/>
              </a:rPr>
              <a:t>For each category, identify what customers may report, what Support should verify first, and what evidence is needed if escalation is required.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1</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Module 1 Key Takeaways</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463040"/>
            <a:ext cx="146304" cy="146304"/>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8" name="Rectangle 7"/>
          <p:cNvSpPr/>
          <p:nvPr/>
        </p:nvSpPr>
        <p:spPr>
          <a:xfrm>
            <a:off x="1170432" y="1417320"/>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000" b="0" i="0">
                <a:solidFill>
                  <a:srgbClr val="0F172A"/>
                </a:solidFill>
                <a:latin typeface="Aptos"/>
              </a:rPr>
              <a:t>Not every behavior change is a bug.</a:t>
            </a:r>
          </a:p>
        </p:txBody>
      </p:sp>
      <p:sp>
        <p:nvSpPr>
          <p:cNvPr id="9" name="Rounded Rectangle 8"/>
          <p:cNvSpPr/>
          <p:nvPr/>
        </p:nvSpPr>
        <p:spPr>
          <a:xfrm>
            <a:off x="914400" y="2066543"/>
            <a:ext cx="146304" cy="146304"/>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0" name="Rectangle 9"/>
          <p:cNvSpPr/>
          <p:nvPr/>
        </p:nvSpPr>
        <p:spPr>
          <a:xfrm>
            <a:off x="1170432" y="2020824"/>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000" b="0" i="0">
                <a:solidFill>
                  <a:srgbClr val="0F172A"/>
                </a:solidFill>
                <a:latin typeface="Aptos"/>
              </a:rPr>
              <a:t>Many issues after release are related to configuration, permissions, or workflow changes.</a:t>
            </a:r>
          </a:p>
        </p:txBody>
      </p:sp>
      <p:sp>
        <p:nvSpPr>
          <p:cNvPr id="11" name="Rounded Rectangle 10"/>
          <p:cNvSpPr/>
          <p:nvPr/>
        </p:nvSpPr>
        <p:spPr>
          <a:xfrm>
            <a:off x="914400" y="2670048"/>
            <a:ext cx="146304" cy="146304"/>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2" name="Rectangle 11"/>
          <p:cNvSpPr/>
          <p:nvPr/>
        </p:nvSpPr>
        <p:spPr>
          <a:xfrm>
            <a:off x="1170432" y="2624328"/>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000" b="0" i="0">
                <a:solidFill>
                  <a:srgbClr val="0F172A"/>
                </a:solidFill>
                <a:latin typeface="Aptos"/>
              </a:rPr>
              <a:t>Support should compare reported behavior against the latest release functionality.</a:t>
            </a:r>
          </a:p>
        </p:txBody>
      </p:sp>
      <p:sp>
        <p:nvSpPr>
          <p:cNvPr id="13" name="Rounded Rectangle 12"/>
          <p:cNvSpPr/>
          <p:nvPr/>
        </p:nvSpPr>
        <p:spPr>
          <a:xfrm>
            <a:off x="914400" y="3273552"/>
            <a:ext cx="146304" cy="146304"/>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4" name="Rectangle 13"/>
          <p:cNvSpPr/>
          <p:nvPr/>
        </p:nvSpPr>
        <p:spPr>
          <a:xfrm>
            <a:off x="1170432" y="3227832"/>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000" b="0" i="0">
                <a:solidFill>
                  <a:srgbClr val="0F172A"/>
                </a:solidFill>
                <a:latin typeface="Aptos"/>
              </a:rPr>
              <a:t>Clear release understanding reduces unnecessary escalations.</a:t>
            </a:r>
          </a:p>
        </p:txBody>
      </p:sp>
      <p:sp>
        <p:nvSpPr>
          <p:cNvPr id="15" name="Rounded Rectangle 14"/>
          <p:cNvSpPr/>
          <p:nvPr/>
        </p:nvSpPr>
        <p:spPr>
          <a:xfrm>
            <a:off x="1097280" y="5074920"/>
            <a:ext cx="9464040" cy="93268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1" i="0" dirty="0">
                <a:solidFill>
                  <a:srgbClr val="122D4D"/>
                </a:solidFill>
                <a:latin typeface="Aptos"/>
              </a:rPr>
              <a:t>Release awareness turns “something changed” into a focused investigation.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2</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Module 2 – Troubleshooting &amp; Initial Investigation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2423160"/>
            <a:ext cx="10469880" cy="914400"/>
          </a:xfrm>
          <a:prstGeom prst="roundRect">
            <a:avLst/>
          </a:prstGeom>
          <a:solidFill>
            <a:srgbClr val="E2F5EA"/>
          </a:solidFill>
          <a:ln w="15240">
            <a:solidFill>
              <a:srgbClr val="1F9756"/>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9756"/>
                </a:solidFill>
                <a:latin typeface="Aptos Display"/>
              </a:rPr>
              <a:t>Why this matters</a:t>
            </a:r>
          </a:p>
          <a:p>
            <a:pPr>
              <a:spcBef>
                <a:spcPts val="500"/>
              </a:spcBef>
            </a:pPr>
            <a:r>
              <a:rPr sz="1300" dirty="0">
                <a:solidFill>
                  <a:srgbClr val="0F172A"/>
                </a:solidFill>
                <a:latin typeface="Aptos"/>
              </a:rPr>
              <a:t>Troubleshooting is the most valuable skill for  Support and directly affects resolution speed, escalation quality, and customer confidence.</a:t>
            </a:r>
          </a:p>
        </p:txBody>
      </p:sp>
      <p:sp>
        <p:nvSpPr>
          <p:cNvPr id="17" name="Rounded Rectangle 16"/>
          <p:cNvSpPr/>
          <p:nvPr/>
        </p:nvSpPr>
        <p:spPr>
          <a:xfrm>
            <a:off x="914400" y="4480559"/>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8" name="Rectangle 17"/>
          <p:cNvSpPr/>
          <p:nvPr/>
        </p:nvSpPr>
        <p:spPr>
          <a:xfrm>
            <a:off x="1170432" y="4434840"/>
            <a:ext cx="971092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dirty="0">
                <a:solidFill>
                  <a:srgbClr val="0F172A"/>
                </a:solidFill>
                <a:latin typeface="Aptos"/>
              </a:rPr>
              <a:t>A structured method prevents assumptions.</a:t>
            </a:r>
          </a:p>
        </p:txBody>
      </p:sp>
      <p:sp>
        <p:nvSpPr>
          <p:cNvPr id="19" name="Rounded Rectangle 18"/>
          <p:cNvSpPr/>
          <p:nvPr/>
        </p:nvSpPr>
        <p:spPr>
          <a:xfrm>
            <a:off x="914400" y="5029199"/>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20" name="Rectangle 19"/>
          <p:cNvSpPr/>
          <p:nvPr/>
        </p:nvSpPr>
        <p:spPr>
          <a:xfrm>
            <a:off x="1170432" y="4983479"/>
            <a:ext cx="971092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a:solidFill>
                  <a:srgbClr val="0F172A"/>
                </a:solidFill>
                <a:latin typeface="Aptos"/>
              </a:rPr>
              <a:t>The goal is not to solve every issue; the goal is to establish facts before handoff.</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2</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Troubleshooting Mindset</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325880"/>
            <a:ext cx="4526280" cy="8686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5097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9" name="Rectangle 8"/>
          <p:cNvSpPr/>
          <p:nvPr/>
        </p:nvSpPr>
        <p:spPr>
          <a:xfrm>
            <a:off x="1499616" y="1444752"/>
            <a:ext cx="37216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What?</a:t>
            </a:r>
          </a:p>
        </p:txBody>
      </p:sp>
      <p:sp>
        <p:nvSpPr>
          <p:cNvPr id="10" name="Rectangle 9"/>
          <p:cNvSpPr/>
          <p:nvPr/>
        </p:nvSpPr>
        <p:spPr>
          <a:xfrm>
            <a:off x="987552" y="1856231"/>
            <a:ext cx="4197096" cy="27431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What exactly is failing?</a:t>
            </a:r>
          </a:p>
        </p:txBody>
      </p:sp>
      <p:sp>
        <p:nvSpPr>
          <p:cNvPr id="11" name="Rounded Rectangle 10"/>
          <p:cNvSpPr/>
          <p:nvPr/>
        </p:nvSpPr>
        <p:spPr>
          <a:xfrm>
            <a:off x="6080760" y="1325880"/>
            <a:ext cx="4526280" cy="8686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0877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3" name="Rectangle 12"/>
          <p:cNvSpPr/>
          <p:nvPr/>
        </p:nvSpPr>
        <p:spPr>
          <a:xfrm>
            <a:off x="6757416" y="1444752"/>
            <a:ext cx="37216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Who?</a:t>
            </a:r>
          </a:p>
        </p:txBody>
      </p:sp>
      <p:sp>
        <p:nvSpPr>
          <p:cNvPr id="14" name="Rectangle 13"/>
          <p:cNvSpPr/>
          <p:nvPr/>
        </p:nvSpPr>
        <p:spPr>
          <a:xfrm>
            <a:off x="6245352" y="1856231"/>
            <a:ext cx="4197096" cy="27431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One user or all users?</a:t>
            </a:r>
          </a:p>
        </p:txBody>
      </p:sp>
      <p:sp>
        <p:nvSpPr>
          <p:cNvPr id="15" name="Rounded Rectangle 14"/>
          <p:cNvSpPr/>
          <p:nvPr/>
        </p:nvSpPr>
        <p:spPr>
          <a:xfrm>
            <a:off x="822960" y="2560320"/>
            <a:ext cx="4526280" cy="8686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50976" y="26700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17" name="Rectangle 16"/>
          <p:cNvSpPr/>
          <p:nvPr/>
        </p:nvSpPr>
        <p:spPr>
          <a:xfrm>
            <a:off x="1499616" y="2679191"/>
            <a:ext cx="37216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When?</a:t>
            </a:r>
          </a:p>
        </p:txBody>
      </p:sp>
      <p:sp>
        <p:nvSpPr>
          <p:cNvPr id="18" name="Rectangle 17"/>
          <p:cNvSpPr/>
          <p:nvPr/>
        </p:nvSpPr>
        <p:spPr>
          <a:xfrm>
            <a:off x="987552" y="3090672"/>
            <a:ext cx="4197096" cy="27431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After upgrade? Always? Intermittent?</a:t>
            </a:r>
          </a:p>
        </p:txBody>
      </p:sp>
      <p:sp>
        <p:nvSpPr>
          <p:cNvPr id="19" name="Rounded Rectangle 18"/>
          <p:cNvSpPr/>
          <p:nvPr/>
        </p:nvSpPr>
        <p:spPr>
          <a:xfrm>
            <a:off x="6080760" y="2560320"/>
            <a:ext cx="4526280" cy="8686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08776" y="26700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21" name="Rectangle 20"/>
          <p:cNvSpPr/>
          <p:nvPr/>
        </p:nvSpPr>
        <p:spPr>
          <a:xfrm>
            <a:off x="6757416" y="2679191"/>
            <a:ext cx="37216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Where?</a:t>
            </a:r>
          </a:p>
        </p:txBody>
      </p:sp>
      <p:sp>
        <p:nvSpPr>
          <p:cNvPr id="22" name="Rectangle 21"/>
          <p:cNvSpPr/>
          <p:nvPr/>
        </p:nvSpPr>
        <p:spPr>
          <a:xfrm>
            <a:off x="6245352" y="3090672"/>
            <a:ext cx="4197096" cy="27431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Production? Test? Specific site?</a:t>
            </a:r>
          </a:p>
        </p:txBody>
      </p:sp>
      <p:sp>
        <p:nvSpPr>
          <p:cNvPr id="23" name="Rounded Rectangle 22"/>
          <p:cNvSpPr/>
          <p:nvPr/>
        </p:nvSpPr>
        <p:spPr>
          <a:xfrm>
            <a:off x="3429000" y="3794760"/>
            <a:ext cx="4526280" cy="8686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557016" y="3904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25" name="Rectangle 24"/>
          <p:cNvSpPr/>
          <p:nvPr/>
        </p:nvSpPr>
        <p:spPr>
          <a:xfrm>
            <a:off x="4105656" y="3913632"/>
            <a:ext cx="37216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Scope?</a:t>
            </a:r>
          </a:p>
        </p:txBody>
      </p:sp>
      <p:sp>
        <p:nvSpPr>
          <p:cNvPr id="26" name="Rectangle 25"/>
          <p:cNvSpPr/>
          <p:nvPr/>
        </p:nvSpPr>
        <p:spPr>
          <a:xfrm>
            <a:off x="3593592" y="4325112"/>
            <a:ext cx="4197096" cy="27431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One exam? One patient? One modality? All exams?</a:t>
            </a:r>
          </a:p>
        </p:txBody>
      </p:sp>
      <p:sp>
        <p:nvSpPr>
          <p:cNvPr id="27" name="Rounded Rectangle 26"/>
          <p:cNvSpPr/>
          <p:nvPr/>
        </p:nvSpPr>
        <p:spPr>
          <a:xfrm>
            <a:off x="1005840" y="5349240"/>
            <a:ext cx="9966960" cy="804672"/>
          </a:xfrm>
          <a:prstGeom prst="roundRect">
            <a:avLst/>
          </a:prstGeom>
          <a:solidFill>
            <a:srgbClr val="FFF7DB"/>
          </a:solidFill>
          <a:ln w="15240">
            <a:solidFill>
              <a:srgbClr val="F2B83A"/>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F2B83A"/>
                </a:solidFill>
                <a:latin typeface="Aptos Display"/>
              </a:rPr>
              <a:t>Rule of thumb</a:t>
            </a:r>
          </a:p>
          <a:p>
            <a:pPr>
              <a:spcBef>
                <a:spcPts val="500"/>
              </a:spcBef>
            </a:pPr>
            <a:r>
              <a:rPr sz="1300" dirty="0">
                <a:solidFill>
                  <a:srgbClr val="0F172A"/>
                </a:solidFill>
                <a:latin typeface="Aptos"/>
              </a:rPr>
              <a:t>If you cannot describe the symptom, impacted users, timing, environment, and scope, the issue is not ready for Development escalation.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2</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Troubleshooting Matrix</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960120" y="1417320"/>
          <a:ext cx="10241280" cy="416052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tblGrid>
              <a:tr h="594360">
                <a:tc>
                  <a:txBody>
                    <a:bodyPr/>
                    <a:lstStyle/>
                    <a:p>
                      <a:pPr algn="ctr"/>
                      <a:r>
                        <a:rPr sz="1500" b="1">
                          <a:solidFill>
                            <a:srgbClr val="FFFFFF"/>
                          </a:solidFill>
                          <a:latin typeface="Aptos"/>
                        </a:rPr>
                        <a:t>Issue Type</a:t>
                      </a:r>
                    </a:p>
                  </a:txBody>
                  <a:tcPr>
                    <a:solidFill>
                      <a:srgbClr val="122D4D"/>
                    </a:solidFill>
                  </a:tcPr>
                </a:tc>
                <a:tc>
                  <a:txBody>
                    <a:bodyPr/>
                    <a:lstStyle/>
                    <a:p>
                      <a:pPr algn="ctr"/>
                      <a:r>
                        <a:rPr sz="1500" b="1">
                          <a:solidFill>
                            <a:srgbClr val="FFFFFF"/>
                          </a:solidFill>
                          <a:latin typeface="Aptos"/>
                        </a:rPr>
                        <a:t>Key Questions</a:t>
                      </a:r>
                    </a:p>
                  </a:txBody>
                  <a:tcPr>
                    <a:solidFill>
                      <a:srgbClr val="122D4D"/>
                    </a:solidFill>
                  </a:tcPr>
                </a:tc>
                <a:extLst>
                  <a:ext uri="{0D108BD9-81ED-4DB2-BD59-A6C34878D82A}">
                    <a16:rowId xmlns:a16="http://schemas.microsoft.com/office/drawing/2014/main" val="10000"/>
                  </a:ext>
                </a:extLst>
              </a:tr>
              <a:tr h="594360">
                <a:tc>
                  <a:txBody>
                    <a:bodyPr/>
                    <a:lstStyle/>
                    <a:p>
                      <a:pPr algn="l"/>
                      <a:r>
                        <a:rPr sz="1500">
                          <a:solidFill>
                            <a:srgbClr val="0F172A"/>
                          </a:solidFill>
                          <a:latin typeface="Aptos"/>
                        </a:rPr>
                        <a:t>Login</a:t>
                      </a:r>
                    </a:p>
                  </a:txBody>
                  <a:tcPr marL="73152" marR="73152">
                    <a:solidFill>
                      <a:srgbClr val="FFFFFF"/>
                    </a:solidFill>
                  </a:tcPr>
                </a:tc>
                <a:tc>
                  <a:txBody>
                    <a:bodyPr/>
                    <a:lstStyle/>
                    <a:p>
                      <a:pPr algn="l"/>
                      <a:r>
                        <a:rPr sz="1500">
                          <a:solidFill>
                            <a:srgbClr val="0F172A"/>
                          </a:solidFill>
                          <a:latin typeface="Aptos"/>
                        </a:rPr>
                        <a:t>One user or all users?</a:t>
                      </a:r>
                    </a:p>
                  </a:txBody>
                  <a:tcPr marL="73152" marR="73152">
                    <a:solidFill>
                      <a:srgbClr val="FFFFFF"/>
                    </a:solidFill>
                  </a:tcPr>
                </a:tc>
                <a:extLst>
                  <a:ext uri="{0D108BD9-81ED-4DB2-BD59-A6C34878D82A}">
                    <a16:rowId xmlns:a16="http://schemas.microsoft.com/office/drawing/2014/main" val="10001"/>
                  </a:ext>
                </a:extLst>
              </a:tr>
              <a:tr h="594360">
                <a:tc>
                  <a:txBody>
                    <a:bodyPr/>
                    <a:lstStyle/>
                    <a:p>
                      <a:pPr algn="l"/>
                      <a:r>
                        <a:rPr sz="1500">
                          <a:solidFill>
                            <a:srgbClr val="0F172A"/>
                          </a:solidFill>
                          <a:latin typeface="Aptos"/>
                        </a:rPr>
                        <a:t>Reporting</a:t>
                      </a:r>
                    </a:p>
                  </a:txBody>
                  <a:tcPr marL="73152" marR="73152">
                    <a:solidFill>
                      <a:srgbClr val="F3F6FA"/>
                    </a:solidFill>
                  </a:tcPr>
                </a:tc>
                <a:tc>
                  <a:txBody>
                    <a:bodyPr/>
                    <a:lstStyle/>
                    <a:p>
                      <a:pPr algn="l"/>
                      <a:r>
                        <a:rPr sz="1500">
                          <a:solidFill>
                            <a:srgbClr val="0F172A"/>
                          </a:solidFill>
                          <a:latin typeface="Aptos"/>
                        </a:rPr>
                        <a:t>One report or all reports?</a:t>
                      </a:r>
                    </a:p>
                  </a:txBody>
                  <a:tcPr marL="73152" marR="73152">
                    <a:solidFill>
                      <a:srgbClr val="F3F6FA"/>
                    </a:solidFill>
                  </a:tcPr>
                </a:tc>
                <a:extLst>
                  <a:ext uri="{0D108BD9-81ED-4DB2-BD59-A6C34878D82A}">
                    <a16:rowId xmlns:a16="http://schemas.microsoft.com/office/drawing/2014/main" val="10002"/>
                  </a:ext>
                </a:extLst>
              </a:tr>
              <a:tr h="594360">
                <a:tc>
                  <a:txBody>
                    <a:bodyPr/>
                    <a:lstStyle/>
                    <a:p>
                      <a:pPr algn="l"/>
                      <a:r>
                        <a:rPr sz="1500">
                          <a:solidFill>
                            <a:srgbClr val="0F172A"/>
                          </a:solidFill>
                          <a:latin typeface="Aptos"/>
                        </a:rPr>
                        <a:t>HL7</a:t>
                      </a:r>
                    </a:p>
                  </a:txBody>
                  <a:tcPr marL="73152" marR="73152">
                    <a:solidFill>
                      <a:srgbClr val="FFFFFF"/>
                    </a:solidFill>
                  </a:tcPr>
                </a:tc>
                <a:tc>
                  <a:txBody>
                    <a:bodyPr/>
                    <a:lstStyle/>
                    <a:p>
                      <a:pPr algn="l"/>
                      <a:r>
                        <a:rPr sz="1500">
                          <a:solidFill>
                            <a:srgbClr val="0F172A"/>
                          </a:solidFill>
                          <a:latin typeface="Aptos"/>
                        </a:rPr>
                        <a:t>One message or all messages?</a:t>
                      </a:r>
                    </a:p>
                  </a:txBody>
                  <a:tcPr marL="73152" marR="73152">
                    <a:solidFill>
                      <a:srgbClr val="FFFFFF"/>
                    </a:solidFill>
                  </a:tcPr>
                </a:tc>
                <a:extLst>
                  <a:ext uri="{0D108BD9-81ED-4DB2-BD59-A6C34878D82A}">
                    <a16:rowId xmlns:a16="http://schemas.microsoft.com/office/drawing/2014/main" val="10003"/>
                  </a:ext>
                </a:extLst>
              </a:tr>
              <a:tr h="594360">
                <a:tc>
                  <a:txBody>
                    <a:bodyPr/>
                    <a:lstStyle/>
                    <a:p>
                      <a:pPr algn="l"/>
                      <a:r>
                        <a:rPr sz="1500">
                          <a:solidFill>
                            <a:srgbClr val="0F172A"/>
                          </a:solidFill>
                          <a:latin typeface="Aptos"/>
                        </a:rPr>
                        <a:t>Viewer</a:t>
                      </a:r>
                    </a:p>
                  </a:txBody>
                  <a:tcPr marL="73152" marR="73152">
                    <a:solidFill>
                      <a:srgbClr val="F3F6FA"/>
                    </a:solidFill>
                  </a:tcPr>
                </a:tc>
                <a:tc>
                  <a:txBody>
                    <a:bodyPr/>
                    <a:lstStyle/>
                    <a:p>
                      <a:pPr algn="l"/>
                      <a:r>
                        <a:rPr sz="1500">
                          <a:solidFill>
                            <a:srgbClr val="0F172A"/>
                          </a:solidFill>
                          <a:latin typeface="Aptos"/>
                        </a:rPr>
                        <a:t>One workstation or all workstations?</a:t>
                      </a:r>
                    </a:p>
                  </a:txBody>
                  <a:tcPr marL="73152" marR="73152">
                    <a:solidFill>
                      <a:srgbClr val="F3F6FA"/>
                    </a:solidFill>
                  </a:tcPr>
                </a:tc>
                <a:extLst>
                  <a:ext uri="{0D108BD9-81ED-4DB2-BD59-A6C34878D82A}">
                    <a16:rowId xmlns:a16="http://schemas.microsoft.com/office/drawing/2014/main" val="10004"/>
                  </a:ext>
                </a:extLst>
              </a:tr>
              <a:tr h="594360">
                <a:tc>
                  <a:txBody>
                    <a:bodyPr/>
                    <a:lstStyle/>
                    <a:p>
                      <a:pPr algn="l"/>
                      <a:r>
                        <a:rPr sz="1500">
                          <a:solidFill>
                            <a:srgbClr val="0F172A"/>
                          </a:solidFill>
                          <a:latin typeface="Aptos"/>
                        </a:rPr>
                        <a:t>Performance</a:t>
                      </a:r>
                    </a:p>
                  </a:txBody>
                  <a:tcPr marL="73152" marR="73152">
                    <a:solidFill>
                      <a:srgbClr val="FFFFFF"/>
                    </a:solidFill>
                  </a:tcPr>
                </a:tc>
                <a:tc>
                  <a:txBody>
                    <a:bodyPr/>
                    <a:lstStyle/>
                    <a:p>
                      <a:pPr algn="l"/>
                      <a:r>
                        <a:rPr sz="1500">
                          <a:solidFill>
                            <a:srgbClr val="0F172A"/>
                          </a:solidFill>
                          <a:latin typeface="Aptos"/>
                        </a:rPr>
                        <a:t>One user or all users?</a:t>
                      </a:r>
                    </a:p>
                  </a:txBody>
                  <a:tcPr marL="73152" marR="73152">
                    <a:solidFill>
                      <a:srgbClr val="FFFFFF"/>
                    </a:solidFill>
                  </a:tcPr>
                </a:tc>
                <a:extLst>
                  <a:ext uri="{0D108BD9-81ED-4DB2-BD59-A6C34878D82A}">
                    <a16:rowId xmlns:a16="http://schemas.microsoft.com/office/drawing/2014/main" val="10005"/>
                  </a:ext>
                </a:extLst>
              </a:tr>
              <a:tr h="594360">
                <a:tc>
                  <a:txBody>
                    <a:bodyPr/>
                    <a:lstStyle/>
                    <a:p>
                      <a:pPr algn="l"/>
                      <a:r>
                        <a:rPr sz="1500">
                          <a:solidFill>
                            <a:srgbClr val="0F172A"/>
                          </a:solidFill>
                          <a:latin typeface="Aptos"/>
                        </a:rPr>
                        <a:t>Database</a:t>
                      </a:r>
                    </a:p>
                  </a:txBody>
                  <a:tcPr marL="73152" marR="73152">
                    <a:solidFill>
                      <a:srgbClr val="F3F6FA"/>
                    </a:solidFill>
                  </a:tcPr>
                </a:tc>
                <a:tc>
                  <a:txBody>
                    <a:bodyPr/>
                    <a:lstStyle/>
                    <a:p>
                      <a:pPr algn="l"/>
                      <a:r>
                        <a:rPr sz="1500">
                          <a:solidFill>
                            <a:srgbClr val="0F172A"/>
                          </a:solidFill>
                          <a:latin typeface="Aptos"/>
                        </a:rPr>
                        <a:t>Specific operation or whole system?</a:t>
                      </a:r>
                    </a:p>
                  </a:txBody>
                  <a:tcPr marL="73152" marR="73152">
                    <a:solidFill>
                      <a:srgbClr val="F3F6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Module 3 – Escalation Standards and Required Information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99516" y="1586484"/>
            <a:ext cx="10469880" cy="914400"/>
          </a:xfrm>
          <a:prstGeom prst="roundRect">
            <a:avLst/>
          </a:prstGeom>
          <a:solidFill>
            <a:srgbClr val="FDE7E7"/>
          </a:solidFill>
          <a:ln w="15240">
            <a:solidFill>
              <a:srgbClr val="C53030"/>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C53030"/>
                </a:solidFill>
                <a:latin typeface="Aptos Display"/>
              </a:rPr>
              <a:t>Escalation principle</a:t>
            </a:r>
          </a:p>
          <a:p>
            <a:pPr>
              <a:spcBef>
                <a:spcPts val="500"/>
              </a:spcBef>
            </a:pPr>
            <a:r>
              <a:rPr sz="1300">
                <a:solidFill>
                  <a:srgbClr val="0F172A"/>
                </a:solidFill>
                <a:latin typeface="Aptos"/>
              </a:rPr>
              <a:t>Development cannot investigate effectively without complete information. A high-quality escalation reduces back-and-forth and speeds up resolution.</a:t>
            </a:r>
          </a:p>
        </p:txBody>
      </p:sp>
      <p:sp>
        <p:nvSpPr>
          <p:cNvPr id="8" name="Rounded Rectangle 7"/>
          <p:cNvSpPr/>
          <p:nvPr/>
        </p:nvSpPr>
        <p:spPr>
          <a:xfrm>
            <a:off x="868680" y="2926080"/>
            <a:ext cx="1883663" cy="82296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Complete facts</a:t>
            </a:r>
          </a:p>
        </p:txBody>
      </p:sp>
      <p:cxnSp>
        <p:nvCxnSpPr>
          <p:cNvPr id="9" name="Connector 8"/>
          <p:cNvCxnSpPr/>
          <p:nvPr/>
        </p:nvCxnSpPr>
        <p:spPr>
          <a:xfrm>
            <a:off x="2752344" y="3337560"/>
            <a:ext cx="128015" cy="0"/>
          </a:xfrm>
          <a:prstGeom prst="line">
            <a:avLst/>
          </a:prstGeom>
          <a:ln w="25400">
            <a:solidFill>
              <a:srgbClr val="C5303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16935" y="2926080"/>
            <a:ext cx="1883663" cy="82296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Evidence attached</a:t>
            </a:r>
          </a:p>
        </p:txBody>
      </p:sp>
      <p:cxnSp>
        <p:nvCxnSpPr>
          <p:cNvPr id="11" name="Connector 10"/>
          <p:cNvCxnSpPr/>
          <p:nvPr/>
        </p:nvCxnSpPr>
        <p:spPr>
          <a:xfrm>
            <a:off x="4800599" y="3337560"/>
            <a:ext cx="128017" cy="0"/>
          </a:xfrm>
          <a:prstGeom prst="line">
            <a:avLst/>
          </a:prstGeom>
          <a:ln w="25400">
            <a:solidFill>
              <a:srgbClr val="C5303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965192" y="2926080"/>
            <a:ext cx="1883663" cy="82296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Senior review</a:t>
            </a:r>
          </a:p>
        </p:txBody>
      </p:sp>
      <p:cxnSp>
        <p:nvCxnSpPr>
          <p:cNvPr id="13" name="Connector 12"/>
          <p:cNvCxnSpPr/>
          <p:nvPr/>
        </p:nvCxnSpPr>
        <p:spPr>
          <a:xfrm>
            <a:off x="6848855" y="3337560"/>
            <a:ext cx="128017" cy="0"/>
          </a:xfrm>
          <a:prstGeom prst="line">
            <a:avLst/>
          </a:prstGeom>
          <a:ln w="25400">
            <a:solidFill>
              <a:srgbClr val="C5303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013447" y="2926080"/>
            <a:ext cx="1883663" cy="82296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Clear ask</a:t>
            </a:r>
          </a:p>
        </p:txBody>
      </p:sp>
      <p:cxnSp>
        <p:nvCxnSpPr>
          <p:cNvPr id="15" name="Connector 14"/>
          <p:cNvCxnSpPr/>
          <p:nvPr/>
        </p:nvCxnSpPr>
        <p:spPr>
          <a:xfrm>
            <a:off x="8897111" y="3337560"/>
            <a:ext cx="128017" cy="0"/>
          </a:xfrm>
          <a:prstGeom prst="line">
            <a:avLst/>
          </a:prstGeom>
          <a:ln w="25400">
            <a:solidFill>
              <a:srgbClr val="C5303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061703" y="2926080"/>
            <a:ext cx="1883663" cy="82296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Development action</a:t>
            </a:r>
          </a:p>
        </p:txBody>
      </p:sp>
      <p:sp>
        <p:nvSpPr>
          <p:cNvPr id="17" name="Rounded Rectangle 16"/>
          <p:cNvSpPr/>
          <p:nvPr/>
        </p:nvSpPr>
        <p:spPr>
          <a:xfrm>
            <a:off x="914400" y="4526280"/>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8" name="Rectangle 17"/>
          <p:cNvSpPr/>
          <p:nvPr/>
        </p:nvSpPr>
        <p:spPr>
          <a:xfrm>
            <a:off x="1170432" y="4480560"/>
            <a:ext cx="952804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a:solidFill>
                  <a:srgbClr val="0F172A"/>
                </a:solidFill>
                <a:latin typeface="Aptos"/>
              </a:rPr>
              <a:t>Escalation is a handoff, not a restart of investigation.</a:t>
            </a:r>
          </a:p>
        </p:txBody>
      </p:sp>
      <p:sp>
        <p:nvSpPr>
          <p:cNvPr id="19" name="Rounded Rectangle 18"/>
          <p:cNvSpPr/>
          <p:nvPr/>
        </p:nvSpPr>
        <p:spPr>
          <a:xfrm>
            <a:off x="914400" y="5074920"/>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20" name="Rectangle 19"/>
          <p:cNvSpPr/>
          <p:nvPr/>
        </p:nvSpPr>
        <p:spPr>
          <a:xfrm>
            <a:off x="1170432" y="5029200"/>
            <a:ext cx="952804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a:solidFill>
                  <a:srgbClr val="0F172A"/>
                </a:solidFill>
                <a:latin typeface="Aptos"/>
              </a:rPr>
              <a:t>The ticket should be complete enough for Development to reproduce, inspect, or make a decision.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Escalation Template Overview</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77240" y="1325880"/>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0525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9" name="Rectangle 8"/>
          <p:cNvSpPr/>
          <p:nvPr/>
        </p:nvSpPr>
        <p:spPr>
          <a:xfrm>
            <a:off x="1453895" y="1444752"/>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Customer information</a:t>
            </a:r>
          </a:p>
        </p:txBody>
      </p:sp>
      <p:sp>
        <p:nvSpPr>
          <p:cNvPr id="10" name="Rounded Rectangle 9"/>
          <p:cNvSpPr/>
          <p:nvPr/>
        </p:nvSpPr>
        <p:spPr>
          <a:xfrm>
            <a:off x="4480559" y="1325880"/>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08575"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2" name="Rectangle 11"/>
          <p:cNvSpPr/>
          <p:nvPr/>
        </p:nvSpPr>
        <p:spPr>
          <a:xfrm>
            <a:off x="5157216" y="1444752"/>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Environment information</a:t>
            </a:r>
          </a:p>
        </p:txBody>
      </p:sp>
      <p:sp>
        <p:nvSpPr>
          <p:cNvPr id="13" name="Rounded Rectangle 12"/>
          <p:cNvSpPr/>
          <p:nvPr/>
        </p:nvSpPr>
        <p:spPr>
          <a:xfrm>
            <a:off x="8183879" y="1325880"/>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31189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5" name="Rectangle 14"/>
          <p:cNvSpPr/>
          <p:nvPr/>
        </p:nvSpPr>
        <p:spPr>
          <a:xfrm>
            <a:off x="8860536" y="1444752"/>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Access information</a:t>
            </a:r>
          </a:p>
        </p:txBody>
      </p:sp>
      <p:sp>
        <p:nvSpPr>
          <p:cNvPr id="16" name="Rounded Rectangle 15"/>
          <p:cNvSpPr/>
          <p:nvPr/>
        </p:nvSpPr>
        <p:spPr>
          <a:xfrm>
            <a:off x="777240" y="2075688"/>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5256" y="2185416"/>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8" name="Rectangle 17"/>
          <p:cNvSpPr/>
          <p:nvPr/>
        </p:nvSpPr>
        <p:spPr>
          <a:xfrm>
            <a:off x="1453895" y="2194560"/>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Upgrade information</a:t>
            </a:r>
          </a:p>
        </p:txBody>
      </p:sp>
      <p:sp>
        <p:nvSpPr>
          <p:cNvPr id="19" name="Rounded Rectangle 18"/>
          <p:cNvSpPr/>
          <p:nvPr/>
        </p:nvSpPr>
        <p:spPr>
          <a:xfrm>
            <a:off x="4480559" y="2075688"/>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608575" y="2185416"/>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21" name="Rectangle 20"/>
          <p:cNvSpPr/>
          <p:nvPr/>
        </p:nvSpPr>
        <p:spPr>
          <a:xfrm>
            <a:off x="5157216" y="2194560"/>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Issue classification</a:t>
            </a:r>
          </a:p>
        </p:txBody>
      </p:sp>
      <p:sp>
        <p:nvSpPr>
          <p:cNvPr id="22" name="Rounded Rectangle 21"/>
          <p:cNvSpPr/>
          <p:nvPr/>
        </p:nvSpPr>
        <p:spPr>
          <a:xfrm>
            <a:off x="8183879" y="2075688"/>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311896" y="2185416"/>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24" name="Rectangle 23"/>
          <p:cNvSpPr/>
          <p:nvPr/>
        </p:nvSpPr>
        <p:spPr>
          <a:xfrm>
            <a:off x="8860536" y="2194560"/>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Scope assessment</a:t>
            </a:r>
          </a:p>
        </p:txBody>
      </p:sp>
      <p:sp>
        <p:nvSpPr>
          <p:cNvPr id="25" name="Rounded Rectangle 24"/>
          <p:cNvSpPr/>
          <p:nvPr/>
        </p:nvSpPr>
        <p:spPr>
          <a:xfrm>
            <a:off x="777240" y="2825496"/>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05256" y="2935224"/>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27" name="Rectangle 26"/>
          <p:cNvSpPr/>
          <p:nvPr/>
        </p:nvSpPr>
        <p:spPr>
          <a:xfrm>
            <a:off x="1453895" y="2944368"/>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Reproduction steps</a:t>
            </a:r>
          </a:p>
        </p:txBody>
      </p:sp>
      <p:sp>
        <p:nvSpPr>
          <p:cNvPr id="28" name="Rounded Rectangle 27"/>
          <p:cNvSpPr/>
          <p:nvPr/>
        </p:nvSpPr>
        <p:spPr>
          <a:xfrm>
            <a:off x="4480559" y="2825496"/>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608575" y="2935224"/>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30" name="Rectangle 29"/>
          <p:cNvSpPr/>
          <p:nvPr/>
        </p:nvSpPr>
        <p:spPr>
          <a:xfrm>
            <a:off x="5157216" y="2944368"/>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Expected result</a:t>
            </a:r>
          </a:p>
        </p:txBody>
      </p:sp>
      <p:sp>
        <p:nvSpPr>
          <p:cNvPr id="31" name="Rounded Rectangle 30"/>
          <p:cNvSpPr/>
          <p:nvPr/>
        </p:nvSpPr>
        <p:spPr>
          <a:xfrm>
            <a:off x="8183879" y="2825496"/>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311896" y="2935224"/>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33" name="Rectangle 32"/>
          <p:cNvSpPr/>
          <p:nvPr/>
        </p:nvSpPr>
        <p:spPr>
          <a:xfrm>
            <a:off x="8860536" y="2944368"/>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Actual result</a:t>
            </a:r>
          </a:p>
        </p:txBody>
      </p:sp>
      <p:sp>
        <p:nvSpPr>
          <p:cNvPr id="34" name="Rounded Rectangle 33"/>
          <p:cNvSpPr/>
          <p:nvPr/>
        </p:nvSpPr>
        <p:spPr>
          <a:xfrm>
            <a:off x="777240" y="3575304"/>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905256" y="3685032"/>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F2B83A"/>
                </a:solidFill>
                <a:latin typeface="Aptos"/>
              </a:rPr>
              <a:t>✓</a:t>
            </a:r>
          </a:p>
        </p:txBody>
      </p:sp>
      <p:sp>
        <p:nvSpPr>
          <p:cNvPr id="36" name="Rectangle 35"/>
          <p:cNvSpPr/>
          <p:nvPr/>
        </p:nvSpPr>
        <p:spPr>
          <a:xfrm>
            <a:off x="1453895" y="3694176"/>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Screenshots</a:t>
            </a:r>
          </a:p>
        </p:txBody>
      </p:sp>
      <p:sp>
        <p:nvSpPr>
          <p:cNvPr id="37" name="Rounded Rectangle 36"/>
          <p:cNvSpPr/>
          <p:nvPr/>
        </p:nvSpPr>
        <p:spPr>
          <a:xfrm>
            <a:off x="4480559" y="3575304"/>
            <a:ext cx="3246120" cy="530352"/>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4608575" y="3685032"/>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F2B83A"/>
                </a:solidFill>
                <a:latin typeface="Aptos"/>
              </a:rPr>
              <a:t>✓</a:t>
            </a:r>
          </a:p>
        </p:txBody>
      </p:sp>
      <p:sp>
        <p:nvSpPr>
          <p:cNvPr id="39" name="Rectangle 38"/>
          <p:cNvSpPr/>
          <p:nvPr/>
        </p:nvSpPr>
        <p:spPr>
          <a:xfrm>
            <a:off x="5157216" y="3694176"/>
            <a:ext cx="244144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Required logs</a:t>
            </a:r>
          </a:p>
        </p:txBody>
      </p:sp>
      <p:sp>
        <p:nvSpPr>
          <p:cNvPr id="41" name="Rectangle 40"/>
          <p:cNvSpPr/>
          <p:nvPr/>
        </p:nvSpPr>
        <p:spPr>
          <a:xfrm>
            <a:off x="8311896" y="3685032"/>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endParaRPr sz="2200" b="0" i="0" dirty="0">
              <a:solidFill>
                <a:srgbClr val="F2B83A"/>
              </a:solidFill>
              <a:latin typeface="Apto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Customer and Environment Information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extLst>
              <p:ext uri="{D42A27DB-BD31-4B8C-83A1-F6EECF244321}">
                <p14:modId xmlns:p14="http://schemas.microsoft.com/office/powerpoint/2010/main" val="1041746920"/>
              </p:ext>
            </p:extLst>
          </p:nvPr>
        </p:nvGraphicFramePr>
        <p:xfrm>
          <a:off x="914400" y="1417320"/>
          <a:ext cx="5074920" cy="274320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tblGrid>
              <a:tr h="548640">
                <a:tc>
                  <a:txBody>
                    <a:bodyPr/>
                    <a:lstStyle/>
                    <a:p>
                      <a:pPr algn="ctr"/>
                      <a:r>
                        <a:rPr sz="1200" b="1">
                          <a:solidFill>
                            <a:srgbClr val="FFFFFF"/>
                          </a:solidFill>
                          <a:latin typeface="Aptos"/>
                        </a:rPr>
                        <a:t>Customer Information</a:t>
                      </a:r>
                    </a:p>
                  </a:txBody>
                  <a:tcPr>
                    <a:solidFill>
                      <a:srgbClr val="122D4D"/>
                    </a:solidFill>
                  </a:tcPr>
                </a:tc>
                <a:tc>
                  <a:txBody>
                    <a:bodyPr/>
                    <a:lstStyle/>
                    <a:p>
                      <a:pPr algn="ctr"/>
                      <a:r>
                        <a:rPr sz="1200" b="1">
                          <a:solidFill>
                            <a:srgbClr val="FFFFFF"/>
                          </a:solidFill>
                          <a:latin typeface="Aptos"/>
                        </a:rPr>
                        <a:t>Required detail</a:t>
                      </a:r>
                    </a:p>
                  </a:txBody>
                  <a:tcPr>
                    <a:solidFill>
                      <a:srgbClr val="122D4D"/>
                    </a:solidFill>
                  </a:tcPr>
                </a:tc>
                <a:extLst>
                  <a:ext uri="{0D108BD9-81ED-4DB2-BD59-A6C34878D82A}">
                    <a16:rowId xmlns:a16="http://schemas.microsoft.com/office/drawing/2014/main" val="10000"/>
                  </a:ext>
                </a:extLst>
              </a:tr>
              <a:tr h="548640">
                <a:tc>
                  <a:txBody>
                    <a:bodyPr/>
                    <a:lstStyle/>
                    <a:p>
                      <a:pPr algn="l"/>
                      <a:r>
                        <a:rPr sz="1200">
                          <a:solidFill>
                            <a:srgbClr val="0F172A"/>
                          </a:solidFill>
                          <a:latin typeface="Aptos"/>
                        </a:rPr>
                        <a:t>Customer name</a:t>
                      </a:r>
                    </a:p>
                  </a:txBody>
                  <a:tcPr marL="73152" marR="73152">
                    <a:solidFill>
                      <a:srgbClr val="FFFFFF"/>
                    </a:solidFill>
                  </a:tcPr>
                </a:tc>
                <a:tc>
                  <a:txBody>
                    <a:bodyPr/>
                    <a:lstStyle/>
                    <a:p>
                      <a:pPr algn="l"/>
                      <a:r>
                        <a:rPr sz="1200">
                          <a:solidFill>
                            <a:srgbClr val="0F172A"/>
                          </a:solidFill>
                          <a:latin typeface="Aptos"/>
                        </a:rPr>
                        <a:t>Full customer/account name</a:t>
                      </a:r>
                    </a:p>
                  </a:txBody>
                  <a:tcPr marL="73152" marR="73152">
                    <a:solidFill>
                      <a:srgbClr val="FFFFFF"/>
                    </a:solidFill>
                  </a:tcPr>
                </a:tc>
                <a:extLst>
                  <a:ext uri="{0D108BD9-81ED-4DB2-BD59-A6C34878D82A}">
                    <a16:rowId xmlns:a16="http://schemas.microsoft.com/office/drawing/2014/main" val="10001"/>
                  </a:ext>
                </a:extLst>
              </a:tr>
              <a:tr h="548640">
                <a:tc>
                  <a:txBody>
                    <a:bodyPr/>
                    <a:lstStyle/>
                    <a:p>
                      <a:pPr algn="l"/>
                      <a:r>
                        <a:rPr sz="1200">
                          <a:solidFill>
                            <a:srgbClr val="0F172A"/>
                          </a:solidFill>
                          <a:latin typeface="Aptos"/>
                        </a:rPr>
                        <a:t>Environment</a:t>
                      </a:r>
                    </a:p>
                  </a:txBody>
                  <a:tcPr marL="73152" marR="73152">
                    <a:solidFill>
                      <a:srgbClr val="F3F6FA"/>
                    </a:solidFill>
                  </a:tcPr>
                </a:tc>
                <a:tc>
                  <a:txBody>
                    <a:bodyPr/>
                    <a:lstStyle/>
                    <a:p>
                      <a:pPr algn="l"/>
                      <a:r>
                        <a:rPr sz="1200">
                          <a:solidFill>
                            <a:srgbClr val="0F172A"/>
                          </a:solidFill>
                          <a:latin typeface="Aptos"/>
                        </a:rPr>
                        <a:t>Production or Test</a:t>
                      </a:r>
                    </a:p>
                  </a:txBody>
                  <a:tcPr marL="73152" marR="73152">
                    <a:solidFill>
                      <a:srgbClr val="F3F6FA"/>
                    </a:solidFill>
                  </a:tcPr>
                </a:tc>
                <a:extLst>
                  <a:ext uri="{0D108BD9-81ED-4DB2-BD59-A6C34878D82A}">
                    <a16:rowId xmlns:a16="http://schemas.microsoft.com/office/drawing/2014/main" val="10002"/>
                  </a:ext>
                </a:extLst>
              </a:tr>
              <a:tr h="548640">
                <a:tc>
                  <a:txBody>
                    <a:bodyPr/>
                    <a:lstStyle/>
                    <a:p>
                      <a:pPr algn="l"/>
                      <a:r>
                        <a:rPr sz="1200">
                          <a:solidFill>
                            <a:srgbClr val="0F172A"/>
                          </a:solidFill>
                          <a:latin typeface="Aptos"/>
                        </a:rPr>
                        <a:t>Version</a:t>
                      </a:r>
                    </a:p>
                  </a:txBody>
                  <a:tcPr marL="73152" marR="73152">
                    <a:solidFill>
                      <a:srgbClr val="FFFFFF"/>
                    </a:solidFill>
                  </a:tcPr>
                </a:tc>
                <a:tc>
                  <a:txBody>
                    <a:bodyPr/>
                    <a:lstStyle/>
                    <a:p>
                      <a:pPr algn="l"/>
                      <a:r>
                        <a:rPr sz="1200">
                          <a:solidFill>
                            <a:srgbClr val="0F172A"/>
                          </a:solidFill>
                          <a:latin typeface="Aptos"/>
                        </a:rPr>
                        <a:t>Installed product version</a:t>
                      </a:r>
                    </a:p>
                  </a:txBody>
                  <a:tcPr marL="73152" marR="73152">
                    <a:solidFill>
                      <a:srgbClr val="FFFFFF"/>
                    </a:solidFill>
                  </a:tcPr>
                </a:tc>
                <a:extLst>
                  <a:ext uri="{0D108BD9-81ED-4DB2-BD59-A6C34878D82A}">
                    <a16:rowId xmlns:a16="http://schemas.microsoft.com/office/drawing/2014/main" val="10003"/>
                  </a:ext>
                </a:extLst>
              </a:tr>
              <a:tr h="548640">
                <a:tc>
                  <a:txBody>
                    <a:bodyPr/>
                    <a:lstStyle/>
                    <a:p>
                      <a:pPr algn="l"/>
                      <a:r>
                        <a:rPr sz="1200">
                          <a:solidFill>
                            <a:srgbClr val="0F172A"/>
                          </a:solidFill>
                          <a:latin typeface="Aptos"/>
                        </a:rPr>
                        <a:t>Installation Type</a:t>
                      </a:r>
                    </a:p>
                  </a:txBody>
                  <a:tcPr marL="73152" marR="73152">
                    <a:solidFill>
                      <a:srgbClr val="F3F6FA"/>
                    </a:solidFill>
                  </a:tcPr>
                </a:tc>
                <a:tc>
                  <a:txBody>
                    <a:bodyPr/>
                    <a:lstStyle/>
                    <a:p>
                      <a:pPr algn="l"/>
                      <a:r>
                        <a:rPr sz="1200" dirty="0">
                          <a:solidFill>
                            <a:srgbClr val="0F172A"/>
                          </a:solidFill>
                          <a:latin typeface="Aptos"/>
                        </a:rPr>
                        <a:t>PACS Only / All-In-One /</a:t>
                      </a:r>
                    </a:p>
                  </a:txBody>
                  <a:tcPr marL="73152" marR="73152">
                    <a:solidFill>
                      <a:srgbClr val="F3F6FA"/>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6492240" y="1508760"/>
            <a:ext cx="4114800" cy="25146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620255" y="16184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10" name="Rectangle 9"/>
          <p:cNvSpPr/>
          <p:nvPr/>
        </p:nvSpPr>
        <p:spPr>
          <a:xfrm>
            <a:off x="7168896" y="1627631"/>
            <a:ext cx="331012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Why it matters</a:t>
            </a:r>
          </a:p>
        </p:txBody>
      </p:sp>
      <p:sp>
        <p:nvSpPr>
          <p:cNvPr id="11" name="Rectangle 10"/>
          <p:cNvSpPr/>
          <p:nvPr/>
        </p:nvSpPr>
        <p:spPr>
          <a:xfrm>
            <a:off x="6656831" y="2039112"/>
            <a:ext cx="3785615" cy="19202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Customer and environment details route the issue correctly, reveal version-specific behavior, and prevent Development from investigating the wrong installation.</a:t>
            </a:r>
          </a:p>
        </p:txBody>
      </p:sp>
      <p:sp>
        <p:nvSpPr>
          <p:cNvPr id="12" name="Rounded Rectangle 11"/>
          <p:cNvSpPr/>
          <p:nvPr/>
        </p:nvSpPr>
        <p:spPr>
          <a:xfrm>
            <a:off x="914400" y="4892040"/>
            <a:ext cx="9966960" cy="594360"/>
          </a:xfrm>
          <a:prstGeom prst="roundRect">
            <a:avLst/>
          </a:prstGeom>
          <a:solidFill>
            <a:srgbClr val="FFF7DB"/>
          </a:solidFill>
          <a:ln w="15240">
            <a:solidFill>
              <a:srgbClr val="F2B83A"/>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F2B83A"/>
                </a:solidFill>
                <a:latin typeface="Aptos Display"/>
              </a:rPr>
              <a:t>Escalation standard</a:t>
            </a:r>
          </a:p>
          <a:p>
            <a:pPr>
              <a:spcBef>
                <a:spcPts val="500"/>
              </a:spcBef>
            </a:pPr>
            <a:r>
              <a:rPr sz="1300">
                <a:solidFill>
                  <a:srgbClr val="0F172A"/>
                </a:solidFill>
                <a:latin typeface="Aptos"/>
              </a:rPr>
              <a:t>If Support cannot identify the version and environment, the ticket is not ready for Development unless it is a confirmed outage.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Access and Upgrade Information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extLst>
              <p:ext uri="{D42A27DB-BD31-4B8C-83A1-F6EECF244321}">
                <p14:modId xmlns:p14="http://schemas.microsoft.com/office/powerpoint/2010/main" val="1911037412"/>
              </p:ext>
            </p:extLst>
          </p:nvPr>
        </p:nvGraphicFramePr>
        <p:xfrm>
          <a:off x="822960" y="1417320"/>
          <a:ext cx="5257800" cy="1133856"/>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tblGrid>
              <a:tr h="566928">
                <a:tc>
                  <a:txBody>
                    <a:bodyPr/>
                    <a:lstStyle/>
                    <a:p>
                      <a:pPr algn="ctr"/>
                      <a:r>
                        <a:rPr sz="1100" b="1">
                          <a:solidFill>
                            <a:srgbClr val="FFFFFF"/>
                          </a:solidFill>
                          <a:latin typeface="Aptos"/>
                        </a:rPr>
                        <a:t>Access Information</a:t>
                      </a:r>
                    </a:p>
                  </a:txBody>
                  <a:tcPr>
                    <a:solidFill>
                      <a:srgbClr val="122D4D"/>
                    </a:solidFill>
                  </a:tcPr>
                </a:tc>
                <a:tc>
                  <a:txBody>
                    <a:bodyPr/>
                    <a:lstStyle/>
                    <a:p>
                      <a:pPr algn="ctr"/>
                      <a:r>
                        <a:rPr sz="1100" b="1">
                          <a:solidFill>
                            <a:srgbClr val="FFFFFF"/>
                          </a:solidFill>
                          <a:latin typeface="Aptos"/>
                        </a:rPr>
                        <a:t>Required detail</a:t>
                      </a:r>
                    </a:p>
                  </a:txBody>
                  <a:tcPr>
                    <a:solidFill>
                      <a:srgbClr val="122D4D"/>
                    </a:solidFill>
                  </a:tcPr>
                </a:tc>
                <a:extLst>
                  <a:ext uri="{0D108BD9-81ED-4DB2-BD59-A6C34878D82A}">
                    <a16:rowId xmlns:a16="http://schemas.microsoft.com/office/drawing/2014/main" val="10000"/>
                  </a:ext>
                </a:extLst>
              </a:tr>
              <a:tr h="566928">
                <a:tc>
                  <a:txBody>
                    <a:bodyPr/>
                    <a:lstStyle/>
                    <a:p>
                      <a:pPr algn="l"/>
                      <a:r>
                        <a:rPr sz="1100">
                          <a:solidFill>
                            <a:srgbClr val="0F172A"/>
                          </a:solidFill>
                          <a:latin typeface="Aptos"/>
                        </a:rPr>
                        <a:t>Server access method</a:t>
                      </a:r>
                    </a:p>
                  </a:txBody>
                  <a:tcPr marL="73152" marR="73152">
                    <a:solidFill>
                      <a:srgbClr val="F3F6FA"/>
                    </a:solidFill>
                  </a:tcPr>
                </a:tc>
                <a:tc>
                  <a:txBody>
                    <a:bodyPr/>
                    <a:lstStyle/>
                    <a:p>
                      <a:pPr algn="l"/>
                      <a:r>
                        <a:rPr sz="1100" dirty="0">
                          <a:solidFill>
                            <a:srgbClr val="0F172A"/>
                          </a:solidFill>
                          <a:latin typeface="Aptos"/>
                        </a:rPr>
                        <a:t>How support/dev can access</a:t>
                      </a:r>
                    </a:p>
                  </a:txBody>
                  <a:tcPr marL="73152" marR="73152">
                    <a:solidFill>
                      <a:srgbClr val="F3F6FA"/>
                    </a:solidFill>
                  </a:tcPr>
                </a:tc>
                <a:extLst>
                  <a:ext uri="{0D108BD9-81ED-4DB2-BD59-A6C34878D82A}">
                    <a16:rowId xmlns:a16="http://schemas.microsoft.com/office/drawing/2014/main" val="10002"/>
                  </a:ext>
                </a:extLst>
              </a:tr>
            </a:tbl>
          </a:graphicData>
        </a:graphic>
      </p:graphicFrame>
      <p:graphicFrame>
        <p:nvGraphicFramePr>
          <p:cNvPr id="8" name="Table 7"/>
          <p:cNvGraphicFramePr>
            <a:graphicFrameLocks noGrp="1"/>
          </p:cNvGraphicFramePr>
          <p:nvPr/>
        </p:nvGraphicFramePr>
        <p:xfrm>
          <a:off x="6400800" y="1417320"/>
          <a:ext cx="4892040" cy="2286000"/>
        </p:xfrm>
        <a:graphic>
          <a:graphicData uri="http://schemas.openxmlformats.org/drawingml/2006/table">
            <a:tbl>
              <a:tblPr firstRow="1" bandRow="1">
                <a:tableStyleId>{5C22544A-7EE6-4342-B048-85BDC9FD1C3A}</a:tableStyleId>
              </a:tblPr>
              <a:tblGrid>
                <a:gridCol w="21488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571500">
                <a:tc>
                  <a:txBody>
                    <a:bodyPr/>
                    <a:lstStyle/>
                    <a:p>
                      <a:pPr algn="ctr"/>
                      <a:r>
                        <a:rPr sz="1100" b="1">
                          <a:solidFill>
                            <a:srgbClr val="FFFFFF"/>
                          </a:solidFill>
                          <a:latin typeface="Aptos"/>
                        </a:rPr>
                        <a:t>Upgrade Information</a:t>
                      </a:r>
                    </a:p>
                  </a:txBody>
                  <a:tcPr>
                    <a:solidFill>
                      <a:srgbClr val="122D4D"/>
                    </a:solidFill>
                  </a:tcPr>
                </a:tc>
                <a:tc>
                  <a:txBody>
                    <a:bodyPr/>
                    <a:lstStyle/>
                    <a:p>
                      <a:pPr algn="ctr"/>
                      <a:r>
                        <a:rPr sz="1100" b="1">
                          <a:solidFill>
                            <a:srgbClr val="FFFFFF"/>
                          </a:solidFill>
                          <a:latin typeface="Aptos"/>
                        </a:rPr>
                        <a:t>Required detail</a:t>
                      </a:r>
                    </a:p>
                  </a:txBody>
                  <a:tcPr>
                    <a:solidFill>
                      <a:srgbClr val="122D4D"/>
                    </a:solidFill>
                  </a:tcPr>
                </a:tc>
                <a:extLst>
                  <a:ext uri="{0D108BD9-81ED-4DB2-BD59-A6C34878D82A}">
                    <a16:rowId xmlns:a16="http://schemas.microsoft.com/office/drawing/2014/main" val="10000"/>
                  </a:ext>
                </a:extLst>
              </a:tr>
              <a:tr h="571500">
                <a:tc>
                  <a:txBody>
                    <a:bodyPr/>
                    <a:lstStyle/>
                    <a:p>
                      <a:pPr algn="l"/>
                      <a:r>
                        <a:rPr sz="1100">
                          <a:solidFill>
                            <a:srgbClr val="0F172A"/>
                          </a:solidFill>
                          <a:latin typeface="Aptos"/>
                        </a:rPr>
                        <a:t>Last upgrade date</a:t>
                      </a:r>
                    </a:p>
                  </a:txBody>
                  <a:tcPr marL="73152" marR="73152">
                    <a:solidFill>
                      <a:srgbClr val="FFFFFF"/>
                    </a:solidFill>
                  </a:tcPr>
                </a:tc>
                <a:tc>
                  <a:txBody>
                    <a:bodyPr/>
                    <a:lstStyle/>
                    <a:p>
                      <a:pPr algn="l"/>
                      <a:r>
                        <a:rPr sz="1100">
                          <a:solidFill>
                            <a:srgbClr val="0F172A"/>
                          </a:solidFill>
                          <a:latin typeface="Aptos"/>
                        </a:rPr>
                        <a:t>Date/time if known</a:t>
                      </a:r>
                    </a:p>
                  </a:txBody>
                  <a:tcPr marL="73152" marR="73152">
                    <a:solidFill>
                      <a:srgbClr val="FFFFFF"/>
                    </a:solidFill>
                  </a:tcPr>
                </a:tc>
                <a:extLst>
                  <a:ext uri="{0D108BD9-81ED-4DB2-BD59-A6C34878D82A}">
                    <a16:rowId xmlns:a16="http://schemas.microsoft.com/office/drawing/2014/main" val="10001"/>
                  </a:ext>
                </a:extLst>
              </a:tr>
              <a:tr h="571500">
                <a:tc>
                  <a:txBody>
                    <a:bodyPr/>
                    <a:lstStyle/>
                    <a:p>
                      <a:pPr algn="l"/>
                      <a:r>
                        <a:rPr sz="1100">
                          <a:solidFill>
                            <a:srgbClr val="0F172A"/>
                          </a:solidFill>
                          <a:latin typeface="Aptos"/>
                        </a:rPr>
                        <a:t>Upgrade version</a:t>
                      </a:r>
                    </a:p>
                  </a:txBody>
                  <a:tcPr marL="73152" marR="73152">
                    <a:solidFill>
                      <a:srgbClr val="F3F6FA"/>
                    </a:solidFill>
                  </a:tcPr>
                </a:tc>
                <a:tc>
                  <a:txBody>
                    <a:bodyPr/>
                    <a:lstStyle/>
                    <a:p>
                      <a:pPr algn="l"/>
                      <a:r>
                        <a:rPr sz="1100">
                          <a:solidFill>
                            <a:srgbClr val="0F172A"/>
                          </a:solidFill>
                          <a:latin typeface="Aptos"/>
                        </a:rPr>
                        <a:t>From/to version</a:t>
                      </a:r>
                    </a:p>
                  </a:txBody>
                  <a:tcPr marL="73152" marR="73152">
                    <a:solidFill>
                      <a:srgbClr val="F3F6FA"/>
                    </a:solidFill>
                  </a:tcPr>
                </a:tc>
                <a:extLst>
                  <a:ext uri="{0D108BD9-81ED-4DB2-BD59-A6C34878D82A}">
                    <a16:rowId xmlns:a16="http://schemas.microsoft.com/office/drawing/2014/main" val="10002"/>
                  </a:ext>
                </a:extLst>
              </a:tr>
              <a:tr h="571500">
                <a:tc>
                  <a:txBody>
                    <a:bodyPr/>
                    <a:lstStyle/>
                    <a:p>
                      <a:pPr algn="l"/>
                      <a:r>
                        <a:rPr sz="1100">
                          <a:solidFill>
                            <a:srgbClr val="0F172A"/>
                          </a:solidFill>
                          <a:latin typeface="Aptos"/>
                        </a:rPr>
                        <a:t>Recent changes?</a:t>
                      </a:r>
                    </a:p>
                  </a:txBody>
                  <a:tcPr marL="73152" marR="73152">
                    <a:solidFill>
                      <a:srgbClr val="FFFFFF"/>
                    </a:solidFill>
                  </a:tcPr>
                </a:tc>
                <a:tc>
                  <a:txBody>
                    <a:bodyPr/>
                    <a:lstStyle/>
                    <a:p>
                      <a:pPr algn="l"/>
                      <a:r>
                        <a:rPr sz="1100">
                          <a:solidFill>
                            <a:srgbClr val="0F172A"/>
                          </a:solidFill>
                          <a:latin typeface="Aptos"/>
                        </a:rPr>
                        <a:t>Config, network, security, data, workflow</a:t>
                      </a:r>
                    </a:p>
                  </a:txBody>
                  <a:tcPr marL="73152" marR="73152">
                    <a:solidFill>
                      <a:srgbClr val="FFFFFF"/>
                    </a:solidFill>
                  </a:tcPr>
                </a:tc>
                <a:extLst>
                  <a:ext uri="{0D108BD9-81ED-4DB2-BD59-A6C34878D82A}">
                    <a16:rowId xmlns:a16="http://schemas.microsoft.com/office/drawing/2014/main" val="10003"/>
                  </a:ext>
                </a:extLst>
              </a:tr>
            </a:tbl>
          </a:graphicData>
        </a:graphic>
      </p:graphicFrame>
      <p:sp>
        <p:nvSpPr>
          <p:cNvPr id="9" name="Rounded Rectangle 8"/>
          <p:cNvSpPr/>
          <p:nvPr/>
        </p:nvSpPr>
        <p:spPr>
          <a:xfrm>
            <a:off x="914400" y="5029200"/>
            <a:ext cx="9966960" cy="502920"/>
          </a:xfrm>
          <a:prstGeom prst="roundRect">
            <a:avLst/>
          </a:prstGeom>
          <a:solidFill>
            <a:srgbClr val="E2EF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1F6FC4"/>
                </a:solidFill>
                <a:latin typeface="Aptos Display"/>
              </a:rPr>
              <a:t>Key point</a:t>
            </a:r>
          </a:p>
          <a:p>
            <a:pPr>
              <a:spcBef>
                <a:spcPts val="500"/>
              </a:spcBef>
            </a:pPr>
            <a:r>
              <a:rPr sz="1300">
                <a:solidFill>
                  <a:srgbClr val="0F172A"/>
                </a:solidFill>
                <a:latin typeface="Aptos"/>
              </a:rPr>
              <a:t>Access constraints and recent changes often determine whether investigation can begin immediately or needs coordination.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Issue Classification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77240" y="1325880"/>
            <a:ext cx="4754880" cy="82296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0525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9" name="Rectangle 8"/>
          <p:cNvSpPr/>
          <p:nvPr/>
        </p:nvSpPr>
        <p:spPr>
          <a:xfrm>
            <a:off x="1453895" y="144475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Question</a:t>
            </a:r>
          </a:p>
        </p:txBody>
      </p:sp>
      <p:sp>
        <p:nvSpPr>
          <p:cNvPr id="10" name="Rectangle 9"/>
          <p:cNvSpPr/>
          <p:nvPr/>
        </p:nvSpPr>
        <p:spPr>
          <a:xfrm>
            <a:off x="941832" y="1856231"/>
            <a:ext cx="4425696"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User is asking how functionality works.</a:t>
            </a:r>
          </a:p>
        </p:txBody>
      </p:sp>
      <p:sp>
        <p:nvSpPr>
          <p:cNvPr id="11" name="Rounded Rectangle 10"/>
          <p:cNvSpPr/>
          <p:nvPr/>
        </p:nvSpPr>
        <p:spPr>
          <a:xfrm>
            <a:off x="6309359" y="1325880"/>
            <a:ext cx="4754880" cy="82296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437375"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3" name="Rectangle 12"/>
          <p:cNvSpPr/>
          <p:nvPr/>
        </p:nvSpPr>
        <p:spPr>
          <a:xfrm>
            <a:off x="6986016" y="144475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Configuration Request</a:t>
            </a:r>
          </a:p>
        </p:txBody>
      </p:sp>
      <p:sp>
        <p:nvSpPr>
          <p:cNvPr id="14" name="Rectangle 13"/>
          <p:cNvSpPr/>
          <p:nvPr/>
        </p:nvSpPr>
        <p:spPr>
          <a:xfrm>
            <a:off x="6473951" y="1856231"/>
            <a:ext cx="4425696"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Expected behavior but setup is needed.</a:t>
            </a:r>
          </a:p>
        </p:txBody>
      </p:sp>
      <p:sp>
        <p:nvSpPr>
          <p:cNvPr id="15" name="Rounded Rectangle 14"/>
          <p:cNvSpPr/>
          <p:nvPr/>
        </p:nvSpPr>
        <p:spPr>
          <a:xfrm>
            <a:off x="777240" y="2423160"/>
            <a:ext cx="4754880" cy="82296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05256" y="25328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F2B83A"/>
                </a:solidFill>
                <a:latin typeface="Aptos"/>
              </a:rPr>
              <a:t>💡</a:t>
            </a:r>
          </a:p>
        </p:txBody>
      </p:sp>
      <p:sp>
        <p:nvSpPr>
          <p:cNvPr id="17" name="Rectangle 16"/>
          <p:cNvSpPr/>
          <p:nvPr/>
        </p:nvSpPr>
        <p:spPr>
          <a:xfrm>
            <a:off x="1453895" y="254203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New Feature Request</a:t>
            </a:r>
          </a:p>
        </p:txBody>
      </p:sp>
      <p:sp>
        <p:nvSpPr>
          <p:cNvPr id="18" name="Rectangle 17"/>
          <p:cNvSpPr/>
          <p:nvPr/>
        </p:nvSpPr>
        <p:spPr>
          <a:xfrm>
            <a:off x="941832" y="2953512"/>
            <a:ext cx="4425696"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Enhancement request.</a:t>
            </a:r>
          </a:p>
        </p:txBody>
      </p:sp>
      <p:sp>
        <p:nvSpPr>
          <p:cNvPr id="19" name="Rounded Rectangle 18"/>
          <p:cNvSpPr/>
          <p:nvPr/>
        </p:nvSpPr>
        <p:spPr>
          <a:xfrm>
            <a:off x="6309359" y="2423160"/>
            <a:ext cx="4754880" cy="82296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437375" y="253288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C53030"/>
                </a:solidFill>
                <a:latin typeface="Aptos"/>
              </a:rPr>
              <a:t>🐞</a:t>
            </a:r>
          </a:p>
        </p:txBody>
      </p:sp>
      <p:sp>
        <p:nvSpPr>
          <p:cNvPr id="21" name="Rectangle 20"/>
          <p:cNvSpPr/>
          <p:nvPr/>
        </p:nvSpPr>
        <p:spPr>
          <a:xfrm>
            <a:off x="6986016" y="254203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Bug/Error</a:t>
            </a:r>
          </a:p>
        </p:txBody>
      </p:sp>
      <p:sp>
        <p:nvSpPr>
          <p:cNvPr id="22" name="Rectangle 21"/>
          <p:cNvSpPr/>
          <p:nvPr/>
        </p:nvSpPr>
        <p:spPr>
          <a:xfrm>
            <a:off x="6473951" y="2953512"/>
            <a:ext cx="4425696"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100" b="0" i="0">
                <a:solidFill>
                  <a:srgbClr val="0F172A"/>
                </a:solidFill>
                <a:latin typeface="Aptos"/>
              </a:rPr>
              <a:t>System is not behaving as expected.</a:t>
            </a:r>
          </a:p>
        </p:txBody>
      </p:sp>
      <p:sp>
        <p:nvSpPr>
          <p:cNvPr id="23" name="Rounded Rectangle 22"/>
          <p:cNvSpPr/>
          <p:nvPr/>
        </p:nvSpPr>
        <p:spPr>
          <a:xfrm>
            <a:off x="914400" y="4160520"/>
            <a:ext cx="2103120" cy="502920"/>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Is behavior expected?</a:t>
            </a:r>
          </a:p>
        </p:txBody>
      </p:sp>
      <p:cxnSp>
        <p:nvCxnSpPr>
          <p:cNvPr id="24" name="Connector 23"/>
          <p:cNvCxnSpPr/>
          <p:nvPr/>
        </p:nvCxnSpPr>
        <p:spPr>
          <a:xfrm>
            <a:off x="3017520" y="4407408"/>
            <a:ext cx="960119" cy="0"/>
          </a:xfrm>
          <a:prstGeom prst="line">
            <a:avLst/>
          </a:prstGeom>
          <a:ln w="25400">
            <a:solidFill>
              <a:srgbClr val="1F6FC4"/>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977639" y="4160520"/>
            <a:ext cx="2286000" cy="502920"/>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Setup needed?</a:t>
            </a:r>
          </a:p>
        </p:txBody>
      </p:sp>
      <p:cxnSp>
        <p:nvCxnSpPr>
          <p:cNvPr id="26" name="Connector 25"/>
          <p:cNvCxnSpPr/>
          <p:nvPr/>
        </p:nvCxnSpPr>
        <p:spPr>
          <a:xfrm>
            <a:off x="6263640" y="4407408"/>
            <a:ext cx="960120" cy="0"/>
          </a:xfrm>
          <a:prstGeom prst="line">
            <a:avLst/>
          </a:prstGeom>
          <a:ln w="25400">
            <a:solidFill>
              <a:srgbClr val="1F9756"/>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223760" y="4160520"/>
            <a:ext cx="2057400" cy="502920"/>
          </a:xfrm>
          <a:prstGeom prst="roundRect">
            <a:avLst/>
          </a:prstGeom>
          <a:solidFill>
            <a:srgbClr val="F2B83A"/>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New capability?</a:t>
            </a:r>
          </a:p>
        </p:txBody>
      </p:sp>
      <p:cxnSp>
        <p:nvCxnSpPr>
          <p:cNvPr id="28" name="Connector 27"/>
          <p:cNvCxnSpPr/>
          <p:nvPr/>
        </p:nvCxnSpPr>
        <p:spPr>
          <a:xfrm>
            <a:off x="9281160" y="4407408"/>
            <a:ext cx="868680" cy="0"/>
          </a:xfrm>
          <a:prstGeom prst="line">
            <a:avLst/>
          </a:prstGeom>
          <a:ln w="25400">
            <a:solidFill>
              <a:srgbClr val="C5303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149840" y="4160520"/>
            <a:ext cx="1051560" cy="50292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200" b="1" i="0">
                <a:solidFill>
                  <a:srgbClr val="FFFFFF"/>
                </a:solidFill>
                <a:latin typeface="Aptos"/>
              </a:rPr>
              <a:t>Bug?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Scope Assessment</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822960" y="1325880"/>
          <a:ext cx="10469880" cy="384048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543800">
                  <a:extLst>
                    <a:ext uri="{9D8B030D-6E8A-4147-A177-3AD203B41FA5}">
                      <a16:colId xmlns:a16="http://schemas.microsoft.com/office/drawing/2014/main" val="20001"/>
                    </a:ext>
                  </a:extLst>
                </a:gridCol>
              </a:tblGrid>
              <a:tr h="768096">
                <a:tc>
                  <a:txBody>
                    <a:bodyPr/>
                    <a:lstStyle/>
                    <a:p>
                      <a:pPr algn="ctr"/>
                      <a:r>
                        <a:rPr sz="1500" b="1">
                          <a:solidFill>
                            <a:srgbClr val="FFFFFF"/>
                          </a:solidFill>
                          <a:latin typeface="Aptos"/>
                        </a:rPr>
                        <a:t>Scope dimension</a:t>
                      </a:r>
                    </a:p>
                  </a:txBody>
                  <a:tcPr>
                    <a:solidFill>
                      <a:srgbClr val="122D4D"/>
                    </a:solidFill>
                  </a:tcPr>
                </a:tc>
                <a:tc>
                  <a:txBody>
                    <a:bodyPr/>
                    <a:lstStyle/>
                    <a:p>
                      <a:pPr algn="ctr"/>
                      <a:r>
                        <a:rPr sz="1500" b="1">
                          <a:solidFill>
                            <a:srgbClr val="FFFFFF"/>
                          </a:solidFill>
                          <a:latin typeface="Aptos"/>
                        </a:rPr>
                        <a:t>Required answer options</a:t>
                      </a:r>
                    </a:p>
                  </a:txBody>
                  <a:tcPr>
                    <a:solidFill>
                      <a:srgbClr val="122D4D"/>
                    </a:solidFill>
                  </a:tcPr>
                </a:tc>
                <a:extLst>
                  <a:ext uri="{0D108BD9-81ED-4DB2-BD59-A6C34878D82A}">
                    <a16:rowId xmlns:a16="http://schemas.microsoft.com/office/drawing/2014/main" val="10000"/>
                  </a:ext>
                </a:extLst>
              </a:tr>
              <a:tr h="768096">
                <a:tc>
                  <a:txBody>
                    <a:bodyPr/>
                    <a:lstStyle/>
                    <a:p>
                      <a:pPr algn="l"/>
                      <a:r>
                        <a:rPr sz="1500">
                          <a:solidFill>
                            <a:srgbClr val="0F172A"/>
                          </a:solidFill>
                          <a:latin typeface="Aptos"/>
                        </a:rPr>
                        <a:t>Users Impacted</a:t>
                      </a:r>
                    </a:p>
                  </a:txBody>
                  <a:tcPr marL="73152" marR="73152">
                    <a:solidFill>
                      <a:srgbClr val="FFFFFF"/>
                    </a:solidFill>
                  </a:tcPr>
                </a:tc>
                <a:tc>
                  <a:txBody>
                    <a:bodyPr/>
                    <a:lstStyle/>
                    <a:p>
                      <a:pPr algn="l"/>
                      <a:r>
                        <a:rPr sz="1500">
                          <a:solidFill>
                            <a:srgbClr val="0F172A"/>
                          </a:solidFill>
                          <a:latin typeface="Aptos"/>
                        </a:rPr>
                        <a:t>One user • Group of users • All users</a:t>
                      </a:r>
                    </a:p>
                  </a:txBody>
                  <a:tcPr marL="73152" marR="73152">
                    <a:solidFill>
                      <a:srgbClr val="FFFFFF"/>
                    </a:solidFill>
                  </a:tcPr>
                </a:tc>
                <a:extLst>
                  <a:ext uri="{0D108BD9-81ED-4DB2-BD59-A6C34878D82A}">
                    <a16:rowId xmlns:a16="http://schemas.microsoft.com/office/drawing/2014/main" val="10001"/>
                  </a:ext>
                </a:extLst>
              </a:tr>
              <a:tr h="768096">
                <a:tc>
                  <a:txBody>
                    <a:bodyPr/>
                    <a:lstStyle/>
                    <a:p>
                      <a:pPr algn="l"/>
                      <a:r>
                        <a:rPr sz="1500">
                          <a:solidFill>
                            <a:srgbClr val="0F172A"/>
                          </a:solidFill>
                          <a:latin typeface="Aptos"/>
                        </a:rPr>
                        <a:t>Exams Impacted</a:t>
                      </a:r>
                    </a:p>
                  </a:txBody>
                  <a:tcPr marL="73152" marR="73152">
                    <a:solidFill>
                      <a:srgbClr val="F3F6FA"/>
                    </a:solidFill>
                  </a:tcPr>
                </a:tc>
                <a:tc>
                  <a:txBody>
                    <a:bodyPr/>
                    <a:lstStyle/>
                    <a:p>
                      <a:pPr algn="l"/>
                      <a:r>
                        <a:rPr sz="1500">
                          <a:solidFill>
                            <a:srgbClr val="0F172A"/>
                          </a:solidFill>
                          <a:latin typeface="Aptos"/>
                        </a:rPr>
                        <a:t>One exam • Multiple exams • All exams</a:t>
                      </a:r>
                    </a:p>
                  </a:txBody>
                  <a:tcPr marL="73152" marR="73152">
                    <a:solidFill>
                      <a:srgbClr val="F3F6FA"/>
                    </a:solidFill>
                  </a:tcPr>
                </a:tc>
                <a:extLst>
                  <a:ext uri="{0D108BD9-81ED-4DB2-BD59-A6C34878D82A}">
                    <a16:rowId xmlns:a16="http://schemas.microsoft.com/office/drawing/2014/main" val="10002"/>
                  </a:ext>
                </a:extLst>
              </a:tr>
              <a:tr h="768096">
                <a:tc>
                  <a:txBody>
                    <a:bodyPr/>
                    <a:lstStyle/>
                    <a:p>
                      <a:pPr algn="l"/>
                      <a:r>
                        <a:rPr sz="1500">
                          <a:solidFill>
                            <a:srgbClr val="0F172A"/>
                          </a:solidFill>
                          <a:latin typeface="Aptos"/>
                        </a:rPr>
                        <a:t>Exam Type</a:t>
                      </a:r>
                    </a:p>
                  </a:txBody>
                  <a:tcPr marL="73152" marR="73152">
                    <a:solidFill>
                      <a:srgbClr val="FFFFFF"/>
                    </a:solidFill>
                  </a:tcPr>
                </a:tc>
                <a:tc>
                  <a:txBody>
                    <a:bodyPr/>
                    <a:lstStyle/>
                    <a:p>
                      <a:pPr algn="l"/>
                      <a:r>
                        <a:rPr sz="1500">
                          <a:solidFill>
                            <a:srgbClr val="0F172A"/>
                          </a:solidFill>
                          <a:latin typeface="Aptos"/>
                        </a:rPr>
                        <a:t>Echo • Vascular • Cath • Nuclear • All types</a:t>
                      </a:r>
                    </a:p>
                  </a:txBody>
                  <a:tcPr marL="73152" marR="73152">
                    <a:solidFill>
                      <a:srgbClr val="FFFFFF"/>
                    </a:solidFill>
                  </a:tcPr>
                </a:tc>
                <a:extLst>
                  <a:ext uri="{0D108BD9-81ED-4DB2-BD59-A6C34878D82A}">
                    <a16:rowId xmlns:a16="http://schemas.microsoft.com/office/drawing/2014/main" val="10003"/>
                  </a:ext>
                </a:extLst>
              </a:tr>
              <a:tr h="768096">
                <a:tc>
                  <a:txBody>
                    <a:bodyPr/>
                    <a:lstStyle/>
                    <a:p>
                      <a:pPr algn="l"/>
                      <a:r>
                        <a:rPr sz="1500">
                          <a:solidFill>
                            <a:srgbClr val="0F172A"/>
                          </a:solidFill>
                          <a:latin typeface="Aptos"/>
                        </a:rPr>
                        <a:t>Location</a:t>
                      </a:r>
                    </a:p>
                  </a:txBody>
                  <a:tcPr marL="73152" marR="73152">
                    <a:solidFill>
                      <a:srgbClr val="F3F6FA"/>
                    </a:solidFill>
                  </a:tcPr>
                </a:tc>
                <a:tc>
                  <a:txBody>
                    <a:bodyPr/>
                    <a:lstStyle/>
                    <a:p>
                      <a:pPr algn="l"/>
                      <a:r>
                        <a:rPr sz="1500">
                          <a:solidFill>
                            <a:srgbClr val="0F172A"/>
                          </a:solidFill>
                          <a:latin typeface="Aptos"/>
                        </a:rPr>
                        <a:t>One site • Multiple sites</a:t>
                      </a:r>
                    </a:p>
                  </a:txBody>
                  <a:tcPr marL="73152" marR="73152">
                    <a:solidFill>
                      <a:srgbClr val="F3F6FA"/>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914400" y="5486400"/>
            <a:ext cx="9966960" cy="502920"/>
          </a:xfrm>
          <a:prstGeom prst="roundRect">
            <a:avLst/>
          </a:prstGeom>
          <a:solidFill>
            <a:srgbClr val="E2F5EA"/>
          </a:solidFill>
          <a:ln w="15240">
            <a:solidFill>
              <a:srgbClr val="1F9756"/>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1F9756"/>
                </a:solidFill>
                <a:latin typeface="Aptos Display"/>
              </a:rPr>
              <a:t>Why scope matters</a:t>
            </a:r>
          </a:p>
          <a:p>
            <a:pPr>
              <a:spcBef>
                <a:spcPts val="500"/>
              </a:spcBef>
            </a:pPr>
            <a:r>
              <a:rPr sz="1300">
                <a:solidFill>
                  <a:srgbClr val="0F172A"/>
                </a:solidFill>
                <a:latin typeface="Aptos"/>
              </a:rPr>
              <a:t>Scope determines priority, routing, reproduction strategy, and whether the issue is likely configuration, data, environment, or code.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Required Logs</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777240" y="1325880"/>
          <a:ext cx="10607040" cy="4023360"/>
        </p:xfrm>
        <a:graphic>
          <a:graphicData uri="http://schemas.openxmlformats.org/drawingml/2006/table">
            <a:tbl>
              <a:tblPr firstRow="1" bandRow="1">
                <a:tableStyleId>{5C22544A-7EE6-4342-B048-85BDC9FD1C3A}</a:tableStyleId>
              </a:tblPr>
              <a:tblGrid>
                <a:gridCol w="214884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804672">
                <a:tc>
                  <a:txBody>
                    <a:bodyPr/>
                    <a:lstStyle/>
                    <a:p>
                      <a:pPr algn="ctr"/>
                      <a:r>
                        <a:rPr sz="1000" b="1">
                          <a:solidFill>
                            <a:srgbClr val="FFFFFF"/>
                          </a:solidFill>
                          <a:latin typeface="Aptos"/>
                        </a:rPr>
                        <a:t>Log type</a:t>
                      </a:r>
                    </a:p>
                  </a:txBody>
                  <a:tcPr>
                    <a:solidFill>
                      <a:srgbClr val="122D4D"/>
                    </a:solidFill>
                  </a:tcPr>
                </a:tc>
                <a:tc>
                  <a:txBody>
                    <a:bodyPr/>
                    <a:lstStyle/>
                    <a:p>
                      <a:pPr algn="ctr"/>
                      <a:r>
                        <a:rPr sz="1000" b="1">
                          <a:solidFill>
                            <a:srgbClr val="FFFFFF"/>
                          </a:solidFill>
                          <a:latin typeface="Aptos"/>
                        </a:rPr>
                        <a:t>When to attach</a:t>
                      </a:r>
                    </a:p>
                  </a:txBody>
                  <a:tcPr>
                    <a:solidFill>
                      <a:srgbClr val="122D4D"/>
                    </a:solidFill>
                  </a:tcPr>
                </a:tc>
                <a:tc>
                  <a:txBody>
                    <a:bodyPr/>
                    <a:lstStyle/>
                    <a:p>
                      <a:pPr algn="ctr"/>
                      <a:r>
                        <a:rPr sz="1000" b="1">
                          <a:solidFill>
                            <a:srgbClr val="FFFFFF"/>
                          </a:solidFill>
                          <a:latin typeface="Aptos"/>
                        </a:rPr>
                        <a:t>Standard</a:t>
                      </a:r>
                    </a:p>
                  </a:txBody>
                  <a:tcPr>
                    <a:solidFill>
                      <a:srgbClr val="122D4D"/>
                    </a:solidFill>
                  </a:tcPr>
                </a:tc>
                <a:extLst>
                  <a:ext uri="{0D108BD9-81ED-4DB2-BD59-A6C34878D82A}">
                    <a16:rowId xmlns:a16="http://schemas.microsoft.com/office/drawing/2014/main" val="10000"/>
                  </a:ext>
                </a:extLst>
              </a:tr>
              <a:tr h="804672">
                <a:tc>
                  <a:txBody>
                    <a:bodyPr/>
                    <a:lstStyle/>
                    <a:p>
                      <a:pPr algn="l"/>
                      <a:r>
                        <a:rPr sz="1000">
                          <a:solidFill>
                            <a:srgbClr val="0F172A"/>
                          </a:solidFill>
                          <a:latin typeface="Aptos"/>
                        </a:rPr>
                        <a:t>Application Logs</a:t>
                      </a:r>
                    </a:p>
                  </a:txBody>
                  <a:tcPr marL="73152" marR="73152">
                    <a:solidFill>
                      <a:srgbClr val="FFFFFF"/>
                    </a:solidFill>
                  </a:tcPr>
                </a:tc>
                <a:tc>
                  <a:txBody>
                    <a:bodyPr/>
                    <a:lstStyle/>
                    <a:p>
                      <a:pPr algn="l"/>
                      <a:r>
                        <a:rPr sz="1000">
                          <a:solidFill>
                            <a:srgbClr val="0F172A"/>
                          </a:solidFill>
                          <a:latin typeface="Aptos"/>
                        </a:rPr>
                        <a:t>Application errors, workflow failures</a:t>
                      </a:r>
                    </a:p>
                  </a:txBody>
                  <a:tcPr marL="73152" marR="73152">
                    <a:solidFill>
                      <a:srgbClr val="FFFFFF"/>
                    </a:solidFill>
                  </a:tcPr>
                </a:tc>
                <a:tc>
                  <a:txBody>
                    <a:bodyPr/>
                    <a:lstStyle/>
                    <a:p>
                      <a:pPr algn="l"/>
                      <a:r>
                        <a:rPr sz="1000">
                          <a:solidFill>
                            <a:srgbClr val="0F172A"/>
                          </a:solidFill>
                          <a:latin typeface="Aptos"/>
                        </a:rPr>
                        <a:t>Relevant timeframe only: 10 minutes before and after issue</a:t>
                      </a:r>
                    </a:p>
                  </a:txBody>
                  <a:tcPr marL="73152" marR="73152">
                    <a:solidFill>
                      <a:srgbClr val="FFFFFF"/>
                    </a:solidFill>
                  </a:tcPr>
                </a:tc>
                <a:extLst>
                  <a:ext uri="{0D108BD9-81ED-4DB2-BD59-A6C34878D82A}">
                    <a16:rowId xmlns:a16="http://schemas.microsoft.com/office/drawing/2014/main" val="10001"/>
                  </a:ext>
                </a:extLst>
              </a:tr>
              <a:tr h="804672">
                <a:tc>
                  <a:txBody>
                    <a:bodyPr/>
                    <a:lstStyle/>
                    <a:p>
                      <a:pPr algn="l"/>
                      <a:r>
                        <a:rPr sz="1000">
                          <a:solidFill>
                            <a:srgbClr val="0F172A"/>
                          </a:solidFill>
                          <a:latin typeface="Aptos"/>
                        </a:rPr>
                        <a:t>Browser Logs</a:t>
                      </a:r>
                    </a:p>
                  </a:txBody>
                  <a:tcPr marL="73152" marR="73152">
                    <a:solidFill>
                      <a:srgbClr val="F3F6FA"/>
                    </a:solidFill>
                  </a:tcPr>
                </a:tc>
                <a:tc>
                  <a:txBody>
                    <a:bodyPr/>
                    <a:lstStyle/>
                    <a:p>
                      <a:pPr algn="l"/>
                      <a:r>
                        <a:rPr sz="1000">
                          <a:solidFill>
                            <a:srgbClr val="0F172A"/>
                          </a:solidFill>
                          <a:latin typeface="Aptos"/>
                        </a:rPr>
                        <a:t>Client-side or UI issue</a:t>
                      </a:r>
                    </a:p>
                  </a:txBody>
                  <a:tcPr marL="73152" marR="73152">
                    <a:solidFill>
                      <a:srgbClr val="F3F6FA"/>
                    </a:solidFill>
                  </a:tcPr>
                </a:tc>
                <a:tc>
                  <a:txBody>
                    <a:bodyPr/>
                    <a:lstStyle/>
                    <a:p>
                      <a:pPr algn="l"/>
                      <a:r>
                        <a:rPr sz="1000">
                          <a:solidFill>
                            <a:srgbClr val="0F172A"/>
                          </a:solidFill>
                          <a:latin typeface="Aptos"/>
                        </a:rPr>
                        <a:t>Console errors and Network trace / HAR file when applicable</a:t>
                      </a:r>
                    </a:p>
                  </a:txBody>
                  <a:tcPr marL="73152" marR="73152">
                    <a:solidFill>
                      <a:srgbClr val="F3F6FA"/>
                    </a:solidFill>
                  </a:tcPr>
                </a:tc>
                <a:extLst>
                  <a:ext uri="{0D108BD9-81ED-4DB2-BD59-A6C34878D82A}">
                    <a16:rowId xmlns:a16="http://schemas.microsoft.com/office/drawing/2014/main" val="10002"/>
                  </a:ext>
                </a:extLst>
              </a:tr>
              <a:tr h="804672">
                <a:tc>
                  <a:txBody>
                    <a:bodyPr/>
                    <a:lstStyle/>
                    <a:p>
                      <a:pPr algn="l"/>
                      <a:r>
                        <a:rPr sz="1000">
                          <a:solidFill>
                            <a:srgbClr val="0F172A"/>
                          </a:solidFill>
                          <a:latin typeface="Aptos"/>
                        </a:rPr>
                        <a:t>Windows Event Logs</a:t>
                      </a:r>
                    </a:p>
                  </a:txBody>
                  <a:tcPr marL="73152" marR="73152">
                    <a:solidFill>
                      <a:srgbClr val="FFFFFF"/>
                    </a:solidFill>
                  </a:tcPr>
                </a:tc>
                <a:tc>
                  <a:txBody>
                    <a:bodyPr/>
                    <a:lstStyle/>
                    <a:p>
                      <a:pPr algn="l"/>
                      <a:r>
                        <a:rPr sz="1000">
                          <a:solidFill>
                            <a:srgbClr val="0F172A"/>
                          </a:solidFill>
                          <a:latin typeface="Aptos"/>
                        </a:rPr>
                        <a:t>Server-related symptoms</a:t>
                      </a:r>
                    </a:p>
                  </a:txBody>
                  <a:tcPr marL="73152" marR="73152">
                    <a:solidFill>
                      <a:srgbClr val="FFFFFF"/>
                    </a:solidFill>
                  </a:tcPr>
                </a:tc>
                <a:tc>
                  <a:txBody>
                    <a:bodyPr/>
                    <a:lstStyle/>
                    <a:p>
                      <a:pPr algn="l"/>
                      <a:r>
                        <a:rPr sz="1000">
                          <a:solidFill>
                            <a:srgbClr val="0F172A"/>
                          </a:solidFill>
                          <a:latin typeface="Aptos"/>
                        </a:rPr>
                        <a:t>Attach relevant application/system events</a:t>
                      </a:r>
                    </a:p>
                  </a:txBody>
                  <a:tcPr marL="73152" marR="73152">
                    <a:solidFill>
                      <a:srgbClr val="FFFFFF"/>
                    </a:solidFill>
                  </a:tcPr>
                </a:tc>
                <a:extLst>
                  <a:ext uri="{0D108BD9-81ED-4DB2-BD59-A6C34878D82A}">
                    <a16:rowId xmlns:a16="http://schemas.microsoft.com/office/drawing/2014/main" val="10003"/>
                  </a:ext>
                </a:extLst>
              </a:tr>
              <a:tr h="804672">
                <a:tc>
                  <a:txBody>
                    <a:bodyPr/>
                    <a:lstStyle/>
                    <a:p>
                      <a:pPr algn="l"/>
                      <a:r>
                        <a:rPr sz="1000">
                          <a:solidFill>
                            <a:srgbClr val="0F172A"/>
                          </a:solidFill>
                          <a:latin typeface="Aptos"/>
                        </a:rPr>
                        <a:t>SQL Errors</a:t>
                      </a:r>
                    </a:p>
                  </a:txBody>
                  <a:tcPr marL="73152" marR="73152">
                    <a:solidFill>
                      <a:srgbClr val="F3F6FA"/>
                    </a:solidFill>
                  </a:tcPr>
                </a:tc>
                <a:tc>
                  <a:txBody>
                    <a:bodyPr/>
                    <a:lstStyle/>
                    <a:p>
                      <a:pPr algn="l"/>
                      <a:r>
                        <a:rPr sz="1000">
                          <a:solidFill>
                            <a:srgbClr val="0F172A"/>
                          </a:solidFill>
                          <a:latin typeface="Aptos"/>
                        </a:rPr>
                        <a:t>Database-related symptoms</a:t>
                      </a:r>
                    </a:p>
                  </a:txBody>
                  <a:tcPr marL="73152" marR="73152">
                    <a:solidFill>
                      <a:srgbClr val="F3F6FA"/>
                    </a:solidFill>
                  </a:tcPr>
                </a:tc>
                <a:tc>
                  <a:txBody>
                    <a:bodyPr/>
                    <a:lstStyle/>
                    <a:p>
                      <a:pPr algn="l"/>
                      <a:r>
                        <a:rPr sz="1000">
                          <a:solidFill>
                            <a:srgbClr val="0F172A"/>
                          </a:solidFill>
                          <a:latin typeface="Aptos"/>
                        </a:rPr>
                        <a:t>Attach relevant SQL errors or query/blocking evidence</a:t>
                      </a:r>
                    </a:p>
                  </a:txBody>
                  <a:tcPr marL="73152" marR="73152">
                    <a:solidFill>
                      <a:srgbClr val="F3F6FA"/>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914400" y="5532120"/>
            <a:ext cx="9966960" cy="457200"/>
          </a:xfrm>
          <a:prstGeom prst="roundRect">
            <a:avLst/>
          </a:prstGeom>
          <a:solidFill>
            <a:srgbClr val="FDE7E7"/>
          </a:solidFill>
          <a:ln w="15240">
            <a:solidFill>
              <a:srgbClr val="C53030"/>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C53030"/>
                </a:solidFill>
                <a:latin typeface="Aptos Display"/>
              </a:rPr>
              <a:t>Avoid</a:t>
            </a:r>
          </a:p>
          <a:p>
            <a:pPr>
              <a:spcBef>
                <a:spcPts val="500"/>
              </a:spcBef>
            </a:pPr>
            <a:r>
              <a:rPr sz="1300">
                <a:solidFill>
                  <a:srgbClr val="0F172A"/>
                </a:solidFill>
                <a:latin typeface="Aptos"/>
              </a:rPr>
              <a:t>Do not attach entire large log folders when a focused timeframe is available.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3</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Bad vs Good Escalation Example</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77240" y="1325880"/>
            <a:ext cx="5166360" cy="411480"/>
          </a:xfrm>
          <a:prstGeom prst="round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1800" b="1" i="0">
                <a:solidFill>
                  <a:srgbClr val="FFFFFF"/>
                </a:solidFill>
                <a:latin typeface="Aptos"/>
              </a:rPr>
              <a:t>Bad Escalation</a:t>
            </a:r>
          </a:p>
        </p:txBody>
      </p:sp>
      <p:sp>
        <p:nvSpPr>
          <p:cNvPr id="8" name="Rounded Rectangle 7"/>
          <p:cNvSpPr/>
          <p:nvPr/>
        </p:nvSpPr>
        <p:spPr>
          <a:xfrm>
            <a:off x="6263640" y="1325880"/>
            <a:ext cx="5166360" cy="411480"/>
          </a:xfrm>
          <a:prstGeom prst="roundRect">
            <a:avLst/>
          </a:prstGeom>
          <a:solidFill>
            <a:srgbClr val="1F9756"/>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1800" b="1" i="0">
                <a:solidFill>
                  <a:srgbClr val="FFFFFF"/>
                </a:solidFill>
                <a:latin typeface="Aptos"/>
              </a:rPr>
              <a:t>Good Escalation</a:t>
            </a:r>
          </a:p>
        </p:txBody>
      </p:sp>
      <p:sp>
        <p:nvSpPr>
          <p:cNvPr id="9" name="Rounded Rectangle 8"/>
          <p:cNvSpPr/>
          <p:nvPr/>
        </p:nvSpPr>
        <p:spPr>
          <a:xfrm>
            <a:off x="868680" y="1965960"/>
            <a:ext cx="4983480" cy="685800"/>
          </a:xfrm>
          <a:prstGeom prst="roundRect">
            <a:avLst/>
          </a:prstGeom>
          <a:solidFill>
            <a:srgbClr val="FDE7E7"/>
          </a:solidFill>
          <a:ln w="15240">
            <a:solidFill>
              <a:srgbClr val="C53030"/>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C53030"/>
                </a:solidFill>
                <a:latin typeface="Aptos Display"/>
              </a:rPr>
              <a:t>“Report not working.”</a:t>
            </a:r>
          </a:p>
          <a:p>
            <a:pPr>
              <a:spcBef>
                <a:spcPts val="500"/>
              </a:spcBef>
            </a:pPr>
            <a:r>
              <a:rPr sz="1300">
                <a:solidFill>
                  <a:srgbClr val="0F172A"/>
                </a:solidFill>
                <a:latin typeface="Aptos"/>
              </a:rPr>
              <a:t>Why it is bad: no customer, version, scope, steps, logs, screenshot, or expected vs actual result.</a:t>
            </a:r>
          </a:p>
        </p:txBody>
      </p:sp>
      <p:sp>
        <p:nvSpPr>
          <p:cNvPr id="10" name="Rounded Rectangle 9"/>
          <p:cNvSpPr/>
          <p:nvPr/>
        </p:nvSpPr>
        <p:spPr>
          <a:xfrm>
            <a:off x="6400800" y="1874519"/>
            <a:ext cx="4754880" cy="2240280"/>
          </a:xfrm>
          <a:prstGeom prst="roundRect">
            <a:avLst/>
          </a:prstGeom>
          <a:solidFill>
            <a:srgbClr val="E2F5EA"/>
          </a:solidFill>
          <a:ln w="12700">
            <a:solidFill>
              <a:srgbClr val="1F9756"/>
            </a:solid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0" i="0">
                <a:solidFill>
                  <a:srgbClr val="0F172A"/>
                </a:solidFill>
                <a:latin typeface="Aptos"/>
              </a:rPr>
              <a:t>Customer: ABC Hospital
Version: 5.22.3
Impact: All users affected
Started after upgrade
Scope: One exam type only
Steps, logs, screenshot attached
No KB article found
Senior Support reviewed</a:t>
            </a:r>
          </a:p>
        </p:txBody>
      </p:sp>
      <p:graphicFrame>
        <p:nvGraphicFramePr>
          <p:cNvPr id="11" name="Table 10"/>
          <p:cNvGraphicFramePr>
            <a:graphicFrameLocks noGrp="1"/>
          </p:cNvGraphicFramePr>
          <p:nvPr/>
        </p:nvGraphicFramePr>
        <p:xfrm>
          <a:off x="914400" y="4160520"/>
          <a:ext cx="10241280" cy="1234440"/>
        </p:xfrm>
        <a:graphic>
          <a:graphicData uri="http://schemas.openxmlformats.org/drawingml/2006/table">
            <a:tbl>
              <a:tblPr firstRow="1" bandRow="1">
                <a:tableStyleId>{5C22544A-7EE6-4342-B048-85BDC9FD1C3A}</a:tableStyleId>
              </a:tblPr>
              <a:tblGrid>
                <a:gridCol w="512064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08610">
                <a:tc>
                  <a:txBody>
                    <a:bodyPr/>
                    <a:lstStyle/>
                    <a:p>
                      <a:pPr algn="ctr"/>
                      <a:r>
                        <a:rPr sz="1200" b="1">
                          <a:solidFill>
                            <a:srgbClr val="FFFFFF"/>
                          </a:solidFill>
                          <a:latin typeface="Aptos"/>
                        </a:rPr>
                        <a:t>Bad escalation causes</a:t>
                      </a:r>
                    </a:p>
                  </a:txBody>
                  <a:tcPr>
                    <a:solidFill>
                      <a:srgbClr val="122D4D"/>
                    </a:solidFill>
                  </a:tcPr>
                </a:tc>
                <a:tc>
                  <a:txBody>
                    <a:bodyPr/>
                    <a:lstStyle/>
                    <a:p>
                      <a:pPr algn="ctr"/>
                      <a:r>
                        <a:rPr sz="1200" b="1">
                          <a:solidFill>
                            <a:srgbClr val="FFFFFF"/>
                          </a:solidFill>
                          <a:latin typeface="Aptos"/>
                        </a:rPr>
                        <a:t>Good escalation enables</a:t>
                      </a:r>
                    </a:p>
                  </a:txBody>
                  <a:tcPr>
                    <a:solidFill>
                      <a:srgbClr val="122D4D"/>
                    </a:solidFill>
                  </a:tcPr>
                </a:tc>
                <a:extLst>
                  <a:ext uri="{0D108BD9-81ED-4DB2-BD59-A6C34878D82A}">
                    <a16:rowId xmlns:a16="http://schemas.microsoft.com/office/drawing/2014/main" val="10000"/>
                  </a:ext>
                </a:extLst>
              </a:tr>
              <a:tr h="308610">
                <a:tc>
                  <a:txBody>
                    <a:bodyPr/>
                    <a:lstStyle/>
                    <a:p>
                      <a:pPr algn="l"/>
                      <a:r>
                        <a:rPr sz="1200">
                          <a:solidFill>
                            <a:srgbClr val="0F172A"/>
                          </a:solidFill>
                          <a:latin typeface="Aptos"/>
                        </a:rPr>
                        <a:t>Back-and-forth questions</a:t>
                      </a:r>
                    </a:p>
                  </a:txBody>
                  <a:tcPr marL="73152" marR="73152">
                    <a:solidFill>
                      <a:srgbClr val="FFFFFF"/>
                    </a:solidFill>
                  </a:tcPr>
                </a:tc>
                <a:tc>
                  <a:txBody>
                    <a:bodyPr/>
                    <a:lstStyle/>
                    <a:p>
                      <a:pPr algn="l"/>
                      <a:r>
                        <a:rPr sz="1200">
                          <a:solidFill>
                            <a:srgbClr val="0F172A"/>
                          </a:solidFill>
                          <a:latin typeface="Aptos"/>
                        </a:rPr>
                        <a:t>Clear scope and reproduction</a:t>
                      </a:r>
                    </a:p>
                  </a:txBody>
                  <a:tcPr marL="73152" marR="73152">
                    <a:solidFill>
                      <a:srgbClr val="FFFFFF"/>
                    </a:solidFill>
                  </a:tcPr>
                </a:tc>
                <a:extLst>
                  <a:ext uri="{0D108BD9-81ED-4DB2-BD59-A6C34878D82A}">
                    <a16:rowId xmlns:a16="http://schemas.microsoft.com/office/drawing/2014/main" val="10001"/>
                  </a:ext>
                </a:extLst>
              </a:tr>
              <a:tr h="308610">
                <a:tc>
                  <a:txBody>
                    <a:bodyPr/>
                    <a:lstStyle/>
                    <a:p>
                      <a:pPr algn="l"/>
                      <a:r>
                        <a:rPr sz="1200">
                          <a:solidFill>
                            <a:srgbClr val="0F172A"/>
                          </a:solidFill>
                          <a:latin typeface="Aptos"/>
                        </a:rPr>
                        <a:t>Delayed investigation</a:t>
                      </a:r>
                    </a:p>
                  </a:txBody>
                  <a:tcPr marL="73152" marR="73152">
                    <a:solidFill>
                      <a:srgbClr val="F3F6FA"/>
                    </a:solidFill>
                  </a:tcPr>
                </a:tc>
                <a:tc>
                  <a:txBody>
                    <a:bodyPr/>
                    <a:lstStyle/>
                    <a:p>
                      <a:pPr algn="l"/>
                      <a:r>
                        <a:rPr sz="1200">
                          <a:solidFill>
                            <a:srgbClr val="0F172A"/>
                          </a:solidFill>
                          <a:latin typeface="Aptos"/>
                        </a:rPr>
                        <a:t>Evidence-based analysis</a:t>
                      </a:r>
                    </a:p>
                  </a:txBody>
                  <a:tcPr marL="73152" marR="73152">
                    <a:solidFill>
                      <a:srgbClr val="F3F6FA"/>
                    </a:solidFill>
                  </a:tcPr>
                </a:tc>
                <a:extLst>
                  <a:ext uri="{0D108BD9-81ED-4DB2-BD59-A6C34878D82A}">
                    <a16:rowId xmlns:a16="http://schemas.microsoft.com/office/drawing/2014/main" val="10002"/>
                  </a:ext>
                </a:extLst>
              </a:tr>
              <a:tr h="308610">
                <a:tc>
                  <a:txBody>
                    <a:bodyPr/>
                    <a:lstStyle/>
                    <a:p>
                      <a:pPr algn="l"/>
                      <a:r>
                        <a:rPr sz="1200">
                          <a:solidFill>
                            <a:srgbClr val="0F172A"/>
                          </a:solidFill>
                          <a:latin typeface="Aptos"/>
                        </a:rPr>
                        <a:t>Repeated customer follow-up</a:t>
                      </a:r>
                    </a:p>
                  </a:txBody>
                  <a:tcPr marL="73152" marR="73152">
                    <a:solidFill>
                      <a:srgbClr val="FFFFFF"/>
                    </a:solidFill>
                  </a:tcPr>
                </a:tc>
                <a:tc>
                  <a:txBody>
                    <a:bodyPr/>
                    <a:lstStyle/>
                    <a:p>
                      <a:pPr algn="l"/>
                      <a:r>
                        <a:rPr sz="1200">
                          <a:solidFill>
                            <a:srgbClr val="0F172A"/>
                          </a:solidFill>
                          <a:latin typeface="Aptos"/>
                        </a:rPr>
                        <a:t>Prior investigation already completed</a:t>
                      </a:r>
                    </a:p>
                  </a:txBody>
                  <a:tcPr marL="73152" marR="73152">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MODULE 4</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Module 4 – Knowledge Base and Internal Collaboration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45236" y="2386584"/>
            <a:ext cx="10469880" cy="914400"/>
          </a:xfrm>
          <a:prstGeom prst="roundRect">
            <a:avLst/>
          </a:prstGeom>
          <a:solidFill>
            <a:srgbClr val="E2EF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dirty="0">
                <a:solidFill>
                  <a:srgbClr val="1F6FC4"/>
                </a:solidFill>
                <a:latin typeface="Aptos Display"/>
              </a:rPr>
              <a:t>Collaboration principle</a:t>
            </a:r>
          </a:p>
          <a:p>
            <a:pPr>
              <a:spcBef>
                <a:spcPts val="500"/>
              </a:spcBef>
            </a:pPr>
            <a:r>
              <a:rPr sz="1300" dirty="0">
                <a:solidFill>
                  <a:srgbClr val="0F172A"/>
                </a:solidFill>
                <a:latin typeface="Aptos"/>
              </a:rPr>
              <a:t>Many escalations can be avoided by checking existing knowledge and collaborating internally before Development handoff.</a:t>
            </a:r>
          </a:p>
        </p:txBody>
      </p:sp>
      <p:sp>
        <p:nvSpPr>
          <p:cNvPr id="17" name="Rounded Rectangle 16"/>
          <p:cNvSpPr/>
          <p:nvPr/>
        </p:nvSpPr>
        <p:spPr>
          <a:xfrm>
            <a:off x="914400" y="4526280"/>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18" name="Rectangle 17"/>
          <p:cNvSpPr/>
          <p:nvPr/>
        </p:nvSpPr>
        <p:spPr>
          <a:xfrm>
            <a:off x="1170432" y="4480560"/>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a:solidFill>
                  <a:srgbClr val="0F172A"/>
                </a:solidFill>
                <a:latin typeface="Aptos"/>
              </a:rPr>
              <a:t>Escalation quality improves when Support reuses known solutions.</a:t>
            </a:r>
          </a:p>
        </p:txBody>
      </p:sp>
      <p:sp>
        <p:nvSpPr>
          <p:cNvPr id="19" name="Rounded Rectangle 18"/>
          <p:cNvSpPr/>
          <p:nvPr/>
        </p:nvSpPr>
        <p:spPr>
          <a:xfrm>
            <a:off x="914400" y="5074920"/>
            <a:ext cx="146304" cy="146304"/>
          </a:xfrm>
          <a:prstGeom prst="round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endParaRPr/>
          </a:p>
        </p:txBody>
      </p:sp>
      <p:sp>
        <p:nvSpPr>
          <p:cNvPr id="20" name="Rectangle 19"/>
          <p:cNvSpPr/>
          <p:nvPr/>
        </p:nvSpPr>
        <p:spPr>
          <a:xfrm>
            <a:off x="1170432" y="5029200"/>
            <a:ext cx="9619488"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800" b="0" i="0">
                <a:solidFill>
                  <a:srgbClr val="0F172A"/>
                </a:solidFill>
                <a:latin typeface="Aptos"/>
              </a:rPr>
              <a:t>Internal review catches missing details before Development receives the ticket.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WRAP-UP</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Final Expected Outcomes</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23444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50976" y="134416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9" name="Rectangle 8"/>
          <p:cNvSpPr/>
          <p:nvPr/>
        </p:nvSpPr>
        <p:spPr>
          <a:xfrm>
            <a:off x="1499616" y="135331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Identify whether an issue is a bug, configuration, question, or enhancement.</a:t>
            </a:r>
          </a:p>
        </p:txBody>
      </p:sp>
      <p:sp>
        <p:nvSpPr>
          <p:cNvPr id="10" name="Rounded Rectangle 9"/>
          <p:cNvSpPr/>
          <p:nvPr/>
        </p:nvSpPr>
        <p:spPr>
          <a:xfrm>
            <a:off x="6217920" y="123444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45936" y="134416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2" name="Rectangle 11"/>
          <p:cNvSpPr/>
          <p:nvPr/>
        </p:nvSpPr>
        <p:spPr>
          <a:xfrm>
            <a:off x="6894576" y="135331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Perform standard troubleshooting.</a:t>
            </a:r>
          </a:p>
        </p:txBody>
      </p:sp>
      <p:sp>
        <p:nvSpPr>
          <p:cNvPr id="13" name="Rounded Rectangle 12"/>
          <p:cNvSpPr/>
          <p:nvPr/>
        </p:nvSpPr>
        <p:spPr>
          <a:xfrm>
            <a:off x="822960" y="210312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50976" y="22128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5" name="Rectangle 14"/>
          <p:cNvSpPr/>
          <p:nvPr/>
        </p:nvSpPr>
        <p:spPr>
          <a:xfrm>
            <a:off x="1499616" y="2221991"/>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Gather the correct logs.</a:t>
            </a:r>
          </a:p>
        </p:txBody>
      </p:sp>
      <p:sp>
        <p:nvSpPr>
          <p:cNvPr id="16" name="Rounded Rectangle 15"/>
          <p:cNvSpPr/>
          <p:nvPr/>
        </p:nvSpPr>
        <p:spPr>
          <a:xfrm>
            <a:off x="6217920" y="210312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345936" y="22128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8" name="Rectangle 17"/>
          <p:cNvSpPr/>
          <p:nvPr/>
        </p:nvSpPr>
        <p:spPr>
          <a:xfrm>
            <a:off x="6894576" y="2221991"/>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Search existing Knowledge Base articles.</a:t>
            </a:r>
          </a:p>
        </p:txBody>
      </p:sp>
      <p:sp>
        <p:nvSpPr>
          <p:cNvPr id="19" name="Rounded Rectangle 18"/>
          <p:cNvSpPr/>
          <p:nvPr/>
        </p:nvSpPr>
        <p:spPr>
          <a:xfrm>
            <a:off x="822960" y="297180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50976" y="308152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21" name="Rectangle 20"/>
          <p:cNvSpPr/>
          <p:nvPr/>
        </p:nvSpPr>
        <p:spPr>
          <a:xfrm>
            <a:off x="1499616" y="309067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Consult internal experts appropriately.</a:t>
            </a:r>
          </a:p>
        </p:txBody>
      </p:sp>
      <p:sp>
        <p:nvSpPr>
          <p:cNvPr id="22" name="Rounded Rectangle 21"/>
          <p:cNvSpPr/>
          <p:nvPr/>
        </p:nvSpPr>
        <p:spPr>
          <a:xfrm>
            <a:off x="6217920" y="2971800"/>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345936" y="308152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24" name="Rectangle 23"/>
          <p:cNvSpPr/>
          <p:nvPr/>
        </p:nvSpPr>
        <p:spPr>
          <a:xfrm>
            <a:off x="6894576" y="3090672"/>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Submit high-quality escalations to Development.</a:t>
            </a:r>
          </a:p>
        </p:txBody>
      </p:sp>
      <p:sp>
        <p:nvSpPr>
          <p:cNvPr id="25" name="Rounded Rectangle 24"/>
          <p:cNvSpPr/>
          <p:nvPr/>
        </p:nvSpPr>
        <p:spPr>
          <a:xfrm>
            <a:off x="3520440" y="3840479"/>
            <a:ext cx="4754880" cy="64008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3648456" y="39502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27" name="Rectangle 26"/>
          <p:cNvSpPr/>
          <p:nvPr/>
        </p:nvSpPr>
        <p:spPr>
          <a:xfrm>
            <a:off x="4197096" y="3959351"/>
            <a:ext cx="3950208"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Reduce unnecessary Development escalations.</a:t>
            </a:r>
          </a:p>
        </p:txBody>
      </p:sp>
      <p:sp>
        <p:nvSpPr>
          <p:cNvPr id="28" name="Rounded Rectangle 27"/>
          <p:cNvSpPr/>
          <p:nvPr/>
        </p:nvSpPr>
        <p:spPr>
          <a:xfrm>
            <a:off x="914400" y="5486400"/>
            <a:ext cx="9966960" cy="502920"/>
          </a:xfrm>
          <a:prstGeom prst="roundRect">
            <a:avLst/>
          </a:prstGeom>
          <a:solidFill>
            <a:srgbClr val="E2EFFF"/>
          </a:solidFill>
          <a:ln w="15240">
            <a:solidFill>
              <a:srgbClr val="1F6FC4"/>
            </a:solidFill>
          </a:ln>
        </p:spPr>
        <p:style>
          <a:lnRef idx="1">
            <a:schemeClr val="accent1"/>
          </a:lnRef>
          <a:fillRef idx="3">
            <a:schemeClr val="accent1"/>
          </a:fillRef>
          <a:effectRef idx="2">
            <a:schemeClr val="accent1"/>
          </a:effectRef>
          <a:fontRef idx="minor">
            <a:schemeClr val="lt1"/>
          </a:fontRef>
        </p:style>
        <p:txBody>
          <a:bodyPr wrap="square" lIns="146304" tIns="91440" rIns="146304" bIns="91440" rtlCol="0" anchor="ctr"/>
          <a:lstStyle/>
          <a:p>
            <a:pPr algn="ctr"/>
            <a:r>
              <a:rPr sz="1500" b="1">
                <a:solidFill>
                  <a:srgbClr val="1F6FC4"/>
                </a:solidFill>
                <a:latin typeface="Aptos Display"/>
              </a:rPr>
              <a:t>Success measure</a:t>
            </a:r>
          </a:p>
          <a:p>
            <a:pPr>
              <a:spcBef>
                <a:spcPts val="500"/>
              </a:spcBef>
            </a:pPr>
            <a:r>
              <a:rPr sz="1300">
                <a:solidFill>
                  <a:srgbClr val="0F172A"/>
                </a:solidFill>
                <a:latin typeface="Aptos"/>
              </a:rPr>
              <a:t>Fewer avoidable escalations, faster Development investigation, and better customer communication.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p:cNvSpPr/>
          <p:nvPr/>
        </p:nvSpPr>
        <p:spPr>
          <a:xfrm>
            <a:off x="594360" y="320040"/>
            <a:ext cx="5029200"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900" b="1" i="0">
                <a:solidFill>
                  <a:srgbClr val="1F6FC4"/>
                </a:solidFill>
                <a:latin typeface="Aptos"/>
              </a:rPr>
              <a:t>Q&amp;A</a:t>
            </a:r>
          </a:p>
        </p:txBody>
      </p:sp>
      <p:sp>
        <p:nvSpPr>
          <p:cNvPr id="3" name="Rectangle 2"/>
          <p:cNvSpPr/>
          <p:nvPr/>
        </p:nvSpPr>
        <p:spPr>
          <a:xfrm>
            <a:off x="594360" y="566928"/>
            <a:ext cx="7955279" cy="5029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2800" b="1" i="0">
                <a:solidFill>
                  <a:srgbClr val="122D4D"/>
                </a:solidFill>
                <a:latin typeface="Aptos"/>
              </a:rPr>
              <a:t>Questions and Discussion</a:t>
            </a:r>
          </a:p>
        </p:txBody>
      </p:sp>
      <p:sp>
        <p:nvSpPr>
          <p:cNvPr id="4" name="Rectangle 3"/>
          <p:cNvSpPr/>
          <p:nvPr/>
        </p:nvSpPr>
        <p:spPr>
          <a:xfrm>
            <a:off x="594360" y="1115568"/>
            <a:ext cx="1005840" cy="45720"/>
          </a:xfrm>
          <a:prstGeom prst="rect">
            <a:avLst/>
          </a:prstGeom>
          <a:solidFill>
            <a:srgbClr val="1F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051560" y="1325880"/>
            <a:ext cx="9784080" cy="685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79576" y="1435607"/>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9" name="Rectangle 8"/>
          <p:cNvSpPr/>
          <p:nvPr/>
        </p:nvSpPr>
        <p:spPr>
          <a:xfrm>
            <a:off x="1728216" y="1444752"/>
            <a:ext cx="8979407"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What issues are most commonly escalated today?</a:t>
            </a:r>
          </a:p>
        </p:txBody>
      </p:sp>
      <p:sp>
        <p:nvSpPr>
          <p:cNvPr id="10" name="Rounded Rectangle 9"/>
          <p:cNvSpPr/>
          <p:nvPr/>
        </p:nvSpPr>
        <p:spPr>
          <a:xfrm>
            <a:off x="1051560" y="2286000"/>
            <a:ext cx="9784080" cy="685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79576" y="239572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2" name="Rectangle 11"/>
          <p:cNvSpPr/>
          <p:nvPr/>
        </p:nvSpPr>
        <p:spPr>
          <a:xfrm>
            <a:off x="1728216" y="2404872"/>
            <a:ext cx="8979407"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What information is usually missing?</a:t>
            </a:r>
          </a:p>
        </p:txBody>
      </p:sp>
      <p:sp>
        <p:nvSpPr>
          <p:cNvPr id="13" name="Rounded Rectangle 12"/>
          <p:cNvSpPr/>
          <p:nvPr/>
        </p:nvSpPr>
        <p:spPr>
          <a:xfrm>
            <a:off x="1051560" y="3246120"/>
            <a:ext cx="9784080" cy="685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79576" y="335584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6FC4"/>
                </a:solidFill>
                <a:latin typeface="Aptos"/>
              </a:rPr>
              <a:t>💬</a:t>
            </a:r>
          </a:p>
        </p:txBody>
      </p:sp>
      <p:sp>
        <p:nvSpPr>
          <p:cNvPr id="15" name="Rectangle 14"/>
          <p:cNvSpPr/>
          <p:nvPr/>
        </p:nvSpPr>
        <p:spPr>
          <a:xfrm>
            <a:off x="1728216" y="3364991"/>
            <a:ext cx="8979407"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What can we improve immediately?</a:t>
            </a:r>
          </a:p>
        </p:txBody>
      </p:sp>
      <p:sp>
        <p:nvSpPr>
          <p:cNvPr id="16" name="Rounded Rectangle 15"/>
          <p:cNvSpPr/>
          <p:nvPr/>
        </p:nvSpPr>
        <p:spPr>
          <a:xfrm>
            <a:off x="1051560" y="4206240"/>
            <a:ext cx="9784080" cy="685800"/>
          </a:xfrm>
          <a:prstGeom prst="roundRect">
            <a:avLst/>
          </a:prstGeom>
          <a:solidFill>
            <a:srgbClr val="FFFFFF"/>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179576" y="4315968"/>
            <a:ext cx="502920" cy="3840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0" i="0">
                <a:solidFill>
                  <a:srgbClr val="1F9756"/>
                </a:solidFill>
                <a:latin typeface="Aptos"/>
              </a:rPr>
              <a:t>💬</a:t>
            </a:r>
          </a:p>
        </p:txBody>
      </p:sp>
      <p:sp>
        <p:nvSpPr>
          <p:cNvPr id="18" name="Rectangle 17"/>
          <p:cNvSpPr/>
          <p:nvPr/>
        </p:nvSpPr>
        <p:spPr>
          <a:xfrm>
            <a:off x="1728216" y="4325112"/>
            <a:ext cx="8979407" cy="2560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l"/>
            <a:r>
              <a:rPr sz="1300" b="1" i="0">
                <a:solidFill>
                  <a:srgbClr val="122D4D"/>
                </a:solidFill>
                <a:latin typeface="Aptos"/>
              </a:rPr>
              <a:t>What KB articles should be created or updated?</a:t>
            </a:r>
          </a:p>
        </p:txBody>
      </p:sp>
      <p:sp>
        <p:nvSpPr>
          <p:cNvPr id="19" name="Rectangle 18"/>
          <p:cNvSpPr/>
          <p:nvPr/>
        </p:nvSpPr>
        <p:spPr>
          <a:xfrm>
            <a:off x="1463040" y="5623560"/>
            <a:ext cx="9144000" cy="4114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73152" rIns="73152" rtlCol="0" anchor="t"/>
          <a:lstStyle/>
          <a:p>
            <a:pPr algn="ctr"/>
            <a:r>
              <a:rPr sz="2200" b="1" i="0">
                <a:solidFill>
                  <a:srgbClr val="122D4D"/>
                </a:solidFill>
                <a:latin typeface="Aptos"/>
              </a:rPr>
              <a:t>Thank you — let’s improve investigation quality together.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TotalTime>
  <Words>3304</Words>
  <Application>Microsoft Office PowerPoint</Application>
  <PresentationFormat>Widescreen</PresentationFormat>
  <Paragraphs>350</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Mohammad Moharam</cp:lastModifiedBy>
  <cp:revision>5</cp:revision>
  <dcterms:created xsi:type="dcterms:W3CDTF">2013-01-27T09:14:16Z</dcterms:created>
  <dcterms:modified xsi:type="dcterms:W3CDTF">2026-06-24T23:12:20Z</dcterms:modified>
  <cp:category/>
</cp:coreProperties>
</file>
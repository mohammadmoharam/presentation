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6" r:id="rId7"/>
    <p:sldId id="267" r:id="rId8"/>
    <p:sldId id="268" r:id="rId9"/>
    <p:sldId id="269" r:id="rId10"/>
    <p:sldId id="276" r:id="rId11"/>
    <p:sldId id="277" r:id="rId12"/>
    <p:sldId id="278" r:id="rId13"/>
    <p:sldId id="279" r:id="rId14"/>
    <p:sldId id="280" r:id="rId15"/>
    <p:sldId id="281" r:id="rId16"/>
    <p:sldId id="283" r:id="rId17"/>
    <p:sldId id="286" r:id="rId18"/>
    <p:sldId id="287" r:id="rId19"/>
    <p:sldId id="290" r:id="rId20"/>
    <p:sldId id="29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477" autoAdjust="0"/>
  </p:normalViewPr>
  <p:slideViewPr>
    <p:cSldViewPr snapToGrid="0" snapToObjects="1">
      <p:cViewPr varScale="1">
        <p:scale>
          <a:sx n="81" d="100"/>
          <a:sy n="81" d="100"/>
        </p:scale>
        <p:origin x="57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6728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Open the session by positioning this as a practical enablement program, not a theoretical lecture. The purpose is to help L1 Support resolve more issues independently and make the escalations that do reach Development faster to investigate.</a:t>
            </a:r>
          </a:p>
          <a:p>
            <a:r>
              <a:rPr sz="1100">
                <a:latin typeface="Aptos"/>
              </a:rPr>
              <a:t>Set expectations for participation. Ask attendees to think about recent escalations that took too long, had missing information, or bounced between teams. Explain that the deck will use those real patterns to build a consistent troubleshooting and escalation standard.</a:t>
            </a:r>
          </a:p>
          <a:p>
            <a:r>
              <a:rPr sz="1100">
                <a:latin typeface="Aptos"/>
              </a:rPr>
              <a:t>Emphasize that Support and Development are on the same side: faster customer resolution. The workflow is not about blocking escalations; it is about making sure every escalation is actionable.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Explain that this training is designed around day-to-day support behavior: how tickets are classified, how evidence is gathered, how internal expertise is used, and when Development should be engaged.</a:t>
            </a:r>
          </a:p>
          <a:p>
            <a:r>
              <a:rPr sz="1100">
                <a:latin typeface="Aptos"/>
              </a:rPr>
              <a:t>Use a real-world framing: Development can only move quickly when the issue is scoped, evidence is complete, and the customer scenario is clear. A ticket that says “not working” creates delay even when the underlying issue is important.</a:t>
            </a:r>
          </a:p>
          <a:p>
            <a:r>
              <a:rPr sz="1100">
                <a:latin typeface="Aptos"/>
              </a:rPr>
              <a:t>Invite the audience to treat each section as a checklist they can apply immediately after the session. The expected outcome is not perfection; it is consistency and fewer avoidable escalations.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Walk through the agenda and connect each module to the escalation lifecycle. Release awareness helps identify expected behavior. Troubleshooting and investigation establish facts. Escalation standards make the handoff actionable. Knowledge Base and collaboration reduce repeat escalations.</a:t>
            </a:r>
          </a:p>
          <a:p>
            <a:r>
              <a:rPr sz="1100">
                <a:latin typeface="Aptos"/>
              </a:rPr>
              <a:t>Tell attendees that the timing is flexible depending on discussion. If there are current high-volume issue types, use them as examples during Module 2 and Module 3.</a:t>
            </a:r>
          </a:p>
          <a:p>
            <a:r>
              <a:rPr sz="1100">
                <a:latin typeface="Aptos"/>
              </a:rPr>
              <a:t>Reinforce that Q&amp;A is intentionally included at the end, but questions during the session are welcome when they clarify a process or checklist.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Introduce Module 1 as the foundation for post-release support. Many tickets that look like defects are actually changed behavior, new validations, configuration gaps, or permission changes introduced by a release.</a:t>
            </a:r>
          </a:p>
          <a:p>
            <a:r>
              <a:rPr sz="1100">
                <a:latin typeface="Aptos"/>
              </a:rPr>
              <a:t>Emphasize that Support does not need to memorize every line of every release note. The practical approach is to group changes by business area and understand which customer workflows may be affected.</a:t>
            </a:r>
          </a:p>
          <a:p>
            <a:r>
              <a:rPr sz="1100">
                <a:latin typeface="Aptos"/>
              </a:rPr>
              <a:t>Discussion prompt: Ask the group which release changes usually generate the most tickets: reporting, exams, interfaces, filters, or permissions. Use responses to make the module concrete.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Explain the five business areas as the mental model for reviewing a release. Each area maps to common customer symptoms: missing exams, reporting differences, interface failures, performance issues, or access/security changes.</a:t>
            </a:r>
          </a:p>
          <a:p>
            <a:r>
              <a:rPr sz="1100" dirty="0">
                <a:latin typeface="Aptos"/>
              </a:rPr>
              <a:t>Encourage Support to tag or categorize post-release tickets using these areas. This helps identify whether a spike is isolated, customer-specific, or a broader release adoption issue.</a:t>
            </a:r>
          </a:p>
          <a:p>
            <a:r>
              <a:rPr sz="1100" dirty="0">
                <a:latin typeface="Aptos"/>
              </a:rPr>
              <a:t>Practical reminder: When a customer reports a new issue after upgrade, capture the business area and version immediately. Those two facts often determine the first troubleshooting path.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Summarize Module 1 by reinforcing the core mindset: after a release, Support should investigate whether behavior is expected, configuration-dependent, or permission-related before treating it as a defect.</a:t>
            </a:r>
          </a:p>
          <a:p>
            <a:r>
              <a:rPr sz="1100">
                <a:latin typeface="Aptos"/>
              </a:rPr>
              <a:t>Use examples from earlier slides: missing exams may be filters or permissions; reporting differences may be macro or worksheet flow; integration failures may be endpoint or routing changes.</a:t>
            </a:r>
          </a:p>
          <a:p>
            <a:r>
              <a:rPr sz="1100">
                <a:latin typeface="Aptos"/>
              </a:rPr>
              <a:t>Transition to Module 2 by explaining that release awareness is only one input. The next module covers the structured troubleshooting method that applies to all issue types.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Introduce troubleshooting as the highest-leverage support skill. A strong L1 investigation can resolve simple issues immediately and make complex issues easier for L2 or Development to act on.</a:t>
            </a:r>
          </a:p>
          <a:p>
            <a:r>
              <a:rPr sz="1100">
                <a:latin typeface="Aptos"/>
              </a:rPr>
              <a:t>Emphasize that structured troubleshooting protects the customer experience. It avoids random checks, repeated questions, and unnecessary escalation delays.</a:t>
            </a:r>
          </a:p>
          <a:p>
            <a:r>
              <a:rPr sz="1100">
                <a:latin typeface="Aptos"/>
              </a:rPr>
              <a:t>Discussion prompt: Ask attendees what happens when scope is not established early. Guide them toward common consequences: wrong priority, wrong team, missing logs, and repeated customer follow-up.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This slide is the core investigation checklist. Walk through each question and explain that none are optional for a quality escalation.</a:t>
            </a:r>
          </a:p>
          <a:p>
            <a:r>
              <a:rPr sz="1100">
                <a:latin typeface="Aptos"/>
              </a:rPr>
              <a:t>Use a simple example: “Report not working” becomes actionable only when Support knows which report, which user, when it started, which environment, and whether all reports or only one exam type are affected.</a:t>
            </a:r>
          </a:p>
          <a:p>
            <a:r>
              <a:rPr sz="1100">
                <a:latin typeface="Aptos"/>
              </a:rPr>
              <a:t>Practical reminder: These questions should be answered in the ticket body, not hidden in chat threads. The ticket should tell the next engineer exactly what is known.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Use the matrix to show how the same investigation principle changes by issue type. The first goal is always to distinguish isolated impact from broad impact.</a:t>
            </a:r>
          </a:p>
          <a:p>
            <a:r>
              <a:rPr sz="1100">
                <a:latin typeface="Aptos"/>
              </a:rPr>
              <a:t>For each row, ask what evidence would support the answer. Login may need user comparison. HL7 may need message IDs and queue status. Viewer may need workstation and browser details. Database may need operation type and timing.</a:t>
            </a:r>
          </a:p>
          <a:p>
            <a:r>
              <a:rPr sz="1100">
                <a:latin typeface="Aptos"/>
              </a:rPr>
              <a:t>Practical reminder: The matrix can be used as a triage script. It helps Support ask fewer but better questions during the first customer interaction.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Introduce Module 3 as the standard for Development-ready escalations. The message should be firm but collaborative: Development wants to help, but incomplete tickets slow everyone down.</a:t>
            </a:r>
          </a:p>
          <a:p>
            <a:r>
              <a:rPr sz="1100">
                <a:latin typeface="Aptos"/>
              </a:rPr>
              <a:t>Explain that a good escalation does not need to prove the root cause. It needs to define the problem, scope, evidence, and prior checks clearly enough for the next team to act.</a:t>
            </a:r>
          </a:p>
          <a:p>
            <a:r>
              <a:rPr sz="1100">
                <a:latin typeface="Aptos"/>
              </a:rPr>
              <a:t>Transition by telling attendees that the next slides define the required ticket fields and examples of good versus bad escalation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Position this slide as the Development escalation checklist. Every escalated ticket should contain these fields or explicitly explain why a field does not apply.</a:t>
            </a:r>
          </a:p>
          <a:p>
            <a:r>
              <a:rPr sz="1100">
                <a:latin typeface="Aptos"/>
              </a:rPr>
              <a:t>Explain that the checklist prevents missing information from being discovered after handoff. The goal is to reduce repeated customer follow-up and internal rework.</a:t>
            </a:r>
          </a:p>
          <a:p>
            <a:r>
              <a:rPr sz="1100">
                <a:latin typeface="Aptos"/>
              </a:rPr>
              <a:t>Practical reminder: Consider turning this checklist into a ticket template or required macro so Support does not have to rebuild the structure manually each time.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Customer and environment details seem basic, but missing basics cause major delays. Development must know which customer, environment, version, and installation type are involved before interpreting behavior.</a:t>
            </a:r>
          </a:p>
          <a:p>
            <a:r>
              <a:rPr sz="1100">
                <a:latin typeface="Aptos"/>
              </a:rPr>
              <a:t>Explain why installation type matters: PACS Only, All-In-One, and Enterprise deployments may differ in routing, services, integrations, and operational ownership.</a:t>
            </a:r>
          </a:p>
          <a:p>
            <a:r>
              <a:rPr sz="1100">
                <a:latin typeface="Aptos"/>
              </a:rPr>
              <a:t>Practical reminder: Do not rely on assumptions from the ticket title. Put the customer and environment details in the escalation body where they are immediately visible.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Access and upgrade information removes friction at the start of investigation. If Development cannot access the environment or does not know recent changes, the ticket may pause before technical analysis begins.</a:t>
            </a:r>
          </a:p>
          <a:p>
            <a:r>
              <a:rPr sz="1100">
                <a:latin typeface="Aptos"/>
              </a:rPr>
              <a:t>Highlight upgrade details because timing matters. Issues that begin immediately after upgrade often relate to release behavior, migration, configuration, cache, or permissions.</a:t>
            </a:r>
          </a:p>
          <a:p>
            <a:r>
              <a:rPr sz="1100">
                <a:latin typeface="Aptos"/>
              </a:rPr>
              <a:t>Practical reminder: If access is restricted, identify the owner and the process. Do not escalate without telling Development how access will be coordinated.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Issue classification is critical because each class has a different next action. Questions need answers or KB articles. Configuration requests need setup guidance. Feature requests need product review. Bugs need evidence and Development investigation.</a:t>
            </a:r>
          </a:p>
          <a:p>
            <a:r>
              <a:rPr sz="1100">
                <a:latin typeface="Aptos"/>
              </a:rPr>
              <a:t>Walk through the decision tree. If behavior is expected, it is not a bug. If setup is required, it is configuration. If the customer wants new behavior, it is an enhancement. If the system fails against expected behavior, it may be a bug.</a:t>
            </a:r>
          </a:p>
          <a:p>
            <a:r>
              <a:rPr sz="1100">
                <a:latin typeface="Aptos"/>
              </a:rPr>
              <a:t>Practical reminder: Misclassification creates delays and frustration. A configuration request escalated as a bug may bounce back; a true bug labeled as a question may not receive proper urgency.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Scope determines almost everything about the next step: priority, owner, reproduction approach, and likely root cause. A single exam problem is investigated differently from an all-user production outage.</a:t>
            </a:r>
          </a:p>
          <a:p>
            <a:r>
              <a:rPr sz="1100">
                <a:latin typeface="Aptos"/>
              </a:rPr>
              <a:t>Give examples: one user points to permissions or browser; one exam points to data or workflow; all exams points to service, configuration, or systemic defect; one site points to location routing or infrastructure.</a:t>
            </a:r>
          </a:p>
          <a:p>
            <a:r>
              <a:rPr sz="1100">
                <a:latin typeface="Aptos"/>
              </a:rPr>
              <a:t>Practical reminder: If scope is unknown, say what has been tested and what still needs confirmation. Unknown scope is acceptable only when the ticket explains the gap and the plan to close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Logs should be relevant, focused, and tied to the issue timeframe. Large log dumps slow investigation and may create privacy or security concerns.</a:t>
            </a:r>
          </a:p>
          <a:p>
            <a:r>
              <a:rPr sz="1100">
                <a:latin typeface="Aptos"/>
              </a:rPr>
              <a:t>Explain the 10-minute guidance: collect a window before and after the issue so investigators can see setup, failure, and after-effects. Adjust the window for intermittent or long-running jobs when needed.</a:t>
            </a:r>
          </a:p>
          <a:p>
            <a:r>
              <a:rPr sz="1100">
                <a:latin typeface="Aptos"/>
              </a:rPr>
              <a:t>Practical reminder: Always include the timezone and exact timestamp of reproduction. A log file without timing context can be difficult to use.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Use this comparison to make escalation quality tangible. The bad example is common because it feels urgent, but it gives the next team almost nothing to act on.</a:t>
            </a:r>
          </a:p>
          <a:p>
            <a:r>
              <a:rPr sz="1100">
                <a:latin typeface="Aptos"/>
              </a:rPr>
              <a:t>Walk through the good example line by line. It contains customer, version, impact, timing, scope, evidence, KB check, and senior review. Development can immediately decide how to reproduce or inspect logs.</a:t>
            </a:r>
          </a:p>
          <a:p>
            <a:r>
              <a:rPr sz="1100">
                <a:latin typeface="Aptos"/>
              </a:rPr>
              <a:t>Discussion prompt: Ask attendees what they would add to the good example for a reporting issue. Expected answers include report ID, exam ID, expected text, actual text, and exact timestamp.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Introduce Module 4 as the prevention layer. Good support organizations reuse knowledge and collaborate before escalating to engineering.</a:t>
            </a:r>
          </a:p>
          <a:p>
            <a:r>
              <a:rPr sz="1100">
                <a:latin typeface="Aptos"/>
              </a:rPr>
              <a:t>Explain that KB search and previous ticket review are not optional administrative steps. They identify known workarounds, configuration fixes, release behavior, and prior Development conclusions.</a:t>
            </a:r>
          </a:p>
          <a:p>
            <a:r>
              <a:rPr sz="1100">
                <a:latin typeface="Aptos"/>
              </a:rPr>
              <a:t>Practical reminder: If no KB article exists for a recurring issue, Support should flag that as an improvement opportunity. Reducing repeat escalations depends on capturing knowledge after resolution.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Summarize the expected outcomes as observable behaviors. After this training, Support should classify issues correctly, complete standard checks, gather focused evidence, use the KB, consult internal experts, and escalate with quality.</a:t>
            </a:r>
          </a:p>
          <a:p>
            <a:r>
              <a:rPr sz="1100">
                <a:latin typeface="Aptos"/>
              </a:rPr>
              <a:t>Emphasize that this is a continuous improvement loop. Each resolved ticket should improve future troubleshooting through KB updates, better templates, and stronger examples.</a:t>
            </a:r>
          </a:p>
          <a:p>
            <a:r>
              <a:rPr sz="1100">
                <a:latin typeface="Aptos"/>
              </a:rPr>
              <a:t>Practical reminder: Encourage the team to use the slides as a desk reference. The checklists are designed to be reused in real tickets, not only remembered from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Aptos"/>
              </a:rPr>
              <a:t>Use the Q&amp;A to turn the training into action. Start with current escalation pain points: common issue types, missing information, delays, and repeated questions from Development.</a:t>
            </a:r>
          </a:p>
          <a:p>
            <a:r>
              <a:rPr sz="1100">
                <a:latin typeface="Aptos"/>
              </a:rPr>
              <a:t>Capture improvement ideas during discussion. Strong candidates include ticket template updates, KB article creation, training refreshers, quick-reference checklists, and better release note summaries.</a:t>
            </a:r>
          </a:p>
          <a:p>
            <a:r>
              <a:rPr sz="1100">
                <a:latin typeface="Aptos"/>
              </a:rPr>
              <a:t>Close by reinforcing partnership. The goal is not to reduce escalations by ignoring issues; the goal is to reduce unnecessary escalations and improve the quality of necessary ones.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D4D"/>
        </a:solidFill>
        <a:effectLst/>
      </p:bgPr>
    </p:bg>
    <p:spTree>
      <p:nvGrpSpPr>
        <p:cNvPr id="1" name=""/>
        <p:cNvGrpSpPr/>
        <p:nvPr/>
      </p:nvGrpSpPr>
      <p:grpSpPr>
        <a:xfrm>
          <a:off x="0" y="0"/>
          <a:ext cx="0" cy="0"/>
          <a:chOff x="0" y="0"/>
          <a:chExt cx="0" cy="0"/>
        </a:xfrm>
      </p:grpSpPr>
      <p:sp>
        <p:nvSpPr>
          <p:cNvPr id="2" name="Parallelogram 1"/>
          <p:cNvSpPr/>
          <p:nvPr/>
        </p:nvSpPr>
        <p:spPr>
          <a:xfrm>
            <a:off x="6583680" y="-182880"/>
            <a:ext cx="2560320" cy="7223760"/>
          </a:xfrm>
          <a:prstGeom prst="parallelogram">
            <a:avLst/>
          </a:prstGeom>
          <a:solidFill>
            <a:srgbClr val="184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Parallelogram 2"/>
          <p:cNvSpPr/>
          <p:nvPr/>
        </p:nvSpPr>
        <p:spPr>
          <a:xfrm>
            <a:off x="7406640" y="-182880"/>
            <a:ext cx="2560320" cy="7223760"/>
          </a:xfrm>
          <a:prstGeom prst="parallelogram">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Parallelogram 3"/>
          <p:cNvSpPr/>
          <p:nvPr/>
        </p:nvSpPr>
        <p:spPr>
          <a:xfrm>
            <a:off x="8229600" y="-182880"/>
            <a:ext cx="2560320" cy="7223760"/>
          </a:xfrm>
          <a:prstGeom prst="parallelogram">
            <a:avLst/>
          </a:prstGeom>
          <a:solidFill>
            <a:srgbClr val="115E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85800" y="685800"/>
            <a:ext cx="1463040" cy="32004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200" b="1" i="0" dirty="0">
                <a:solidFill>
                  <a:srgbClr val="FFFFFF"/>
                </a:solidFill>
                <a:latin typeface="Aptos"/>
              </a:rPr>
              <a:t>TRAINING DECK</a:t>
            </a:r>
          </a:p>
        </p:txBody>
      </p:sp>
      <p:sp>
        <p:nvSpPr>
          <p:cNvPr id="6" name="Rectangle 5"/>
          <p:cNvSpPr/>
          <p:nvPr/>
        </p:nvSpPr>
        <p:spPr>
          <a:xfrm>
            <a:off x="685800" y="1325880"/>
            <a:ext cx="6583680" cy="685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3600" b="1" i="0">
                <a:solidFill>
                  <a:srgbClr val="FFFFFF"/>
                </a:solidFill>
                <a:latin typeface="Aptos"/>
              </a:rPr>
              <a:t>Support Excellence Program</a:t>
            </a:r>
          </a:p>
        </p:txBody>
      </p:sp>
      <p:sp>
        <p:nvSpPr>
          <p:cNvPr id="7" name="Rectangle 6"/>
          <p:cNvSpPr/>
          <p:nvPr/>
        </p:nvSpPr>
        <p:spPr>
          <a:xfrm>
            <a:off x="685800" y="2057400"/>
            <a:ext cx="685800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400" b="1" i="0">
                <a:solidFill>
                  <a:srgbClr val="DBEAFE"/>
                </a:solidFill>
                <a:latin typeface="Aptos"/>
              </a:rPr>
              <a:t>How to Troubleshoot, Investigate, and Escalate Effectively</a:t>
            </a:r>
          </a:p>
        </p:txBody>
      </p:sp>
      <p:sp>
        <p:nvSpPr>
          <p:cNvPr id="8" name="Rounded Rectangle 7"/>
          <p:cNvSpPr/>
          <p:nvPr/>
        </p:nvSpPr>
        <p:spPr>
          <a:xfrm>
            <a:off x="713232" y="2999232"/>
            <a:ext cx="5394960" cy="1143000"/>
          </a:xfrm>
          <a:prstGeom prst="roundRect">
            <a:avLst/>
          </a:prstGeom>
          <a:solidFill>
            <a:srgbClr val="EBF5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Audience</a:t>
            </a:r>
          </a:p>
          <a:p>
            <a:pPr>
              <a:spcBef>
                <a:spcPts val="500"/>
              </a:spcBef>
            </a:pPr>
            <a:r>
              <a:rPr sz="1300" dirty="0">
                <a:solidFill>
                  <a:srgbClr val="0F172A"/>
                </a:solidFill>
                <a:latin typeface="Aptos"/>
              </a:rPr>
              <a:t>Support Team </a:t>
            </a:r>
          </a:p>
        </p:txBody>
      </p:sp>
      <p:sp>
        <p:nvSpPr>
          <p:cNvPr id="9" name="Rounded Rectangle 8"/>
          <p:cNvSpPr/>
          <p:nvPr/>
        </p:nvSpPr>
        <p:spPr>
          <a:xfrm>
            <a:off x="713232" y="4279392"/>
            <a:ext cx="5394960" cy="1143000"/>
          </a:xfrm>
          <a:prstGeom prst="roundRect">
            <a:avLst/>
          </a:prstGeom>
          <a:solidFill>
            <a:srgbClr val="EAFBF2"/>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9756"/>
                </a:solidFill>
                <a:latin typeface="Aptos Display"/>
              </a:rPr>
              <a:t>Presented By</a:t>
            </a:r>
          </a:p>
          <a:p>
            <a:pPr>
              <a:spcBef>
                <a:spcPts val="500"/>
              </a:spcBef>
            </a:pPr>
            <a:r>
              <a:rPr sz="1300" dirty="0">
                <a:solidFill>
                  <a:srgbClr val="0F172A"/>
                </a:solidFill>
                <a:latin typeface="Aptos"/>
              </a:rPr>
              <a:t>Development Escalation</a:t>
            </a:r>
          </a:p>
        </p:txBody>
      </p:sp>
      <p:sp>
        <p:nvSpPr>
          <p:cNvPr id="10" name="Rectangle 9"/>
          <p:cNvSpPr/>
          <p:nvPr/>
        </p:nvSpPr>
        <p:spPr>
          <a:xfrm>
            <a:off x="7360920" y="1965960"/>
            <a:ext cx="3383280" cy="594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000" b="1" i="0">
                <a:solidFill>
                  <a:srgbClr val="FFFFFF"/>
                </a:solidFill>
                <a:latin typeface="Aptos"/>
              </a:rPr>
              <a:t>Support → Investigate → Escalate</a:t>
            </a:r>
          </a:p>
        </p:txBody>
      </p:sp>
      <p:sp>
        <p:nvSpPr>
          <p:cNvPr id="11" name="Rounded Rectangle 10"/>
          <p:cNvSpPr/>
          <p:nvPr/>
        </p:nvSpPr>
        <p:spPr>
          <a:xfrm>
            <a:off x="672084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Triage</a:t>
            </a:r>
          </a:p>
        </p:txBody>
      </p:sp>
      <p:cxnSp>
        <p:nvCxnSpPr>
          <p:cNvPr id="12" name="Connector 11"/>
          <p:cNvCxnSpPr/>
          <p:nvPr/>
        </p:nvCxnSpPr>
        <p:spPr>
          <a:xfrm>
            <a:off x="7687817" y="3163824"/>
            <a:ext cx="128017"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5241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Evidence</a:t>
            </a:r>
          </a:p>
        </p:txBody>
      </p:sp>
      <p:cxnSp>
        <p:nvCxnSpPr>
          <p:cNvPr id="14" name="Connector 13"/>
          <p:cNvCxnSpPr/>
          <p:nvPr/>
        </p:nvCxnSpPr>
        <p:spPr>
          <a:xfrm>
            <a:off x="8819388" y="3163824"/>
            <a:ext cx="128016"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98398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Review</a:t>
            </a:r>
          </a:p>
        </p:txBody>
      </p:sp>
      <p:cxnSp>
        <p:nvCxnSpPr>
          <p:cNvPr id="16" name="Connector 15"/>
          <p:cNvCxnSpPr/>
          <p:nvPr/>
        </p:nvCxnSpPr>
        <p:spPr>
          <a:xfrm>
            <a:off x="9950958" y="3163824"/>
            <a:ext cx="128016"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1555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Escalate</a:t>
            </a:r>
          </a:p>
        </p:txBody>
      </p:sp>
      <p:sp>
        <p:nvSpPr>
          <p:cNvPr id="18" name="Rectangle 17"/>
          <p:cNvSpPr/>
          <p:nvPr/>
        </p:nvSpPr>
        <p:spPr>
          <a:xfrm>
            <a:off x="7680960" y="4023360"/>
            <a:ext cx="2606040" cy="10058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3800" b="0" i="0">
                <a:solidFill>
                  <a:srgbClr val="FFFFFF"/>
                </a:solidFill>
                <a:latin typeface="Aptos"/>
              </a:rPr>
              <a:t>🛠️  🔍  📋  🚀</a:t>
            </a:r>
          </a:p>
        </p:txBody>
      </p:sp>
      <p:sp>
        <p:nvSpPr>
          <p:cNvPr id="19" name="Rectangle 18"/>
          <p:cNvSpPr/>
          <p:nvPr/>
        </p:nvSpPr>
        <p:spPr>
          <a:xfrm>
            <a:off x="685800" y="6309360"/>
            <a:ext cx="2743200" cy="20116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800" b="0" i="0">
                <a:solidFill>
                  <a:srgbClr val="CBD5E1"/>
                </a:solidFill>
                <a:latin typeface="Aptos"/>
              </a:rPr>
              <a:t>Corporate support training | Practical and action-oriented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PROGRAM CONTEXT</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Training Purpose</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508760"/>
            <a:ext cx="10652760" cy="9601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Goal of this session</a:t>
            </a:r>
          </a:p>
          <a:p>
            <a:pPr>
              <a:spcBef>
                <a:spcPts val="500"/>
              </a:spcBef>
            </a:pPr>
            <a:r>
              <a:rPr sz="1300" dirty="0">
                <a:solidFill>
                  <a:srgbClr val="0F172A"/>
                </a:solidFill>
                <a:latin typeface="Aptos"/>
              </a:rPr>
              <a:t>Improve support quality by helping </a:t>
            </a:r>
            <a:r>
              <a:rPr lang="en-US" sz="1300" dirty="0">
                <a:solidFill>
                  <a:srgbClr val="0F172A"/>
                </a:solidFill>
                <a:latin typeface="Aptos"/>
              </a:rPr>
              <a:t>Support</a:t>
            </a:r>
            <a:r>
              <a:rPr sz="1300" dirty="0">
                <a:solidFill>
                  <a:srgbClr val="0F172A"/>
                </a:solidFill>
                <a:latin typeface="Aptos"/>
              </a:rPr>
              <a:t> teams troubleshoot effectively, investigate issues properly, and escalate only when the correct information has been collected.</a:t>
            </a:r>
          </a:p>
        </p:txBody>
      </p:sp>
      <p:sp>
        <p:nvSpPr>
          <p:cNvPr id="8" name="Rounded Rectangle 7"/>
          <p:cNvSpPr/>
          <p:nvPr/>
        </p:nvSpPr>
        <p:spPr>
          <a:xfrm>
            <a:off x="86868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96695"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0" name="Rectangle 9"/>
          <p:cNvSpPr/>
          <p:nvPr/>
        </p:nvSpPr>
        <p:spPr>
          <a:xfrm>
            <a:off x="154533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Better investigation</a:t>
            </a:r>
          </a:p>
        </p:txBody>
      </p:sp>
      <p:sp>
        <p:nvSpPr>
          <p:cNvPr id="11" name="Rectangle 10"/>
          <p:cNvSpPr/>
          <p:nvPr/>
        </p:nvSpPr>
        <p:spPr>
          <a:xfrm>
            <a:off x="1033271"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Clear scope, reliable evidence, and reproducible steps.</a:t>
            </a:r>
          </a:p>
        </p:txBody>
      </p:sp>
      <p:sp>
        <p:nvSpPr>
          <p:cNvPr id="12" name="Rounded Rectangle 11"/>
          <p:cNvSpPr/>
          <p:nvPr/>
        </p:nvSpPr>
        <p:spPr>
          <a:xfrm>
            <a:off x="448056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608576"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4" name="Rectangle 13"/>
          <p:cNvSpPr/>
          <p:nvPr/>
        </p:nvSpPr>
        <p:spPr>
          <a:xfrm>
            <a:off x="515721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Faster resolution</a:t>
            </a:r>
          </a:p>
        </p:txBody>
      </p:sp>
      <p:sp>
        <p:nvSpPr>
          <p:cNvPr id="15" name="Rectangle 14"/>
          <p:cNvSpPr/>
          <p:nvPr/>
        </p:nvSpPr>
        <p:spPr>
          <a:xfrm>
            <a:off x="4645152"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Less back-and-forth; fewer delays between teams.</a:t>
            </a:r>
          </a:p>
        </p:txBody>
      </p:sp>
      <p:sp>
        <p:nvSpPr>
          <p:cNvPr id="16" name="Rounded Rectangle 15"/>
          <p:cNvSpPr/>
          <p:nvPr/>
        </p:nvSpPr>
        <p:spPr>
          <a:xfrm>
            <a:off x="809244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220456"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876909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Higher satisfaction</a:t>
            </a:r>
          </a:p>
        </p:txBody>
      </p:sp>
      <p:sp>
        <p:nvSpPr>
          <p:cNvPr id="19" name="Rectangle 18"/>
          <p:cNvSpPr/>
          <p:nvPr/>
        </p:nvSpPr>
        <p:spPr>
          <a:xfrm>
            <a:off x="8257031"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Customers see confident ownership and timely answers.</a:t>
            </a:r>
          </a:p>
        </p:txBody>
      </p:sp>
      <p:sp>
        <p:nvSpPr>
          <p:cNvPr id="20" name="Rounded Rectangle 19"/>
          <p:cNvSpPr/>
          <p:nvPr/>
        </p:nvSpPr>
        <p:spPr>
          <a:xfrm>
            <a:off x="1051560" y="4800599"/>
            <a:ext cx="10058400" cy="88696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dirty="0">
                <a:solidFill>
                  <a:srgbClr val="122D4D"/>
                </a:solidFill>
                <a:latin typeface="Aptos"/>
              </a:rPr>
              <a:t>Key message: Better investigation leads to faster resolution, fewer delays, and higher customer satisfaction.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sz="900" b="1" i="0" dirty="0">
              <a:solidFill>
                <a:srgbClr val="1F6FC4"/>
              </a:solidFill>
              <a:latin typeface="Aptos"/>
            </a:endParaRP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Agenda</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455664"/>
            <a:ext cx="7498079" cy="20116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800" b="0" i="0" dirty="0">
                <a:solidFill>
                  <a:srgbClr val="64748B"/>
                </a:solidFill>
                <a:latin typeface="Aptos"/>
              </a:rPr>
              <a:t>Support Excellence Program | Development Escalation Team </a:t>
            </a:r>
          </a:p>
        </p:txBody>
      </p:sp>
      <p:sp>
        <p:nvSpPr>
          <p:cNvPr id="7" name="Rounded Rectangle 6"/>
          <p:cNvSpPr/>
          <p:nvPr/>
        </p:nvSpPr>
        <p:spPr>
          <a:xfrm>
            <a:off x="868680" y="1417320"/>
            <a:ext cx="5029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1</a:t>
            </a:r>
          </a:p>
        </p:txBody>
      </p:sp>
      <p:sp>
        <p:nvSpPr>
          <p:cNvPr id="8" name="Rectangle 7"/>
          <p:cNvSpPr/>
          <p:nvPr/>
        </p:nvSpPr>
        <p:spPr>
          <a:xfrm>
            <a:off x="1508760" y="144475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Product Release Updates &amp; New Features</a:t>
            </a:r>
          </a:p>
        </p:txBody>
      </p:sp>
      <p:sp>
        <p:nvSpPr>
          <p:cNvPr id="10" name="Rounded Rectangle 9"/>
          <p:cNvSpPr/>
          <p:nvPr/>
        </p:nvSpPr>
        <p:spPr>
          <a:xfrm>
            <a:off x="868680" y="2286000"/>
            <a:ext cx="502920" cy="50292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2</a:t>
            </a:r>
          </a:p>
        </p:txBody>
      </p:sp>
      <p:sp>
        <p:nvSpPr>
          <p:cNvPr id="11" name="Rectangle 10"/>
          <p:cNvSpPr/>
          <p:nvPr/>
        </p:nvSpPr>
        <p:spPr>
          <a:xfrm>
            <a:off x="1508760" y="231343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Troubleshooting &amp; Initial Investigation</a:t>
            </a:r>
          </a:p>
        </p:txBody>
      </p:sp>
      <p:sp>
        <p:nvSpPr>
          <p:cNvPr id="13" name="Rounded Rectangle 12"/>
          <p:cNvSpPr/>
          <p:nvPr/>
        </p:nvSpPr>
        <p:spPr>
          <a:xfrm>
            <a:off x="868680" y="3154680"/>
            <a:ext cx="502920" cy="502920"/>
          </a:xfrm>
          <a:prstGeom prst="roundRect">
            <a:avLst/>
          </a:prstGeom>
          <a:solidFill>
            <a:srgbClr val="F2B83A"/>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3</a:t>
            </a:r>
          </a:p>
        </p:txBody>
      </p:sp>
      <p:sp>
        <p:nvSpPr>
          <p:cNvPr id="14" name="Rectangle 13"/>
          <p:cNvSpPr/>
          <p:nvPr/>
        </p:nvSpPr>
        <p:spPr>
          <a:xfrm>
            <a:off x="1508760" y="318211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Escalation Standards &amp; Required Information</a:t>
            </a:r>
          </a:p>
        </p:txBody>
      </p:sp>
      <p:sp>
        <p:nvSpPr>
          <p:cNvPr id="16" name="Rounded Rectangle 15"/>
          <p:cNvSpPr/>
          <p:nvPr/>
        </p:nvSpPr>
        <p:spPr>
          <a:xfrm>
            <a:off x="868680" y="4023359"/>
            <a:ext cx="5029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4</a:t>
            </a:r>
          </a:p>
        </p:txBody>
      </p:sp>
      <p:sp>
        <p:nvSpPr>
          <p:cNvPr id="17" name="Rectangle 16"/>
          <p:cNvSpPr/>
          <p:nvPr/>
        </p:nvSpPr>
        <p:spPr>
          <a:xfrm>
            <a:off x="1508760" y="4050791"/>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Knowledge Base Usage &amp; Internal Collaboration</a:t>
            </a:r>
          </a:p>
        </p:txBody>
      </p:sp>
      <p:sp>
        <p:nvSpPr>
          <p:cNvPr id="19" name="Rounded Rectangle 18"/>
          <p:cNvSpPr/>
          <p:nvPr/>
        </p:nvSpPr>
        <p:spPr>
          <a:xfrm>
            <a:off x="868680" y="4892040"/>
            <a:ext cx="502920" cy="502920"/>
          </a:xfrm>
          <a:prstGeom prst="round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5</a:t>
            </a:r>
          </a:p>
        </p:txBody>
      </p:sp>
      <p:sp>
        <p:nvSpPr>
          <p:cNvPr id="20" name="Rectangle 19"/>
          <p:cNvSpPr/>
          <p:nvPr/>
        </p:nvSpPr>
        <p:spPr>
          <a:xfrm>
            <a:off x="1508760" y="491947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Q&amp;A Session</a:t>
            </a:r>
          </a:p>
        </p:txBody>
      </p:sp>
      <p:sp>
        <p:nvSpPr>
          <p:cNvPr id="22" name="Rounded Rectangle 21"/>
          <p:cNvSpPr/>
          <p:nvPr/>
        </p:nvSpPr>
        <p:spPr>
          <a:xfrm>
            <a:off x="868680" y="5715000"/>
            <a:ext cx="10287000" cy="50292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Delivery approach</a:t>
            </a:r>
          </a:p>
          <a:p>
            <a:pPr>
              <a:spcBef>
                <a:spcPts val="500"/>
              </a:spcBef>
            </a:pPr>
            <a:r>
              <a:rPr sz="1300">
                <a:solidFill>
                  <a:srgbClr val="0F172A"/>
                </a:solidFill>
                <a:latin typeface="Aptos"/>
              </a:rPr>
              <a:t>Concise concepts, practical examples, checklists, and discussion prompts throughout.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1 – Product Release Updates and Feature Changes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46762"/>
            <a:ext cx="10424160" cy="91440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Release review method</a:t>
            </a:r>
          </a:p>
          <a:p>
            <a:pPr>
              <a:spcBef>
                <a:spcPts val="500"/>
              </a:spcBef>
            </a:pPr>
            <a:r>
              <a:rPr sz="1300" dirty="0">
                <a:solidFill>
                  <a:srgbClr val="0F172A"/>
                </a:solidFill>
                <a:latin typeface="Aptos"/>
              </a:rPr>
              <a:t>Do not review release notes item by item. Group changes by business area so Support can understand customer impact and expected behavior.</a:t>
            </a:r>
          </a:p>
        </p:txBody>
      </p:sp>
      <p:sp>
        <p:nvSpPr>
          <p:cNvPr id="8" name="Rounded Rectangle 7"/>
          <p:cNvSpPr/>
          <p:nvPr/>
        </p:nvSpPr>
        <p:spPr>
          <a:xfrm>
            <a:off x="822960"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Release note</a:t>
            </a:r>
          </a:p>
        </p:txBody>
      </p:sp>
      <p:cxnSp>
        <p:nvCxnSpPr>
          <p:cNvPr id="9" name="Connector 8"/>
          <p:cNvCxnSpPr/>
          <p:nvPr/>
        </p:nvCxnSpPr>
        <p:spPr>
          <a:xfrm>
            <a:off x="2752344"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16936"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Business area</a:t>
            </a:r>
          </a:p>
        </p:txBody>
      </p:sp>
      <p:cxnSp>
        <p:nvCxnSpPr>
          <p:cNvPr id="11" name="Connector 10"/>
          <p:cNvCxnSpPr/>
          <p:nvPr/>
        </p:nvCxnSpPr>
        <p:spPr>
          <a:xfrm>
            <a:off x="4846320"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10912"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Customer impact</a:t>
            </a:r>
          </a:p>
        </p:txBody>
      </p:sp>
      <p:cxnSp>
        <p:nvCxnSpPr>
          <p:cNvPr id="13" name="Connector 12"/>
          <p:cNvCxnSpPr/>
          <p:nvPr/>
        </p:nvCxnSpPr>
        <p:spPr>
          <a:xfrm>
            <a:off x="6940296"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104888"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Support checks</a:t>
            </a:r>
          </a:p>
        </p:txBody>
      </p:sp>
      <p:cxnSp>
        <p:nvCxnSpPr>
          <p:cNvPr id="15" name="Connector 14"/>
          <p:cNvCxnSpPr/>
          <p:nvPr/>
        </p:nvCxnSpPr>
        <p:spPr>
          <a:xfrm>
            <a:off x="9034272"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198864"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Escalation decision</a:t>
            </a:r>
          </a:p>
        </p:txBody>
      </p:sp>
      <p:sp>
        <p:nvSpPr>
          <p:cNvPr id="17" name="Rounded Rectangle 16"/>
          <p:cNvSpPr/>
          <p:nvPr/>
        </p:nvSpPr>
        <p:spPr>
          <a:xfrm>
            <a:off x="1005840" y="425195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261872" y="4206240"/>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dirty="0">
                <a:solidFill>
                  <a:srgbClr val="0F172A"/>
                </a:solidFill>
                <a:latin typeface="Aptos"/>
              </a:rPr>
              <a:t>Focus on changed workflows, permissions, defaults.</a:t>
            </a:r>
          </a:p>
        </p:txBody>
      </p:sp>
      <p:sp>
        <p:nvSpPr>
          <p:cNvPr id="19" name="Rounded Rectangle 18"/>
          <p:cNvSpPr/>
          <p:nvPr/>
        </p:nvSpPr>
        <p:spPr>
          <a:xfrm>
            <a:off x="1005840" y="480059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261872" y="475487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a:solidFill>
                  <a:srgbClr val="0F172A"/>
                </a:solidFill>
                <a:latin typeface="Aptos"/>
              </a:rPr>
              <a:t>Ask: “Could this be expected behavior after the release?” before labeling it a bug.</a:t>
            </a:r>
          </a:p>
        </p:txBody>
      </p:sp>
      <p:sp>
        <p:nvSpPr>
          <p:cNvPr id="21" name="Rounded Rectangle 20"/>
          <p:cNvSpPr/>
          <p:nvPr/>
        </p:nvSpPr>
        <p:spPr>
          <a:xfrm>
            <a:off x="1005840" y="534923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2" name="Rectangle 21"/>
          <p:cNvSpPr/>
          <p:nvPr/>
        </p:nvSpPr>
        <p:spPr>
          <a:xfrm>
            <a:off x="1261872" y="530351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dirty="0">
                <a:solidFill>
                  <a:srgbClr val="0F172A"/>
                </a:solidFill>
                <a:latin typeface="Aptos"/>
              </a:rPr>
              <a:t>Capture release-specific patterns in Knowledge Base articles and ticket macros.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Release Updates by Business Area</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94944"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243584"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Exam Workflow</a:t>
            </a:r>
          </a:p>
        </p:txBody>
      </p:sp>
      <p:sp>
        <p:nvSpPr>
          <p:cNvPr id="10" name="Rectangle 9"/>
          <p:cNvSpPr/>
          <p:nvPr/>
        </p:nvSpPr>
        <p:spPr>
          <a:xfrm>
            <a:off x="731520"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Deletion audit, soft delete, finalize controls</a:t>
            </a:r>
          </a:p>
        </p:txBody>
      </p:sp>
      <p:sp>
        <p:nvSpPr>
          <p:cNvPr id="11" name="Rounded Rectangle 10"/>
          <p:cNvSpPr/>
          <p:nvPr/>
        </p:nvSpPr>
        <p:spPr>
          <a:xfrm>
            <a:off x="2880360"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008376"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3557015"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Exam List &amp; Filters</a:t>
            </a:r>
          </a:p>
        </p:txBody>
      </p:sp>
      <p:sp>
        <p:nvSpPr>
          <p:cNvPr id="14" name="Rectangle 13"/>
          <p:cNvSpPr/>
          <p:nvPr/>
        </p:nvSpPr>
        <p:spPr>
          <a:xfrm>
            <a:off x="3044952"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Filtering, locations, permissions, dual-screen behavior</a:t>
            </a:r>
          </a:p>
        </p:txBody>
      </p:sp>
      <p:sp>
        <p:nvSpPr>
          <p:cNvPr id="15" name="Rounded Rectangle 14"/>
          <p:cNvSpPr/>
          <p:nvPr/>
        </p:nvSpPr>
        <p:spPr>
          <a:xfrm>
            <a:off x="5193792"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321807"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17" name="Rectangle 16"/>
          <p:cNvSpPr/>
          <p:nvPr/>
        </p:nvSpPr>
        <p:spPr>
          <a:xfrm>
            <a:off x="5870448"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Reporting &amp; Worksheets</a:t>
            </a:r>
          </a:p>
        </p:txBody>
      </p:sp>
      <p:sp>
        <p:nvSpPr>
          <p:cNvPr id="18" name="Rectangle 17"/>
          <p:cNvSpPr/>
          <p:nvPr/>
        </p:nvSpPr>
        <p:spPr>
          <a:xfrm>
            <a:off x="5358383"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Preview, Conclusion Editor, macros, worksheet fixes</a:t>
            </a:r>
          </a:p>
        </p:txBody>
      </p:sp>
      <p:sp>
        <p:nvSpPr>
          <p:cNvPr id="19" name="Rounded Rectangle 18"/>
          <p:cNvSpPr/>
          <p:nvPr/>
        </p:nvSpPr>
        <p:spPr>
          <a:xfrm>
            <a:off x="7507223"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635240"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1" name="Rectangle 20"/>
          <p:cNvSpPr/>
          <p:nvPr/>
        </p:nvSpPr>
        <p:spPr>
          <a:xfrm>
            <a:off x="8183879"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Integrations</a:t>
            </a:r>
          </a:p>
        </p:txBody>
      </p:sp>
      <p:sp>
        <p:nvSpPr>
          <p:cNvPr id="22" name="Rectangle 21"/>
          <p:cNvSpPr/>
          <p:nvPr/>
        </p:nvSpPr>
        <p:spPr>
          <a:xfrm>
            <a:off x="7671815"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HL7, routing, NPI, WADO, DICOM HTTP</a:t>
            </a:r>
          </a:p>
        </p:txBody>
      </p:sp>
      <p:sp>
        <p:nvSpPr>
          <p:cNvPr id="23" name="Rounded Rectangle 22"/>
          <p:cNvSpPr/>
          <p:nvPr/>
        </p:nvSpPr>
        <p:spPr>
          <a:xfrm>
            <a:off x="9820655"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948672"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C53030"/>
                </a:solidFill>
                <a:latin typeface="Aptos"/>
              </a:rPr>
              <a:t>🔐</a:t>
            </a:r>
          </a:p>
        </p:txBody>
      </p:sp>
      <p:sp>
        <p:nvSpPr>
          <p:cNvPr id="25" name="Rectangle 24"/>
          <p:cNvSpPr/>
          <p:nvPr/>
        </p:nvSpPr>
        <p:spPr>
          <a:xfrm>
            <a:off x="10497311"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Infrastructure &amp; Security</a:t>
            </a:r>
          </a:p>
        </p:txBody>
      </p:sp>
      <p:sp>
        <p:nvSpPr>
          <p:cNvPr id="26" name="Rectangle 25"/>
          <p:cNvSpPr/>
          <p:nvPr/>
        </p:nvSpPr>
        <p:spPr>
          <a:xfrm>
            <a:off x="9985247"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Documents, cache, hostname, hardening</a:t>
            </a:r>
          </a:p>
        </p:txBody>
      </p:sp>
      <p:sp>
        <p:nvSpPr>
          <p:cNvPr id="27" name="Rounded Rectangle 26"/>
          <p:cNvSpPr/>
          <p:nvPr/>
        </p:nvSpPr>
        <p:spPr>
          <a:xfrm>
            <a:off x="914400" y="5074920"/>
            <a:ext cx="10149840" cy="68580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Support lens</a:t>
            </a:r>
          </a:p>
          <a:p>
            <a:pPr>
              <a:spcBef>
                <a:spcPts val="500"/>
              </a:spcBef>
            </a:pPr>
            <a:r>
              <a:rPr sz="1300">
                <a:solidFill>
                  <a:srgbClr val="0F172A"/>
                </a:solidFill>
                <a:latin typeface="Aptos"/>
              </a:rPr>
              <a:t>For each category, identify what customers may report, what Support should verify first, and what evidence is needed if escalation is required.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1 Key Takeaways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463040"/>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8" name="Rectangle 7"/>
          <p:cNvSpPr/>
          <p:nvPr/>
        </p:nvSpPr>
        <p:spPr>
          <a:xfrm>
            <a:off x="1170432" y="141732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Not every behavior change is a bug.</a:t>
            </a:r>
          </a:p>
        </p:txBody>
      </p:sp>
      <p:sp>
        <p:nvSpPr>
          <p:cNvPr id="9" name="Rounded Rectangle 8"/>
          <p:cNvSpPr/>
          <p:nvPr/>
        </p:nvSpPr>
        <p:spPr>
          <a:xfrm>
            <a:off x="914400" y="2066543"/>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0" name="Rectangle 9"/>
          <p:cNvSpPr/>
          <p:nvPr/>
        </p:nvSpPr>
        <p:spPr>
          <a:xfrm>
            <a:off x="1170432" y="2020824"/>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Many issues after release are related to configuration, permissions, or workflow changes.</a:t>
            </a:r>
          </a:p>
        </p:txBody>
      </p:sp>
      <p:sp>
        <p:nvSpPr>
          <p:cNvPr id="11" name="Rounded Rectangle 10"/>
          <p:cNvSpPr/>
          <p:nvPr/>
        </p:nvSpPr>
        <p:spPr>
          <a:xfrm>
            <a:off x="914400" y="2670048"/>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2" name="Rectangle 11"/>
          <p:cNvSpPr/>
          <p:nvPr/>
        </p:nvSpPr>
        <p:spPr>
          <a:xfrm>
            <a:off x="1170432" y="2624328"/>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Support should compare reported behavior against the latest release functionality.</a:t>
            </a:r>
          </a:p>
        </p:txBody>
      </p:sp>
      <p:sp>
        <p:nvSpPr>
          <p:cNvPr id="13" name="Rounded Rectangle 12"/>
          <p:cNvSpPr/>
          <p:nvPr/>
        </p:nvSpPr>
        <p:spPr>
          <a:xfrm>
            <a:off x="914400" y="3273552"/>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4" name="Rectangle 13"/>
          <p:cNvSpPr/>
          <p:nvPr/>
        </p:nvSpPr>
        <p:spPr>
          <a:xfrm>
            <a:off x="1170432" y="3227832"/>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Clear release understanding reduces unnecessary escalations.</a:t>
            </a:r>
          </a:p>
        </p:txBody>
      </p:sp>
      <p:sp>
        <p:nvSpPr>
          <p:cNvPr id="15" name="Rounded Rectangle 14"/>
          <p:cNvSpPr/>
          <p:nvPr/>
        </p:nvSpPr>
        <p:spPr>
          <a:xfrm>
            <a:off x="1097280" y="5074920"/>
            <a:ext cx="9464040" cy="93268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dirty="0">
                <a:solidFill>
                  <a:srgbClr val="122D4D"/>
                </a:solidFill>
                <a:latin typeface="Aptos"/>
              </a:rPr>
              <a:t>Release awareness turns “something changed” into a focused investigation.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2 – Troubleshooting &amp; Initial Investigation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2423160"/>
            <a:ext cx="10469880" cy="91440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9756"/>
                </a:solidFill>
                <a:latin typeface="Aptos Display"/>
              </a:rPr>
              <a:t>Why this matters</a:t>
            </a:r>
          </a:p>
          <a:p>
            <a:pPr>
              <a:spcBef>
                <a:spcPts val="500"/>
              </a:spcBef>
            </a:pPr>
            <a:r>
              <a:rPr sz="1300" dirty="0">
                <a:solidFill>
                  <a:srgbClr val="0F172A"/>
                </a:solidFill>
                <a:latin typeface="Aptos"/>
              </a:rPr>
              <a:t>Troubleshooting is the most valuable skill for  Support and directly affects resolution speed, escalation quality, and customer confidence.</a:t>
            </a:r>
          </a:p>
        </p:txBody>
      </p:sp>
      <p:sp>
        <p:nvSpPr>
          <p:cNvPr id="17" name="Rounded Rectangle 16"/>
          <p:cNvSpPr/>
          <p:nvPr/>
        </p:nvSpPr>
        <p:spPr>
          <a:xfrm>
            <a:off x="914400" y="448055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34840"/>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dirty="0">
                <a:solidFill>
                  <a:srgbClr val="0F172A"/>
                </a:solidFill>
                <a:latin typeface="Aptos"/>
              </a:rPr>
              <a:t>A structured method prevents assumptions.</a:t>
            </a:r>
          </a:p>
        </p:txBody>
      </p:sp>
      <p:sp>
        <p:nvSpPr>
          <p:cNvPr id="19" name="Rounded Rectangle 18"/>
          <p:cNvSpPr/>
          <p:nvPr/>
        </p:nvSpPr>
        <p:spPr>
          <a:xfrm>
            <a:off x="914400" y="502919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498347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The goal is not to solve every issue; the goal is to establish facts before handoff.</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Troubleshooting Mindset</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32588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499616" y="144475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a:t>
            </a:r>
          </a:p>
        </p:txBody>
      </p:sp>
      <p:sp>
        <p:nvSpPr>
          <p:cNvPr id="10" name="Rectangle 9"/>
          <p:cNvSpPr/>
          <p:nvPr/>
        </p:nvSpPr>
        <p:spPr>
          <a:xfrm>
            <a:off x="987552" y="1856231"/>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What exactly is failing?</a:t>
            </a:r>
          </a:p>
        </p:txBody>
      </p:sp>
      <p:sp>
        <p:nvSpPr>
          <p:cNvPr id="11" name="Rounded Rectangle 10"/>
          <p:cNvSpPr/>
          <p:nvPr/>
        </p:nvSpPr>
        <p:spPr>
          <a:xfrm>
            <a:off x="6080760" y="132588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087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6757416" y="144475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Who?</a:t>
            </a:r>
          </a:p>
        </p:txBody>
      </p:sp>
      <p:sp>
        <p:nvSpPr>
          <p:cNvPr id="14" name="Rectangle 13"/>
          <p:cNvSpPr/>
          <p:nvPr/>
        </p:nvSpPr>
        <p:spPr>
          <a:xfrm>
            <a:off x="6245352" y="1856231"/>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One user or all users?</a:t>
            </a:r>
          </a:p>
        </p:txBody>
      </p:sp>
      <p:sp>
        <p:nvSpPr>
          <p:cNvPr id="15" name="Rounded Rectangle 14"/>
          <p:cNvSpPr/>
          <p:nvPr/>
        </p:nvSpPr>
        <p:spPr>
          <a:xfrm>
            <a:off x="822960" y="256032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50976" y="26700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7" name="Rectangle 16"/>
          <p:cNvSpPr/>
          <p:nvPr/>
        </p:nvSpPr>
        <p:spPr>
          <a:xfrm>
            <a:off x="1499616" y="2679191"/>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When?</a:t>
            </a:r>
          </a:p>
        </p:txBody>
      </p:sp>
      <p:sp>
        <p:nvSpPr>
          <p:cNvPr id="18" name="Rectangle 17"/>
          <p:cNvSpPr/>
          <p:nvPr/>
        </p:nvSpPr>
        <p:spPr>
          <a:xfrm>
            <a:off x="987552" y="309067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After upgrade? Always? Intermittent?</a:t>
            </a:r>
          </a:p>
        </p:txBody>
      </p:sp>
      <p:sp>
        <p:nvSpPr>
          <p:cNvPr id="19" name="Rounded Rectangle 18"/>
          <p:cNvSpPr/>
          <p:nvPr/>
        </p:nvSpPr>
        <p:spPr>
          <a:xfrm>
            <a:off x="6080760" y="256032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08776" y="26700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1" name="Rectangle 20"/>
          <p:cNvSpPr/>
          <p:nvPr/>
        </p:nvSpPr>
        <p:spPr>
          <a:xfrm>
            <a:off x="6757416" y="2679191"/>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Where?</a:t>
            </a:r>
          </a:p>
        </p:txBody>
      </p:sp>
      <p:sp>
        <p:nvSpPr>
          <p:cNvPr id="22" name="Rectangle 21"/>
          <p:cNvSpPr/>
          <p:nvPr/>
        </p:nvSpPr>
        <p:spPr>
          <a:xfrm>
            <a:off x="6245352" y="309067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Production? Test? Specific site?</a:t>
            </a:r>
          </a:p>
        </p:txBody>
      </p:sp>
      <p:sp>
        <p:nvSpPr>
          <p:cNvPr id="23" name="Rounded Rectangle 22"/>
          <p:cNvSpPr/>
          <p:nvPr/>
        </p:nvSpPr>
        <p:spPr>
          <a:xfrm>
            <a:off x="3429000" y="379476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557016" y="3904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5" name="Rectangle 24"/>
          <p:cNvSpPr/>
          <p:nvPr/>
        </p:nvSpPr>
        <p:spPr>
          <a:xfrm>
            <a:off x="4105656" y="391363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Scope?</a:t>
            </a:r>
          </a:p>
        </p:txBody>
      </p:sp>
      <p:sp>
        <p:nvSpPr>
          <p:cNvPr id="26" name="Rectangle 25"/>
          <p:cNvSpPr/>
          <p:nvPr/>
        </p:nvSpPr>
        <p:spPr>
          <a:xfrm>
            <a:off x="3593592" y="432511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One exam? One patient? One modality? All exams?</a:t>
            </a:r>
          </a:p>
        </p:txBody>
      </p:sp>
      <p:sp>
        <p:nvSpPr>
          <p:cNvPr id="27" name="Rounded Rectangle 26"/>
          <p:cNvSpPr/>
          <p:nvPr/>
        </p:nvSpPr>
        <p:spPr>
          <a:xfrm>
            <a:off x="1005840" y="5349240"/>
            <a:ext cx="9966960" cy="804672"/>
          </a:xfrm>
          <a:prstGeom prst="roundRect">
            <a:avLst/>
          </a:prstGeom>
          <a:solidFill>
            <a:srgbClr val="FFF7DB"/>
          </a:solidFill>
          <a:ln w="15240">
            <a:solidFill>
              <a:srgbClr val="F2B83A"/>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F2B83A"/>
                </a:solidFill>
                <a:latin typeface="Aptos Display"/>
              </a:rPr>
              <a:t>Rule of thumb</a:t>
            </a:r>
          </a:p>
          <a:p>
            <a:pPr>
              <a:spcBef>
                <a:spcPts val="500"/>
              </a:spcBef>
            </a:pPr>
            <a:r>
              <a:rPr sz="1300" dirty="0">
                <a:solidFill>
                  <a:srgbClr val="0F172A"/>
                </a:solidFill>
                <a:latin typeface="Aptos"/>
              </a:rPr>
              <a:t>If you cannot describe the symptom, impacted users, timing, environment, and scope, the issue is not ready for Development escalation.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Troubleshooting Matrix</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960120" y="1417320"/>
          <a:ext cx="10241280" cy="416052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594360">
                <a:tc>
                  <a:txBody>
                    <a:bodyPr/>
                    <a:lstStyle/>
                    <a:p>
                      <a:pPr algn="ctr"/>
                      <a:r>
                        <a:rPr sz="1500" b="1">
                          <a:solidFill>
                            <a:srgbClr val="FFFFFF"/>
                          </a:solidFill>
                          <a:latin typeface="Aptos"/>
                        </a:rPr>
                        <a:t>Issue Type</a:t>
                      </a:r>
                    </a:p>
                  </a:txBody>
                  <a:tcPr>
                    <a:solidFill>
                      <a:srgbClr val="122D4D"/>
                    </a:solidFill>
                  </a:tcPr>
                </a:tc>
                <a:tc>
                  <a:txBody>
                    <a:bodyPr/>
                    <a:lstStyle/>
                    <a:p>
                      <a:pPr algn="ctr"/>
                      <a:r>
                        <a:rPr sz="1500" b="1">
                          <a:solidFill>
                            <a:srgbClr val="FFFFFF"/>
                          </a:solidFill>
                          <a:latin typeface="Aptos"/>
                        </a:rPr>
                        <a:t>Key Questions</a:t>
                      </a:r>
                    </a:p>
                  </a:txBody>
                  <a:tcPr>
                    <a:solidFill>
                      <a:srgbClr val="122D4D"/>
                    </a:solidFill>
                  </a:tcPr>
                </a:tc>
                <a:extLst>
                  <a:ext uri="{0D108BD9-81ED-4DB2-BD59-A6C34878D82A}">
                    <a16:rowId xmlns:a16="http://schemas.microsoft.com/office/drawing/2014/main" val="10000"/>
                  </a:ext>
                </a:extLst>
              </a:tr>
              <a:tr h="594360">
                <a:tc>
                  <a:txBody>
                    <a:bodyPr/>
                    <a:lstStyle/>
                    <a:p>
                      <a:pPr algn="l"/>
                      <a:r>
                        <a:rPr sz="1500">
                          <a:solidFill>
                            <a:srgbClr val="0F172A"/>
                          </a:solidFill>
                          <a:latin typeface="Aptos"/>
                        </a:rPr>
                        <a:t>Login</a:t>
                      </a:r>
                    </a:p>
                  </a:txBody>
                  <a:tcPr marL="73152" marR="73152">
                    <a:solidFill>
                      <a:srgbClr val="FFFFFF"/>
                    </a:solidFill>
                  </a:tcPr>
                </a:tc>
                <a:tc>
                  <a:txBody>
                    <a:bodyPr/>
                    <a:lstStyle/>
                    <a:p>
                      <a:pPr algn="l"/>
                      <a:r>
                        <a:rPr sz="1500">
                          <a:solidFill>
                            <a:srgbClr val="0F172A"/>
                          </a:solidFill>
                          <a:latin typeface="Aptos"/>
                        </a:rPr>
                        <a:t>One user or all users?</a:t>
                      </a:r>
                    </a:p>
                  </a:txBody>
                  <a:tcPr marL="73152" marR="73152">
                    <a:solidFill>
                      <a:srgbClr val="FFFFFF"/>
                    </a:solidFill>
                  </a:tcPr>
                </a:tc>
                <a:extLst>
                  <a:ext uri="{0D108BD9-81ED-4DB2-BD59-A6C34878D82A}">
                    <a16:rowId xmlns:a16="http://schemas.microsoft.com/office/drawing/2014/main" val="10001"/>
                  </a:ext>
                </a:extLst>
              </a:tr>
              <a:tr h="594360">
                <a:tc>
                  <a:txBody>
                    <a:bodyPr/>
                    <a:lstStyle/>
                    <a:p>
                      <a:pPr algn="l"/>
                      <a:r>
                        <a:rPr sz="1500">
                          <a:solidFill>
                            <a:srgbClr val="0F172A"/>
                          </a:solidFill>
                          <a:latin typeface="Aptos"/>
                        </a:rPr>
                        <a:t>Reporting</a:t>
                      </a:r>
                    </a:p>
                  </a:txBody>
                  <a:tcPr marL="73152" marR="73152">
                    <a:solidFill>
                      <a:srgbClr val="F3F6FA"/>
                    </a:solidFill>
                  </a:tcPr>
                </a:tc>
                <a:tc>
                  <a:txBody>
                    <a:bodyPr/>
                    <a:lstStyle/>
                    <a:p>
                      <a:pPr algn="l"/>
                      <a:r>
                        <a:rPr sz="1500">
                          <a:solidFill>
                            <a:srgbClr val="0F172A"/>
                          </a:solidFill>
                          <a:latin typeface="Aptos"/>
                        </a:rPr>
                        <a:t>One report or all reports?</a:t>
                      </a:r>
                    </a:p>
                  </a:txBody>
                  <a:tcPr marL="73152" marR="73152">
                    <a:solidFill>
                      <a:srgbClr val="F3F6FA"/>
                    </a:solidFill>
                  </a:tcPr>
                </a:tc>
                <a:extLst>
                  <a:ext uri="{0D108BD9-81ED-4DB2-BD59-A6C34878D82A}">
                    <a16:rowId xmlns:a16="http://schemas.microsoft.com/office/drawing/2014/main" val="10002"/>
                  </a:ext>
                </a:extLst>
              </a:tr>
              <a:tr h="594360">
                <a:tc>
                  <a:txBody>
                    <a:bodyPr/>
                    <a:lstStyle/>
                    <a:p>
                      <a:pPr algn="l"/>
                      <a:r>
                        <a:rPr sz="1500">
                          <a:solidFill>
                            <a:srgbClr val="0F172A"/>
                          </a:solidFill>
                          <a:latin typeface="Aptos"/>
                        </a:rPr>
                        <a:t>HL7</a:t>
                      </a:r>
                    </a:p>
                  </a:txBody>
                  <a:tcPr marL="73152" marR="73152">
                    <a:solidFill>
                      <a:srgbClr val="FFFFFF"/>
                    </a:solidFill>
                  </a:tcPr>
                </a:tc>
                <a:tc>
                  <a:txBody>
                    <a:bodyPr/>
                    <a:lstStyle/>
                    <a:p>
                      <a:pPr algn="l"/>
                      <a:r>
                        <a:rPr sz="1500">
                          <a:solidFill>
                            <a:srgbClr val="0F172A"/>
                          </a:solidFill>
                          <a:latin typeface="Aptos"/>
                        </a:rPr>
                        <a:t>One message or all messages?</a:t>
                      </a:r>
                    </a:p>
                  </a:txBody>
                  <a:tcPr marL="73152" marR="73152">
                    <a:solidFill>
                      <a:srgbClr val="FFFFFF"/>
                    </a:solidFill>
                  </a:tcPr>
                </a:tc>
                <a:extLst>
                  <a:ext uri="{0D108BD9-81ED-4DB2-BD59-A6C34878D82A}">
                    <a16:rowId xmlns:a16="http://schemas.microsoft.com/office/drawing/2014/main" val="10003"/>
                  </a:ext>
                </a:extLst>
              </a:tr>
              <a:tr h="594360">
                <a:tc>
                  <a:txBody>
                    <a:bodyPr/>
                    <a:lstStyle/>
                    <a:p>
                      <a:pPr algn="l"/>
                      <a:r>
                        <a:rPr sz="1500">
                          <a:solidFill>
                            <a:srgbClr val="0F172A"/>
                          </a:solidFill>
                          <a:latin typeface="Aptos"/>
                        </a:rPr>
                        <a:t>Viewer</a:t>
                      </a:r>
                    </a:p>
                  </a:txBody>
                  <a:tcPr marL="73152" marR="73152">
                    <a:solidFill>
                      <a:srgbClr val="F3F6FA"/>
                    </a:solidFill>
                  </a:tcPr>
                </a:tc>
                <a:tc>
                  <a:txBody>
                    <a:bodyPr/>
                    <a:lstStyle/>
                    <a:p>
                      <a:pPr algn="l"/>
                      <a:r>
                        <a:rPr sz="1500">
                          <a:solidFill>
                            <a:srgbClr val="0F172A"/>
                          </a:solidFill>
                          <a:latin typeface="Aptos"/>
                        </a:rPr>
                        <a:t>One workstation or all workstations?</a:t>
                      </a:r>
                    </a:p>
                  </a:txBody>
                  <a:tcPr marL="73152" marR="73152">
                    <a:solidFill>
                      <a:srgbClr val="F3F6FA"/>
                    </a:solidFill>
                  </a:tcPr>
                </a:tc>
                <a:extLst>
                  <a:ext uri="{0D108BD9-81ED-4DB2-BD59-A6C34878D82A}">
                    <a16:rowId xmlns:a16="http://schemas.microsoft.com/office/drawing/2014/main" val="10004"/>
                  </a:ext>
                </a:extLst>
              </a:tr>
              <a:tr h="594360">
                <a:tc>
                  <a:txBody>
                    <a:bodyPr/>
                    <a:lstStyle/>
                    <a:p>
                      <a:pPr algn="l"/>
                      <a:r>
                        <a:rPr sz="1500">
                          <a:solidFill>
                            <a:srgbClr val="0F172A"/>
                          </a:solidFill>
                          <a:latin typeface="Aptos"/>
                        </a:rPr>
                        <a:t>Performance</a:t>
                      </a:r>
                    </a:p>
                  </a:txBody>
                  <a:tcPr marL="73152" marR="73152">
                    <a:solidFill>
                      <a:srgbClr val="FFFFFF"/>
                    </a:solidFill>
                  </a:tcPr>
                </a:tc>
                <a:tc>
                  <a:txBody>
                    <a:bodyPr/>
                    <a:lstStyle/>
                    <a:p>
                      <a:pPr algn="l"/>
                      <a:r>
                        <a:rPr sz="1500">
                          <a:solidFill>
                            <a:srgbClr val="0F172A"/>
                          </a:solidFill>
                          <a:latin typeface="Aptos"/>
                        </a:rPr>
                        <a:t>One user or all users?</a:t>
                      </a:r>
                    </a:p>
                  </a:txBody>
                  <a:tcPr marL="73152" marR="73152">
                    <a:solidFill>
                      <a:srgbClr val="FFFFFF"/>
                    </a:solidFill>
                  </a:tcPr>
                </a:tc>
                <a:extLst>
                  <a:ext uri="{0D108BD9-81ED-4DB2-BD59-A6C34878D82A}">
                    <a16:rowId xmlns:a16="http://schemas.microsoft.com/office/drawing/2014/main" val="10005"/>
                  </a:ext>
                </a:extLst>
              </a:tr>
              <a:tr h="594360">
                <a:tc>
                  <a:txBody>
                    <a:bodyPr/>
                    <a:lstStyle/>
                    <a:p>
                      <a:pPr algn="l"/>
                      <a:r>
                        <a:rPr sz="1500">
                          <a:solidFill>
                            <a:srgbClr val="0F172A"/>
                          </a:solidFill>
                          <a:latin typeface="Aptos"/>
                        </a:rPr>
                        <a:t>Database</a:t>
                      </a:r>
                    </a:p>
                  </a:txBody>
                  <a:tcPr marL="73152" marR="73152">
                    <a:solidFill>
                      <a:srgbClr val="F3F6FA"/>
                    </a:solidFill>
                  </a:tcPr>
                </a:tc>
                <a:tc>
                  <a:txBody>
                    <a:bodyPr/>
                    <a:lstStyle/>
                    <a:p>
                      <a:pPr algn="l"/>
                      <a:r>
                        <a:rPr sz="1500">
                          <a:solidFill>
                            <a:srgbClr val="0F172A"/>
                          </a:solidFill>
                          <a:latin typeface="Aptos"/>
                        </a:rPr>
                        <a:t>Specific operation or whole system?</a:t>
                      </a:r>
                    </a:p>
                  </a:txBody>
                  <a:tcPr marL="73152" marR="73152">
                    <a:solidFill>
                      <a:srgbClr val="F3F6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3 – Escalation Standards and Required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99516" y="1586484"/>
            <a:ext cx="10469880" cy="9144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Escalation principle</a:t>
            </a:r>
          </a:p>
          <a:p>
            <a:pPr>
              <a:spcBef>
                <a:spcPts val="500"/>
              </a:spcBef>
            </a:pPr>
            <a:r>
              <a:rPr sz="1300">
                <a:solidFill>
                  <a:srgbClr val="0F172A"/>
                </a:solidFill>
                <a:latin typeface="Aptos"/>
              </a:rPr>
              <a:t>Development cannot investigate effectively without complete information. A high-quality escalation reduces back-and-forth and speeds up resolution.</a:t>
            </a:r>
          </a:p>
        </p:txBody>
      </p:sp>
      <p:sp>
        <p:nvSpPr>
          <p:cNvPr id="8" name="Rounded Rectangle 7"/>
          <p:cNvSpPr/>
          <p:nvPr/>
        </p:nvSpPr>
        <p:spPr>
          <a:xfrm>
            <a:off x="868680"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Complete facts</a:t>
            </a:r>
          </a:p>
        </p:txBody>
      </p:sp>
      <p:cxnSp>
        <p:nvCxnSpPr>
          <p:cNvPr id="9" name="Connector 8"/>
          <p:cNvCxnSpPr/>
          <p:nvPr/>
        </p:nvCxnSpPr>
        <p:spPr>
          <a:xfrm>
            <a:off x="2752344" y="3337560"/>
            <a:ext cx="128015"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16935"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Evidence attached</a:t>
            </a:r>
          </a:p>
        </p:txBody>
      </p:sp>
      <p:cxnSp>
        <p:nvCxnSpPr>
          <p:cNvPr id="11" name="Connector 10"/>
          <p:cNvCxnSpPr/>
          <p:nvPr/>
        </p:nvCxnSpPr>
        <p:spPr>
          <a:xfrm>
            <a:off x="4800599"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65192"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Senior review</a:t>
            </a:r>
          </a:p>
        </p:txBody>
      </p:sp>
      <p:cxnSp>
        <p:nvCxnSpPr>
          <p:cNvPr id="13" name="Connector 12"/>
          <p:cNvCxnSpPr/>
          <p:nvPr/>
        </p:nvCxnSpPr>
        <p:spPr>
          <a:xfrm>
            <a:off x="6848855"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13447"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Clear ask</a:t>
            </a:r>
          </a:p>
        </p:txBody>
      </p:sp>
      <p:cxnSp>
        <p:nvCxnSpPr>
          <p:cNvPr id="15" name="Connector 14"/>
          <p:cNvCxnSpPr/>
          <p:nvPr/>
        </p:nvCxnSpPr>
        <p:spPr>
          <a:xfrm>
            <a:off x="8897111"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061703"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Development action</a:t>
            </a:r>
          </a:p>
        </p:txBody>
      </p:sp>
      <p:sp>
        <p:nvSpPr>
          <p:cNvPr id="17" name="Rounded Rectangle 16"/>
          <p:cNvSpPr/>
          <p:nvPr/>
        </p:nvSpPr>
        <p:spPr>
          <a:xfrm>
            <a:off x="914400" y="452628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80560"/>
            <a:ext cx="952804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Escalation is a handoff, not a restart of investigation.</a:t>
            </a:r>
          </a:p>
        </p:txBody>
      </p:sp>
      <p:sp>
        <p:nvSpPr>
          <p:cNvPr id="19" name="Rounded Rectangle 18"/>
          <p:cNvSpPr/>
          <p:nvPr/>
        </p:nvSpPr>
        <p:spPr>
          <a:xfrm>
            <a:off x="914400" y="507492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5029200"/>
            <a:ext cx="952804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The ticket should be complete enough for Development to reproduce, inspect, or make a decision.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Escalation Template Overview</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0525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9" name="Rectangle 8"/>
          <p:cNvSpPr/>
          <p:nvPr/>
        </p:nvSpPr>
        <p:spPr>
          <a:xfrm>
            <a:off x="1453895"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Customer information</a:t>
            </a:r>
          </a:p>
        </p:txBody>
      </p:sp>
      <p:sp>
        <p:nvSpPr>
          <p:cNvPr id="10" name="Rounded Rectangle 9"/>
          <p:cNvSpPr/>
          <p:nvPr/>
        </p:nvSpPr>
        <p:spPr>
          <a:xfrm>
            <a:off x="4480559"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08575"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5157216"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Environment information</a:t>
            </a:r>
          </a:p>
        </p:txBody>
      </p:sp>
      <p:sp>
        <p:nvSpPr>
          <p:cNvPr id="13" name="Rounded Rectangle 12"/>
          <p:cNvSpPr/>
          <p:nvPr/>
        </p:nvSpPr>
        <p:spPr>
          <a:xfrm>
            <a:off x="8183879"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31189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5" name="Rectangle 14"/>
          <p:cNvSpPr/>
          <p:nvPr/>
        </p:nvSpPr>
        <p:spPr>
          <a:xfrm>
            <a:off x="8860536"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Access information</a:t>
            </a:r>
          </a:p>
        </p:txBody>
      </p:sp>
      <p:sp>
        <p:nvSpPr>
          <p:cNvPr id="16" name="Rounded Rectangle 15"/>
          <p:cNvSpPr/>
          <p:nvPr/>
        </p:nvSpPr>
        <p:spPr>
          <a:xfrm>
            <a:off x="777240"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5256"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1453895"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Upgrade information</a:t>
            </a:r>
          </a:p>
        </p:txBody>
      </p:sp>
      <p:sp>
        <p:nvSpPr>
          <p:cNvPr id="19" name="Rounded Rectangle 18"/>
          <p:cNvSpPr/>
          <p:nvPr/>
        </p:nvSpPr>
        <p:spPr>
          <a:xfrm>
            <a:off x="4480559"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608575"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1" name="Rectangle 20"/>
          <p:cNvSpPr/>
          <p:nvPr/>
        </p:nvSpPr>
        <p:spPr>
          <a:xfrm>
            <a:off x="5157216"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Issue classification</a:t>
            </a:r>
          </a:p>
        </p:txBody>
      </p:sp>
      <p:sp>
        <p:nvSpPr>
          <p:cNvPr id="22" name="Rounded Rectangle 21"/>
          <p:cNvSpPr/>
          <p:nvPr/>
        </p:nvSpPr>
        <p:spPr>
          <a:xfrm>
            <a:off x="8183879"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311896"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4" name="Rectangle 23"/>
          <p:cNvSpPr/>
          <p:nvPr/>
        </p:nvSpPr>
        <p:spPr>
          <a:xfrm>
            <a:off x="8860536"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Scope assessment</a:t>
            </a:r>
          </a:p>
        </p:txBody>
      </p:sp>
      <p:sp>
        <p:nvSpPr>
          <p:cNvPr id="25" name="Rounded Rectangle 24"/>
          <p:cNvSpPr/>
          <p:nvPr/>
        </p:nvSpPr>
        <p:spPr>
          <a:xfrm>
            <a:off x="777240"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05256"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7" name="Rectangle 26"/>
          <p:cNvSpPr/>
          <p:nvPr/>
        </p:nvSpPr>
        <p:spPr>
          <a:xfrm>
            <a:off x="1453895"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Reproduction steps</a:t>
            </a:r>
          </a:p>
        </p:txBody>
      </p:sp>
      <p:sp>
        <p:nvSpPr>
          <p:cNvPr id="28" name="Rounded Rectangle 27"/>
          <p:cNvSpPr/>
          <p:nvPr/>
        </p:nvSpPr>
        <p:spPr>
          <a:xfrm>
            <a:off x="4480559"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608575"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30" name="Rectangle 29"/>
          <p:cNvSpPr/>
          <p:nvPr/>
        </p:nvSpPr>
        <p:spPr>
          <a:xfrm>
            <a:off x="5157216"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Expected result</a:t>
            </a:r>
          </a:p>
        </p:txBody>
      </p:sp>
      <p:sp>
        <p:nvSpPr>
          <p:cNvPr id="31" name="Rounded Rectangle 30"/>
          <p:cNvSpPr/>
          <p:nvPr/>
        </p:nvSpPr>
        <p:spPr>
          <a:xfrm>
            <a:off x="8183879"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311896"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33" name="Rectangle 32"/>
          <p:cNvSpPr/>
          <p:nvPr/>
        </p:nvSpPr>
        <p:spPr>
          <a:xfrm>
            <a:off x="8860536"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Actual result</a:t>
            </a:r>
          </a:p>
        </p:txBody>
      </p:sp>
      <p:sp>
        <p:nvSpPr>
          <p:cNvPr id="34" name="Rounded Rectangle 33"/>
          <p:cNvSpPr/>
          <p:nvPr/>
        </p:nvSpPr>
        <p:spPr>
          <a:xfrm>
            <a:off x="777240" y="3575304"/>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05256"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36" name="Rectangle 35"/>
          <p:cNvSpPr/>
          <p:nvPr/>
        </p:nvSpPr>
        <p:spPr>
          <a:xfrm>
            <a:off x="1453895" y="3694176"/>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Screenshots</a:t>
            </a:r>
          </a:p>
        </p:txBody>
      </p:sp>
      <p:sp>
        <p:nvSpPr>
          <p:cNvPr id="37" name="Rounded Rectangle 36"/>
          <p:cNvSpPr/>
          <p:nvPr/>
        </p:nvSpPr>
        <p:spPr>
          <a:xfrm>
            <a:off x="4480559" y="3575304"/>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608575"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39" name="Rectangle 38"/>
          <p:cNvSpPr/>
          <p:nvPr/>
        </p:nvSpPr>
        <p:spPr>
          <a:xfrm>
            <a:off x="5157216" y="3694176"/>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Required logs</a:t>
            </a:r>
          </a:p>
        </p:txBody>
      </p:sp>
      <p:sp>
        <p:nvSpPr>
          <p:cNvPr id="41" name="Rectangle 40"/>
          <p:cNvSpPr/>
          <p:nvPr/>
        </p:nvSpPr>
        <p:spPr>
          <a:xfrm>
            <a:off x="8311896"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endParaRPr sz="2200" b="0" i="0" dirty="0">
              <a:solidFill>
                <a:srgbClr val="F2B83A"/>
              </a:solidFill>
              <a:latin typeface="Apto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Customer and Environment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extLst>
              <p:ext uri="{D42A27DB-BD31-4B8C-83A1-F6EECF244321}">
                <p14:modId xmlns:p14="http://schemas.microsoft.com/office/powerpoint/2010/main" val="1041746920"/>
              </p:ext>
            </p:extLst>
          </p:nvPr>
        </p:nvGraphicFramePr>
        <p:xfrm>
          <a:off x="914400" y="1417320"/>
          <a:ext cx="5074920" cy="27432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tblGrid>
              <a:tr h="548640">
                <a:tc>
                  <a:txBody>
                    <a:bodyPr/>
                    <a:lstStyle/>
                    <a:p>
                      <a:pPr algn="ctr"/>
                      <a:r>
                        <a:rPr sz="1200" b="1">
                          <a:solidFill>
                            <a:srgbClr val="FFFFFF"/>
                          </a:solidFill>
                          <a:latin typeface="Aptos"/>
                        </a:rPr>
                        <a:t>Customer Information</a:t>
                      </a:r>
                    </a:p>
                  </a:txBody>
                  <a:tcPr>
                    <a:solidFill>
                      <a:srgbClr val="122D4D"/>
                    </a:solidFill>
                  </a:tcPr>
                </a:tc>
                <a:tc>
                  <a:txBody>
                    <a:bodyPr/>
                    <a:lstStyle/>
                    <a:p>
                      <a:pPr algn="ctr"/>
                      <a:r>
                        <a:rPr sz="12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48640">
                <a:tc>
                  <a:txBody>
                    <a:bodyPr/>
                    <a:lstStyle/>
                    <a:p>
                      <a:pPr algn="l"/>
                      <a:r>
                        <a:rPr sz="1200">
                          <a:solidFill>
                            <a:srgbClr val="0F172A"/>
                          </a:solidFill>
                          <a:latin typeface="Aptos"/>
                        </a:rPr>
                        <a:t>Customer name</a:t>
                      </a:r>
                    </a:p>
                  </a:txBody>
                  <a:tcPr marL="73152" marR="73152">
                    <a:solidFill>
                      <a:srgbClr val="FFFFFF"/>
                    </a:solidFill>
                  </a:tcPr>
                </a:tc>
                <a:tc>
                  <a:txBody>
                    <a:bodyPr/>
                    <a:lstStyle/>
                    <a:p>
                      <a:pPr algn="l"/>
                      <a:r>
                        <a:rPr sz="1200">
                          <a:solidFill>
                            <a:srgbClr val="0F172A"/>
                          </a:solidFill>
                          <a:latin typeface="Aptos"/>
                        </a:rPr>
                        <a:t>Full customer/account name</a:t>
                      </a:r>
                    </a:p>
                  </a:txBody>
                  <a:tcPr marL="73152" marR="73152">
                    <a:solidFill>
                      <a:srgbClr val="FFFFFF"/>
                    </a:solidFill>
                  </a:tcPr>
                </a:tc>
                <a:extLst>
                  <a:ext uri="{0D108BD9-81ED-4DB2-BD59-A6C34878D82A}">
                    <a16:rowId xmlns:a16="http://schemas.microsoft.com/office/drawing/2014/main" val="10001"/>
                  </a:ext>
                </a:extLst>
              </a:tr>
              <a:tr h="548640">
                <a:tc>
                  <a:txBody>
                    <a:bodyPr/>
                    <a:lstStyle/>
                    <a:p>
                      <a:pPr algn="l"/>
                      <a:r>
                        <a:rPr sz="1200">
                          <a:solidFill>
                            <a:srgbClr val="0F172A"/>
                          </a:solidFill>
                          <a:latin typeface="Aptos"/>
                        </a:rPr>
                        <a:t>Environment</a:t>
                      </a:r>
                    </a:p>
                  </a:txBody>
                  <a:tcPr marL="73152" marR="73152">
                    <a:solidFill>
                      <a:srgbClr val="F3F6FA"/>
                    </a:solidFill>
                  </a:tcPr>
                </a:tc>
                <a:tc>
                  <a:txBody>
                    <a:bodyPr/>
                    <a:lstStyle/>
                    <a:p>
                      <a:pPr algn="l"/>
                      <a:r>
                        <a:rPr sz="1200">
                          <a:solidFill>
                            <a:srgbClr val="0F172A"/>
                          </a:solidFill>
                          <a:latin typeface="Aptos"/>
                        </a:rPr>
                        <a:t>Production or Test</a:t>
                      </a:r>
                    </a:p>
                  </a:txBody>
                  <a:tcPr marL="73152" marR="73152">
                    <a:solidFill>
                      <a:srgbClr val="F3F6FA"/>
                    </a:solidFill>
                  </a:tcPr>
                </a:tc>
                <a:extLst>
                  <a:ext uri="{0D108BD9-81ED-4DB2-BD59-A6C34878D82A}">
                    <a16:rowId xmlns:a16="http://schemas.microsoft.com/office/drawing/2014/main" val="10002"/>
                  </a:ext>
                </a:extLst>
              </a:tr>
              <a:tr h="548640">
                <a:tc>
                  <a:txBody>
                    <a:bodyPr/>
                    <a:lstStyle/>
                    <a:p>
                      <a:pPr algn="l"/>
                      <a:r>
                        <a:rPr sz="1200">
                          <a:solidFill>
                            <a:srgbClr val="0F172A"/>
                          </a:solidFill>
                          <a:latin typeface="Aptos"/>
                        </a:rPr>
                        <a:t>Version</a:t>
                      </a:r>
                    </a:p>
                  </a:txBody>
                  <a:tcPr marL="73152" marR="73152">
                    <a:solidFill>
                      <a:srgbClr val="FFFFFF"/>
                    </a:solidFill>
                  </a:tcPr>
                </a:tc>
                <a:tc>
                  <a:txBody>
                    <a:bodyPr/>
                    <a:lstStyle/>
                    <a:p>
                      <a:pPr algn="l"/>
                      <a:r>
                        <a:rPr sz="1200">
                          <a:solidFill>
                            <a:srgbClr val="0F172A"/>
                          </a:solidFill>
                          <a:latin typeface="Aptos"/>
                        </a:rPr>
                        <a:t>Installed product version</a:t>
                      </a:r>
                    </a:p>
                  </a:txBody>
                  <a:tcPr marL="73152" marR="73152">
                    <a:solidFill>
                      <a:srgbClr val="FFFFFF"/>
                    </a:solidFill>
                  </a:tcPr>
                </a:tc>
                <a:extLst>
                  <a:ext uri="{0D108BD9-81ED-4DB2-BD59-A6C34878D82A}">
                    <a16:rowId xmlns:a16="http://schemas.microsoft.com/office/drawing/2014/main" val="10003"/>
                  </a:ext>
                </a:extLst>
              </a:tr>
              <a:tr h="548640">
                <a:tc>
                  <a:txBody>
                    <a:bodyPr/>
                    <a:lstStyle/>
                    <a:p>
                      <a:pPr algn="l"/>
                      <a:r>
                        <a:rPr sz="1200">
                          <a:solidFill>
                            <a:srgbClr val="0F172A"/>
                          </a:solidFill>
                          <a:latin typeface="Aptos"/>
                        </a:rPr>
                        <a:t>Installation Type</a:t>
                      </a:r>
                    </a:p>
                  </a:txBody>
                  <a:tcPr marL="73152" marR="73152">
                    <a:solidFill>
                      <a:srgbClr val="F3F6FA"/>
                    </a:solidFill>
                  </a:tcPr>
                </a:tc>
                <a:tc>
                  <a:txBody>
                    <a:bodyPr/>
                    <a:lstStyle/>
                    <a:p>
                      <a:pPr algn="l"/>
                      <a:r>
                        <a:rPr sz="1200" dirty="0">
                          <a:solidFill>
                            <a:srgbClr val="0F172A"/>
                          </a:solidFill>
                          <a:latin typeface="Aptos"/>
                        </a:rPr>
                        <a:t>PACS Only / All-In-One /</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6492240" y="1508760"/>
            <a:ext cx="4114800" cy="25146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620255"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0" name="Rectangle 9"/>
          <p:cNvSpPr/>
          <p:nvPr/>
        </p:nvSpPr>
        <p:spPr>
          <a:xfrm>
            <a:off x="7168896" y="1627631"/>
            <a:ext cx="33101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Why it matters</a:t>
            </a:r>
          </a:p>
        </p:txBody>
      </p:sp>
      <p:sp>
        <p:nvSpPr>
          <p:cNvPr id="11" name="Rectangle 10"/>
          <p:cNvSpPr/>
          <p:nvPr/>
        </p:nvSpPr>
        <p:spPr>
          <a:xfrm>
            <a:off x="6656831" y="2039112"/>
            <a:ext cx="3785615" cy="19202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Customer and environment details route the issue correctly, reveal version-specific behavior, and prevent Development from investigating the wrong installation.</a:t>
            </a:r>
          </a:p>
        </p:txBody>
      </p:sp>
      <p:sp>
        <p:nvSpPr>
          <p:cNvPr id="12" name="Rounded Rectangle 11"/>
          <p:cNvSpPr/>
          <p:nvPr/>
        </p:nvSpPr>
        <p:spPr>
          <a:xfrm>
            <a:off x="914400" y="4892040"/>
            <a:ext cx="9966960" cy="594360"/>
          </a:xfrm>
          <a:prstGeom prst="roundRect">
            <a:avLst/>
          </a:prstGeom>
          <a:solidFill>
            <a:srgbClr val="FFF7DB"/>
          </a:solidFill>
          <a:ln w="15240">
            <a:solidFill>
              <a:srgbClr val="F2B83A"/>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F2B83A"/>
                </a:solidFill>
                <a:latin typeface="Aptos Display"/>
              </a:rPr>
              <a:t>Escalation standard</a:t>
            </a:r>
          </a:p>
          <a:p>
            <a:pPr>
              <a:spcBef>
                <a:spcPts val="500"/>
              </a:spcBef>
            </a:pPr>
            <a:r>
              <a:rPr sz="1300">
                <a:solidFill>
                  <a:srgbClr val="0F172A"/>
                </a:solidFill>
                <a:latin typeface="Aptos"/>
              </a:rPr>
              <a:t>If Support cannot identify the version and environment, the ticket is not ready for Development unless it is a confirmed outage.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Access and Upgrade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extLst>
              <p:ext uri="{D42A27DB-BD31-4B8C-83A1-F6EECF244321}">
                <p14:modId xmlns:p14="http://schemas.microsoft.com/office/powerpoint/2010/main" val="1911037412"/>
              </p:ext>
            </p:extLst>
          </p:nvPr>
        </p:nvGraphicFramePr>
        <p:xfrm>
          <a:off x="822960" y="1417320"/>
          <a:ext cx="5257800" cy="1133856"/>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566928">
                <a:tc>
                  <a:txBody>
                    <a:bodyPr/>
                    <a:lstStyle/>
                    <a:p>
                      <a:pPr algn="ctr"/>
                      <a:r>
                        <a:rPr sz="1100" b="1">
                          <a:solidFill>
                            <a:srgbClr val="FFFFFF"/>
                          </a:solidFill>
                          <a:latin typeface="Aptos"/>
                        </a:rPr>
                        <a:t>Access Information</a:t>
                      </a:r>
                    </a:p>
                  </a:txBody>
                  <a:tcPr>
                    <a:solidFill>
                      <a:srgbClr val="122D4D"/>
                    </a:solidFill>
                  </a:tcPr>
                </a:tc>
                <a:tc>
                  <a:txBody>
                    <a:bodyPr/>
                    <a:lstStyle/>
                    <a:p>
                      <a:pPr algn="ctr"/>
                      <a:r>
                        <a:rPr sz="11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66928">
                <a:tc>
                  <a:txBody>
                    <a:bodyPr/>
                    <a:lstStyle/>
                    <a:p>
                      <a:pPr algn="l"/>
                      <a:r>
                        <a:rPr sz="1100">
                          <a:solidFill>
                            <a:srgbClr val="0F172A"/>
                          </a:solidFill>
                          <a:latin typeface="Aptos"/>
                        </a:rPr>
                        <a:t>Server access method</a:t>
                      </a:r>
                    </a:p>
                  </a:txBody>
                  <a:tcPr marL="73152" marR="73152">
                    <a:solidFill>
                      <a:srgbClr val="F3F6FA"/>
                    </a:solidFill>
                  </a:tcPr>
                </a:tc>
                <a:tc>
                  <a:txBody>
                    <a:bodyPr/>
                    <a:lstStyle/>
                    <a:p>
                      <a:pPr algn="l"/>
                      <a:r>
                        <a:rPr sz="1100" dirty="0">
                          <a:solidFill>
                            <a:srgbClr val="0F172A"/>
                          </a:solidFill>
                          <a:latin typeface="Aptos"/>
                        </a:rPr>
                        <a:t>How support/dev can access</a:t>
                      </a:r>
                    </a:p>
                  </a:txBody>
                  <a:tcPr marL="73152" marR="73152">
                    <a:solidFill>
                      <a:srgbClr val="F3F6FA"/>
                    </a:solidFill>
                  </a:tcPr>
                </a:tc>
                <a:extLst>
                  <a:ext uri="{0D108BD9-81ED-4DB2-BD59-A6C34878D82A}">
                    <a16:rowId xmlns:a16="http://schemas.microsoft.com/office/drawing/2014/main" val="10002"/>
                  </a:ext>
                </a:extLst>
              </a:tr>
            </a:tbl>
          </a:graphicData>
        </a:graphic>
      </p:graphicFrame>
      <p:graphicFrame>
        <p:nvGraphicFramePr>
          <p:cNvPr id="8" name="Table 7"/>
          <p:cNvGraphicFramePr>
            <a:graphicFrameLocks noGrp="1"/>
          </p:cNvGraphicFramePr>
          <p:nvPr/>
        </p:nvGraphicFramePr>
        <p:xfrm>
          <a:off x="6400800" y="1417320"/>
          <a:ext cx="4892040" cy="2286000"/>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571500">
                <a:tc>
                  <a:txBody>
                    <a:bodyPr/>
                    <a:lstStyle/>
                    <a:p>
                      <a:pPr algn="ctr"/>
                      <a:r>
                        <a:rPr sz="1100" b="1">
                          <a:solidFill>
                            <a:srgbClr val="FFFFFF"/>
                          </a:solidFill>
                          <a:latin typeface="Aptos"/>
                        </a:rPr>
                        <a:t>Upgrade Information</a:t>
                      </a:r>
                    </a:p>
                  </a:txBody>
                  <a:tcPr>
                    <a:solidFill>
                      <a:srgbClr val="122D4D"/>
                    </a:solidFill>
                  </a:tcPr>
                </a:tc>
                <a:tc>
                  <a:txBody>
                    <a:bodyPr/>
                    <a:lstStyle/>
                    <a:p>
                      <a:pPr algn="ctr"/>
                      <a:r>
                        <a:rPr sz="11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71500">
                <a:tc>
                  <a:txBody>
                    <a:bodyPr/>
                    <a:lstStyle/>
                    <a:p>
                      <a:pPr algn="l"/>
                      <a:r>
                        <a:rPr sz="1100">
                          <a:solidFill>
                            <a:srgbClr val="0F172A"/>
                          </a:solidFill>
                          <a:latin typeface="Aptos"/>
                        </a:rPr>
                        <a:t>Last upgrade date</a:t>
                      </a:r>
                    </a:p>
                  </a:txBody>
                  <a:tcPr marL="73152" marR="73152">
                    <a:solidFill>
                      <a:srgbClr val="FFFFFF"/>
                    </a:solidFill>
                  </a:tcPr>
                </a:tc>
                <a:tc>
                  <a:txBody>
                    <a:bodyPr/>
                    <a:lstStyle/>
                    <a:p>
                      <a:pPr algn="l"/>
                      <a:r>
                        <a:rPr sz="1100">
                          <a:solidFill>
                            <a:srgbClr val="0F172A"/>
                          </a:solidFill>
                          <a:latin typeface="Aptos"/>
                        </a:rPr>
                        <a:t>Date/time if known</a:t>
                      </a:r>
                    </a:p>
                  </a:txBody>
                  <a:tcPr marL="73152" marR="73152">
                    <a:solidFill>
                      <a:srgbClr val="FFFFFF"/>
                    </a:solidFill>
                  </a:tcPr>
                </a:tc>
                <a:extLst>
                  <a:ext uri="{0D108BD9-81ED-4DB2-BD59-A6C34878D82A}">
                    <a16:rowId xmlns:a16="http://schemas.microsoft.com/office/drawing/2014/main" val="10001"/>
                  </a:ext>
                </a:extLst>
              </a:tr>
              <a:tr h="571500">
                <a:tc>
                  <a:txBody>
                    <a:bodyPr/>
                    <a:lstStyle/>
                    <a:p>
                      <a:pPr algn="l"/>
                      <a:r>
                        <a:rPr sz="1100">
                          <a:solidFill>
                            <a:srgbClr val="0F172A"/>
                          </a:solidFill>
                          <a:latin typeface="Aptos"/>
                        </a:rPr>
                        <a:t>Upgrade version</a:t>
                      </a:r>
                    </a:p>
                  </a:txBody>
                  <a:tcPr marL="73152" marR="73152">
                    <a:solidFill>
                      <a:srgbClr val="F3F6FA"/>
                    </a:solidFill>
                  </a:tcPr>
                </a:tc>
                <a:tc>
                  <a:txBody>
                    <a:bodyPr/>
                    <a:lstStyle/>
                    <a:p>
                      <a:pPr algn="l"/>
                      <a:r>
                        <a:rPr sz="1100">
                          <a:solidFill>
                            <a:srgbClr val="0F172A"/>
                          </a:solidFill>
                          <a:latin typeface="Aptos"/>
                        </a:rPr>
                        <a:t>From/to version</a:t>
                      </a:r>
                    </a:p>
                  </a:txBody>
                  <a:tcPr marL="73152" marR="73152">
                    <a:solidFill>
                      <a:srgbClr val="F3F6FA"/>
                    </a:solidFill>
                  </a:tcPr>
                </a:tc>
                <a:extLst>
                  <a:ext uri="{0D108BD9-81ED-4DB2-BD59-A6C34878D82A}">
                    <a16:rowId xmlns:a16="http://schemas.microsoft.com/office/drawing/2014/main" val="10002"/>
                  </a:ext>
                </a:extLst>
              </a:tr>
              <a:tr h="571500">
                <a:tc>
                  <a:txBody>
                    <a:bodyPr/>
                    <a:lstStyle/>
                    <a:p>
                      <a:pPr algn="l"/>
                      <a:r>
                        <a:rPr sz="1100">
                          <a:solidFill>
                            <a:srgbClr val="0F172A"/>
                          </a:solidFill>
                          <a:latin typeface="Aptos"/>
                        </a:rPr>
                        <a:t>Recent changes?</a:t>
                      </a:r>
                    </a:p>
                  </a:txBody>
                  <a:tcPr marL="73152" marR="73152">
                    <a:solidFill>
                      <a:srgbClr val="FFFFFF"/>
                    </a:solidFill>
                  </a:tcPr>
                </a:tc>
                <a:tc>
                  <a:txBody>
                    <a:bodyPr/>
                    <a:lstStyle/>
                    <a:p>
                      <a:pPr algn="l"/>
                      <a:r>
                        <a:rPr sz="1100">
                          <a:solidFill>
                            <a:srgbClr val="0F172A"/>
                          </a:solidFill>
                          <a:latin typeface="Aptos"/>
                        </a:rPr>
                        <a:t>Config, network, security, data, workflow</a:t>
                      </a:r>
                    </a:p>
                  </a:txBody>
                  <a:tcPr marL="73152" marR="73152">
                    <a:solidFill>
                      <a:srgbClr val="FFFFFF"/>
                    </a:solidFill>
                  </a:tcPr>
                </a:tc>
                <a:extLst>
                  <a:ext uri="{0D108BD9-81ED-4DB2-BD59-A6C34878D82A}">
                    <a16:rowId xmlns:a16="http://schemas.microsoft.com/office/drawing/2014/main" val="10003"/>
                  </a:ext>
                </a:extLst>
              </a:tr>
            </a:tbl>
          </a:graphicData>
        </a:graphic>
      </p:graphicFrame>
      <p:sp>
        <p:nvSpPr>
          <p:cNvPr id="9" name="Rounded Rectangle 8"/>
          <p:cNvSpPr/>
          <p:nvPr/>
        </p:nvSpPr>
        <p:spPr>
          <a:xfrm>
            <a:off x="914400" y="5029200"/>
            <a:ext cx="9966960" cy="5029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6FC4"/>
                </a:solidFill>
                <a:latin typeface="Aptos Display"/>
              </a:rPr>
              <a:t>Key point</a:t>
            </a:r>
          </a:p>
          <a:p>
            <a:pPr>
              <a:spcBef>
                <a:spcPts val="500"/>
              </a:spcBef>
            </a:pPr>
            <a:r>
              <a:rPr sz="1300">
                <a:solidFill>
                  <a:srgbClr val="0F172A"/>
                </a:solidFill>
                <a:latin typeface="Aptos"/>
              </a:rPr>
              <a:t>Access constraints and recent changes often determine whether investigation can begin immediately or needs coordination.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Issue Classification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0525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453895" y="144475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Question</a:t>
            </a:r>
          </a:p>
        </p:txBody>
      </p:sp>
      <p:sp>
        <p:nvSpPr>
          <p:cNvPr id="10" name="Rectangle 9"/>
          <p:cNvSpPr/>
          <p:nvPr/>
        </p:nvSpPr>
        <p:spPr>
          <a:xfrm>
            <a:off x="941832" y="1856231"/>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User is asking how functionality works.</a:t>
            </a:r>
          </a:p>
        </p:txBody>
      </p:sp>
      <p:sp>
        <p:nvSpPr>
          <p:cNvPr id="11" name="Rounded Rectangle 10"/>
          <p:cNvSpPr/>
          <p:nvPr/>
        </p:nvSpPr>
        <p:spPr>
          <a:xfrm>
            <a:off x="6309359" y="132588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37375"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6986016" y="144475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Configuration Request</a:t>
            </a:r>
          </a:p>
        </p:txBody>
      </p:sp>
      <p:sp>
        <p:nvSpPr>
          <p:cNvPr id="14" name="Rectangle 13"/>
          <p:cNvSpPr/>
          <p:nvPr/>
        </p:nvSpPr>
        <p:spPr>
          <a:xfrm>
            <a:off x="6473951" y="1856231"/>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Expected behavior but setup is needed.</a:t>
            </a:r>
          </a:p>
        </p:txBody>
      </p:sp>
      <p:sp>
        <p:nvSpPr>
          <p:cNvPr id="15" name="Rounded Rectangle 14"/>
          <p:cNvSpPr/>
          <p:nvPr/>
        </p:nvSpPr>
        <p:spPr>
          <a:xfrm>
            <a:off x="777240" y="242316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25328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17" name="Rectangle 16"/>
          <p:cNvSpPr/>
          <p:nvPr/>
        </p:nvSpPr>
        <p:spPr>
          <a:xfrm>
            <a:off x="1453895" y="254203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New Feature Request</a:t>
            </a:r>
          </a:p>
        </p:txBody>
      </p:sp>
      <p:sp>
        <p:nvSpPr>
          <p:cNvPr id="18" name="Rectangle 17"/>
          <p:cNvSpPr/>
          <p:nvPr/>
        </p:nvSpPr>
        <p:spPr>
          <a:xfrm>
            <a:off x="941832" y="2953512"/>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Enhancement request.</a:t>
            </a:r>
          </a:p>
        </p:txBody>
      </p:sp>
      <p:sp>
        <p:nvSpPr>
          <p:cNvPr id="19" name="Rounded Rectangle 18"/>
          <p:cNvSpPr/>
          <p:nvPr/>
        </p:nvSpPr>
        <p:spPr>
          <a:xfrm>
            <a:off x="6309359" y="242316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37375" y="25328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C53030"/>
                </a:solidFill>
                <a:latin typeface="Aptos"/>
              </a:rPr>
              <a:t>🐞</a:t>
            </a:r>
          </a:p>
        </p:txBody>
      </p:sp>
      <p:sp>
        <p:nvSpPr>
          <p:cNvPr id="21" name="Rectangle 20"/>
          <p:cNvSpPr/>
          <p:nvPr/>
        </p:nvSpPr>
        <p:spPr>
          <a:xfrm>
            <a:off x="6986016" y="254203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Bug/Error</a:t>
            </a:r>
          </a:p>
        </p:txBody>
      </p:sp>
      <p:sp>
        <p:nvSpPr>
          <p:cNvPr id="22" name="Rectangle 21"/>
          <p:cNvSpPr/>
          <p:nvPr/>
        </p:nvSpPr>
        <p:spPr>
          <a:xfrm>
            <a:off x="6473951" y="2953512"/>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System is not behaving as expected.</a:t>
            </a:r>
          </a:p>
        </p:txBody>
      </p:sp>
      <p:sp>
        <p:nvSpPr>
          <p:cNvPr id="23" name="Rounded Rectangle 22"/>
          <p:cNvSpPr/>
          <p:nvPr/>
        </p:nvSpPr>
        <p:spPr>
          <a:xfrm>
            <a:off x="914400" y="4160520"/>
            <a:ext cx="21031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Is behavior expected?</a:t>
            </a:r>
          </a:p>
        </p:txBody>
      </p:sp>
      <p:cxnSp>
        <p:nvCxnSpPr>
          <p:cNvPr id="24" name="Connector 23"/>
          <p:cNvCxnSpPr/>
          <p:nvPr/>
        </p:nvCxnSpPr>
        <p:spPr>
          <a:xfrm>
            <a:off x="3017520" y="4407408"/>
            <a:ext cx="960119"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977639" y="4160520"/>
            <a:ext cx="2286000" cy="50292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Setup needed?</a:t>
            </a:r>
          </a:p>
        </p:txBody>
      </p:sp>
      <p:cxnSp>
        <p:nvCxnSpPr>
          <p:cNvPr id="26" name="Connector 25"/>
          <p:cNvCxnSpPr/>
          <p:nvPr/>
        </p:nvCxnSpPr>
        <p:spPr>
          <a:xfrm>
            <a:off x="6263640" y="4407408"/>
            <a:ext cx="960120"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23760" y="4160520"/>
            <a:ext cx="2057400" cy="502920"/>
          </a:xfrm>
          <a:prstGeom prst="roundRect">
            <a:avLst/>
          </a:prstGeom>
          <a:solidFill>
            <a:srgbClr val="F2B83A"/>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New capability?</a:t>
            </a:r>
          </a:p>
        </p:txBody>
      </p:sp>
      <p:cxnSp>
        <p:nvCxnSpPr>
          <p:cNvPr id="28" name="Connector 27"/>
          <p:cNvCxnSpPr/>
          <p:nvPr/>
        </p:nvCxnSpPr>
        <p:spPr>
          <a:xfrm>
            <a:off x="9281160" y="4407408"/>
            <a:ext cx="868680"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149840" y="4160520"/>
            <a:ext cx="1051560" cy="50292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Bug?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Scope Assessment</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822960" y="1325880"/>
          <a:ext cx="10469880" cy="384048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543800">
                  <a:extLst>
                    <a:ext uri="{9D8B030D-6E8A-4147-A177-3AD203B41FA5}">
                      <a16:colId xmlns:a16="http://schemas.microsoft.com/office/drawing/2014/main" val="20001"/>
                    </a:ext>
                  </a:extLst>
                </a:gridCol>
              </a:tblGrid>
              <a:tr h="768096">
                <a:tc>
                  <a:txBody>
                    <a:bodyPr/>
                    <a:lstStyle/>
                    <a:p>
                      <a:pPr algn="ctr"/>
                      <a:r>
                        <a:rPr sz="1500" b="1">
                          <a:solidFill>
                            <a:srgbClr val="FFFFFF"/>
                          </a:solidFill>
                          <a:latin typeface="Aptos"/>
                        </a:rPr>
                        <a:t>Scope dimension</a:t>
                      </a:r>
                    </a:p>
                  </a:txBody>
                  <a:tcPr>
                    <a:solidFill>
                      <a:srgbClr val="122D4D"/>
                    </a:solidFill>
                  </a:tcPr>
                </a:tc>
                <a:tc>
                  <a:txBody>
                    <a:bodyPr/>
                    <a:lstStyle/>
                    <a:p>
                      <a:pPr algn="ctr"/>
                      <a:r>
                        <a:rPr sz="1500" b="1">
                          <a:solidFill>
                            <a:srgbClr val="FFFFFF"/>
                          </a:solidFill>
                          <a:latin typeface="Aptos"/>
                        </a:rPr>
                        <a:t>Required answer options</a:t>
                      </a:r>
                    </a:p>
                  </a:txBody>
                  <a:tcPr>
                    <a:solidFill>
                      <a:srgbClr val="122D4D"/>
                    </a:solidFill>
                  </a:tcPr>
                </a:tc>
                <a:extLst>
                  <a:ext uri="{0D108BD9-81ED-4DB2-BD59-A6C34878D82A}">
                    <a16:rowId xmlns:a16="http://schemas.microsoft.com/office/drawing/2014/main" val="10000"/>
                  </a:ext>
                </a:extLst>
              </a:tr>
              <a:tr h="768096">
                <a:tc>
                  <a:txBody>
                    <a:bodyPr/>
                    <a:lstStyle/>
                    <a:p>
                      <a:pPr algn="l"/>
                      <a:r>
                        <a:rPr sz="1500">
                          <a:solidFill>
                            <a:srgbClr val="0F172A"/>
                          </a:solidFill>
                          <a:latin typeface="Aptos"/>
                        </a:rPr>
                        <a:t>Users Impacted</a:t>
                      </a:r>
                    </a:p>
                  </a:txBody>
                  <a:tcPr marL="73152" marR="73152">
                    <a:solidFill>
                      <a:srgbClr val="FFFFFF"/>
                    </a:solidFill>
                  </a:tcPr>
                </a:tc>
                <a:tc>
                  <a:txBody>
                    <a:bodyPr/>
                    <a:lstStyle/>
                    <a:p>
                      <a:pPr algn="l"/>
                      <a:r>
                        <a:rPr sz="1500">
                          <a:solidFill>
                            <a:srgbClr val="0F172A"/>
                          </a:solidFill>
                          <a:latin typeface="Aptos"/>
                        </a:rPr>
                        <a:t>One user • Group of users • All users</a:t>
                      </a:r>
                    </a:p>
                  </a:txBody>
                  <a:tcPr marL="73152" marR="73152">
                    <a:solidFill>
                      <a:srgbClr val="FFFFFF"/>
                    </a:solidFill>
                  </a:tcPr>
                </a:tc>
                <a:extLst>
                  <a:ext uri="{0D108BD9-81ED-4DB2-BD59-A6C34878D82A}">
                    <a16:rowId xmlns:a16="http://schemas.microsoft.com/office/drawing/2014/main" val="10001"/>
                  </a:ext>
                </a:extLst>
              </a:tr>
              <a:tr h="768096">
                <a:tc>
                  <a:txBody>
                    <a:bodyPr/>
                    <a:lstStyle/>
                    <a:p>
                      <a:pPr algn="l"/>
                      <a:r>
                        <a:rPr sz="1500">
                          <a:solidFill>
                            <a:srgbClr val="0F172A"/>
                          </a:solidFill>
                          <a:latin typeface="Aptos"/>
                        </a:rPr>
                        <a:t>Exams Impacted</a:t>
                      </a:r>
                    </a:p>
                  </a:txBody>
                  <a:tcPr marL="73152" marR="73152">
                    <a:solidFill>
                      <a:srgbClr val="F3F6FA"/>
                    </a:solidFill>
                  </a:tcPr>
                </a:tc>
                <a:tc>
                  <a:txBody>
                    <a:bodyPr/>
                    <a:lstStyle/>
                    <a:p>
                      <a:pPr algn="l"/>
                      <a:r>
                        <a:rPr sz="1500">
                          <a:solidFill>
                            <a:srgbClr val="0F172A"/>
                          </a:solidFill>
                          <a:latin typeface="Aptos"/>
                        </a:rPr>
                        <a:t>One exam • Multiple exams • All exams</a:t>
                      </a:r>
                    </a:p>
                  </a:txBody>
                  <a:tcPr marL="73152" marR="73152">
                    <a:solidFill>
                      <a:srgbClr val="F3F6FA"/>
                    </a:solidFill>
                  </a:tcPr>
                </a:tc>
                <a:extLst>
                  <a:ext uri="{0D108BD9-81ED-4DB2-BD59-A6C34878D82A}">
                    <a16:rowId xmlns:a16="http://schemas.microsoft.com/office/drawing/2014/main" val="10002"/>
                  </a:ext>
                </a:extLst>
              </a:tr>
              <a:tr h="768096">
                <a:tc>
                  <a:txBody>
                    <a:bodyPr/>
                    <a:lstStyle/>
                    <a:p>
                      <a:pPr algn="l"/>
                      <a:r>
                        <a:rPr sz="1500">
                          <a:solidFill>
                            <a:srgbClr val="0F172A"/>
                          </a:solidFill>
                          <a:latin typeface="Aptos"/>
                        </a:rPr>
                        <a:t>Exam Type</a:t>
                      </a:r>
                    </a:p>
                  </a:txBody>
                  <a:tcPr marL="73152" marR="73152">
                    <a:solidFill>
                      <a:srgbClr val="FFFFFF"/>
                    </a:solidFill>
                  </a:tcPr>
                </a:tc>
                <a:tc>
                  <a:txBody>
                    <a:bodyPr/>
                    <a:lstStyle/>
                    <a:p>
                      <a:pPr algn="l"/>
                      <a:r>
                        <a:rPr sz="1500">
                          <a:solidFill>
                            <a:srgbClr val="0F172A"/>
                          </a:solidFill>
                          <a:latin typeface="Aptos"/>
                        </a:rPr>
                        <a:t>Echo • Vascular • Cath • Nuclear • All types</a:t>
                      </a:r>
                    </a:p>
                  </a:txBody>
                  <a:tcPr marL="73152" marR="73152">
                    <a:solidFill>
                      <a:srgbClr val="FFFFFF"/>
                    </a:solidFill>
                  </a:tcPr>
                </a:tc>
                <a:extLst>
                  <a:ext uri="{0D108BD9-81ED-4DB2-BD59-A6C34878D82A}">
                    <a16:rowId xmlns:a16="http://schemas.microsoft.com/office/drawing/2014/main" val="10003"/>
                  </a:ext>
                </a:extLst>
              </a:tr>
              <a:tr h="768096">
                <a:tc>
                  <a:txBody>
                    <a:bodyPr/>
                    <a:lstStyle/>
                    <a:p>
                      <a:pPr algn="l"/>
                      <a:r>
                        <a:rPr sz="1500">
                          <a:solidFill>
                            <a:srgbClr val="0F172A"/>
                          </a:solidFill>
                          <a:latin typeface="Aptos"/>
                        </a:rPr>
                        <a:t>Location</a:t>
                      </a:r>
                    </a:p>
                  </a:txBody>
                  <a:tcPr marL="73152" marR="73152">
                    <a:solidFill>
                      <a:srgbClr val="F3F6FA"/>
                    </a:solidFill>
                  </a:tcPr>
                </a:tc>
                <a:tc>
                  <a:txBody>
                    <a:bodyPr/>
                    <a:lstStyle/>
                    <a:p>
                      <a:pPr algn="l"/>
                      <a:r>
                        <a:rPr sz="1500">
                          <a:solidFill>
                            <a:srgbClr val="0F172A"/>
                          </a:solidFill>
                          <a:latin typeface="Aptos"/>
                        </a:rPr>
                        <a:t>One site • Multiple sites</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914400" y="5486400"/>
            <a:ext cx="9966960" cy="50292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Why scope matters</a:t>
            </a:r>
          </a:p>
          <a:p>
            <a:pPr>
              <a:spcBef>
                <a:spcPts val="500"/>
              </a:spcBef>
            </a:pPr>
            <a:r>
              <a:rPr sz="1300">
                <a:solidFill>
                  <a:srgbClr val="0F172A"/>
                </a:solidFill>
                <a:latin typeface="Aptos"/>
              </a:rPr>
              <a:t>Scope determines priority, routing, reproduction strategy, and whether the issue is likely configuration, data, environment, or code.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Required Logs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77240" y="1325880"/>
          <a:ext cx="10607040" cy="4023360"/>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804672">
                <a:tc>
                  <a:txBody>
                    <a:bodyPr/>
                    <a:lstStyle/>
                    <a:p>
                      <a:pPr algn="ctr"/>
                      <a:r>
                        <a:rPr sz="1000" b="1">
                          <a:solidFill>
                            <a:srgbClr val="FFFFFF"/>
                          </a:solidFill>
                          <a:latin typeface="Aptos"/>
                        </a:rPr>
                        <a:t>Log type</a:t>
                      </a:r>
                    </a:p>
                  </a:txBody>
                  <a:tcPr>
                    <a:solidFill>
                      <a:srgbClr val="122D4D"/>
                    </a:solidFill>
                  </a:tcPr>
                </a:tc>
                <a:tc>
                  <a:txBody>
                    <a:bodyPr/>
                    <a:lstStyle/>
                    <a:p>
                      <a:pPr algn="ctr"/>
                      <a:r>
                        <a:rPr sz="1000" b="1">
                          <a:solidFill>
                            <a:srgbClr val="FFFFFF"/>
                          </a:solidFill>
                          <a:latin typeface="Aptos"/>
                        </a:rPr>
                        <a:t>When to attach</a:t>
                      </a:r>
                    </a:p>
                  </a:txBody>
                  <a:tcPr>
                    <a:solidFill>
                      <a:srgbClr val="122D4D"/>
                    </a:solidFill>
                  </a:tcPr>
                </a:tc>
                <a:tc>
                  <a:txBody>
                    <a:bodyPr/>
                    <a:lstStyle/>
                    <a:p>
                      <a:pPr algn="ctr"/>
                      <a:r>
                        <a:rPr sz="1000" b="1">
                          <a:solidFill>
                            <a:srgbClr val="FFFFFF"/>
                          </a:solidFill>
                          <a:latin typeface="Aptos"/>
                        </a:rPr>
                        <a:t>Standard</a:t>
                      </a:r>
                    </a:p>
                  </a:txBody>
                  <a:tcPr>
                    <a:solidFill>
                      <a:srgbClr val="122D4D"/>
                    </a:solidFill>
                  </a:tcPr>
                </a:tc>
                <a:extLst>
                  <a:ext uri="{0D108BD9-81ED-4DB2-BD59-A6C34878D82A}">
                    <a16:rowId xmlns:a16="http://schemas.microsoft.com/office/drawing/2014/main" val="10000"/>
                  </a:ext>
                </a:extLst>
              </a:tr>
              <a:tr h="804672">
                <a:tc>
                  <a:txBody>
                    <a:bodyPr/>
                    <a:lstStyle/>
                    <a:p>
                      <a:pPr algn="l"/>
                      <a:r>
                        <a:rPr sz="1000">
                          <a:solidFill>
                            <a:srgbClr val="0F172A"/>
                          </a:solidFill>
                          <a:latin typeface="Aptos"/>
                        </a:rPr>
                        <a:t>Application Logs</a:t>
                      </a:r>
                    </a:p>
                  </a:txBody>
                  <a:tcPr marL="73152" marR="73152">
                    <a:solidFill>
                      <a:srgbClr val="FFFFFF"/>
                    </a:solidFill>
                  </a:tcPr>
                </a:tc>
                <a:tc>
                  <a:txBody>
                    <a:bodyPr/>
                    <a:lstStyle/>
                    <a:p>
                      <a:pPr algn="l"/>
                      <a:r>
                        <a:rPr sz="1000">
                          <a:solidFill>
                            <a:srgbClr val="0F172A"/>
                          </a:solidFill>
                          <a:latin typeface="Aptos"/>
                        </a:rPr>
                        <a:t>Application errors, workflow failures</a:t>
                      </a:r>
                    </a:p>
                  </a:txBody>
                  <a:tcPr marL="73152" marR="73152">
                    <a:solidFill>
                      <a:srgbClr val="FFFFFF"/>
                    </a:solidFill>
                  </a:tcPr>
                </a:tc>
                <a:tc>
                  <a:txBody>
                    <a:bodyPr/>
                    <a:lstStyle/>
                    <a:p>
                      <a:pPr algn="l"/>
                      <a:r>
                        <a:rPr sz="1000">
                          <a:solidFill>
                            <a:srgbClr val="0F172A"/>
                          </a:solidFill>
                          <a:latin typeface="Aptos"/>
                        </a:rPr>
                        <a:t>Relevant timeframe only: 10 minutes before and after issue</a:t>
                      </a:r>
                    </a:p>
                  </a:txBody>
                  <a:tcPr marL="73152" marR="73152">
                    <a:solidFill>
                      <a:srgbClr val="FFFFFF"/>
                    </a:solidFill>
                  </a:tcPr>
                </a:tc>
                <a:extLst>
                  <a:ext uri="{0D108BD9-81ED-4DB2-BD59-A6C34878D82A}">
                    <a16:rowId xmlns:a16="http://schemas.microsoft.com/office/drawing/2014/main" val="10001"/>
                  </a:ext>
                </a:extLst>
              </a:tr>
              <a:tr h="804672">
                <a:tc>
                  <a:txBody>
                    <a:bodyPr/>
                    <a:lstStyle/>
                    <a:p>
                      <a:pPr algn="l"/>
                      <a:r>
                        <a:rPr sz="1000">
                          <a:solidFill>
                            <a:srgbClr val="0F172A"/>
                          </a:solidFill>
                          <a:latin typeface="Aptos"/>
                        </a:rPr>
                        <a:t>Browser Logs</a:t>
                      </a:r>
                    </a:p>
                  </a:txBody>
                  <a:tcPr marL="73152" marR="73152">
                    <a:solidFill>
                      <a:srgbClr val="F3F6FA"/>
                    </a:solidFill>
                  </a:tcPr>
                </a:tc>
                <a:tc>
                  <a:txBody>
                    <a:bodyPr/>
                    <a:lstStyle/>
                    <a:p>
                      <a:pPr algn="l"/>
                      <a:r>
                        <a:rPr sz="1000">
                          <a:solidFill>
                            <a:srgbClr val="0F172A"/>
                          </a:solidFill>
                          <a:latin typeface="Aptos"/>
                        </a:rPr>
                        <a:t>Client-side or UI issue</a:t>
                      </a:r>
                    </a:p>
                  </a:txBody>
                  <a:tcPr marL="73152" marR="73152">
                    <a:solidFill>
                      <a:srgbClr val="F3F6FA"/>
                    </a:solidFill>
                  </a:tcPr>
                </a:tc>
                <a:tc>
                  <a:txBody>
                    <a:bodyPr/>
                    <a:lstStyle/>
                    <a:p>
                      <a:pPr algn="l"/>
                      <a:r>
                        <a:rPr sz="1000">
                          <a:solidFill>
                            <a:srgbClr val="0F172A"/>
                          </a:solidFill>
                          <a:latin typeface="Aptos"/>
                        </a:rPr>
                        <a:t>Console errors and Network trace / HAR file when applicable</a:t>
                      </a:r>
                    </a:p>
                  </a:txBody>
                  <a:tcPr marL="73152" marR="73152">
                    <a:solidFill>
                      <a:srgbClr val="F3F6FA"/>
                    </a:solidFill>
                  </a:tcPr>
                </a:tc>
                <a:extLst>
                  <a:ext uri="{0D108BD9-81ED-4DB2-BD59-A6C34878D82A}">
                    <a16:rowId xmlns:a16="http://schemas.microsoft.com/office/drawing/2014/main" val="10002"/>
                  </a:ext>
                </a:extLst>
              </a:tr>
              <a:tr h="804672">
                <a:tc>
                  <a:txBody>
                    <a:bodyPr/>
                    <a:lstStyle/>
                    <a:p>
                      <a:pPr algn="l"/>
                      <a:r>
                        <a:rPr sz="1000">
                          <a:solidFill>
                            <a:srgbClr val="0F172A"/>
                          </a:solidFill>
                          <a:latin typeface="Aptos"/>
                        </a:rPr>
                        <a:t>Windows Event Logs</a:t>
                      </a:r>
                    </a:p>
                  </a:txBody>
                  <a:tcPr marL="73152" marR="73152">
                    <a:solidFill>
                      <a:srgbClr val="FFFFFF"/>
                    </a:solidFill>
                  </a:tcPr>
                </a:tc>
                <a:tc>
                  <a:txBody>
                    <a:bodyPr/>
                    <a:lstStyle/>
                    <a:p>
                      <a:pPr algn="l"/>
                      <a:r>
                        <a:rPr sz="1000">
                          <a:solidFill>
                            <a:srgbClr val="0F172A"/>
                          </a:solidFill>
                          <a:latin typeface="Aptos"/>
                        </a:rPr>
                        <a:t>Server-related symptoms</a:t>
                      </a:r>
                    </a:p>
                  </a:txBody>
                  <a:tcPr marL="73152" marR="73152">
                    <a:solidFill>
                      <a:srgbClr val="FFFFFF"/>
                    </a:solidFill>
                  </a:tcPr>
                </a:tc>
                <a:tc>
                  <a:txBody>
                    <a:bodyPr/>
                    <a:lstStyle/>
                    <a:p>
                      <a:pPr algn="l"/>
                      <a:r>
                        <a:rPr sz="1000">
                          <a:solidFill>
                            <a:srgbClr val="0F172A"/>
                          </a:solidFill>
                          <a:latin typeface="Aptos"/>
                        </a:rPr>
                        <a:t>Attach relevant application/system events</a:t>
                      </a:r>
                    </a:p>
                  </a:txBody>
                  <a:tcPr marL="73152" marR="73152">
                    <a:solidFill>
                      <a:srgbClr val="FFFFFF"/>
                    </a:solidFill>
                  </a:tcPr>
                </a:tc>
                <a:extLst>
                  <a:ext uri="{0D108BD9-81ED-4DB2-BD59-A6C34878D82A}">
                    <a16:rowId xmlns:a16="http://schemas.microsoft.com/office/drawing/2014/main" val="10003"/>
                  </a:ext>
                </a:extLst>
              </a:tr>
              <a:tr h="804672">
                <a:tc>
                  <a:txBody>
                    <a:bodyPr/>
                    <a:lstStyle/>
                    <a:p>
                      <a:pPr algn="l"/>
                      <a:r>
                        <a:rPr sz="1000">
                          <a:solidFill>
                            <a:srgbClr val="0F172A"/>
                          </a:solidFill>
                          <a:latin typeface="Aptos"/>
                        </a:rPr>
                        <a:t>SQL Errors</a:t>
                      </a:r>
                    </a:p>
                  </a:txBody>
                  <a:tcPr marL="73152" marR="73152">
                    <a:solidFill>
                      <a:srgbClr val="F3F6FA"/>
                    </a:solidFill>
                  </a:tcPr>
                </a:tc>
                <a:tc>
                  <a:txBody>
                    <a:bodyPr/>
                    <a:lstStyle/>
                    <a:p>
                      <a:pPr algn="l"/>
                      <a:r>
                        <a:rPr sz="1000">
                          <a:solidFill>
                            <a:srgbClr val="0F172A"/>
                          </a:solidFill>
                          <a:latin typeface="Aptos"/>
                        </a:rPr>
                        <a:t>Database-related symptoms</a:t>
                      </a:r>
                    </a:p>
                  </a:txBody>
                  <a:tcPr marL="73152" marR="73152">
                    <a:solidFill>
                      <a:srgbClr val="F3F6FA"/>
                    </a:solidFill>
                  </a:tcPr>
                </a:tc>
                <a:tc>
                  <a:txBody>
                    <a:bodyPr/>
                    <a:lstStyle/>
                    <a:p>
                      <a:pPr algn="l"/>
                      <a:r>
                        <a:rPr sz="1000">
                          <a:solidFill>
                            <a:srgbClr val="0F172A"/>
                          </a:solidFill>
                          <a:latin typeface="Aptos"/>
                        </a:rPr>
                        <a:t>Attach relevant SQL errors or query/blocking evidence</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914400" y="5532120"/>
            <a:ext cx="9966960" cy="4572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Avoid</a:t>
            </a:r>
          </a:p>
          <a:p>
            <a:pPr>
              <a:spcBef>
                <a:spcPts val="500"/>
              </a:spcBef>
            </a:pPr>
            <a:r>
              <a:rPr sz="1300">
                <a:solidFill>
                  <a:srgbClr val="0F172A"/>
                </a:solidFill>
                <a:latin typeface="Aptos"/>
              </a:rPr>
              <a:t>Do not attach entire large log folders when a focused timeframe is available.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Bad vs Good Escalation Example</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5166360" cy="41148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800" b="1" i="0">
                <a:solidFill>
                  <a:srgbClr val="FFFFFF"/>
                </a:solidFill>
                <a:latin typeface="Aptos"/>
              </a:rPr>
              <a:t>Bad Escalation</a:t>
            </a:r>
          </a:p>
        </p:txBody>
      </p:sp>
      <p:sp>
        <p:nvSpPr>
          <p:cNvPr id="8" name="Rounded Rectangle 7"/>
          <p:cNvSpPr/>
          <p:nvPr/>
        </p:nvSpPr>
        <p:spPr>
          <a:xfrm>
            <a:off x="6263640" y="1325880"/>
            <a:ext cx="5166360" cy="41148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800" b="1" i="0">
                <a:solidFill>
                  <a:srgbClr val="FFFFFF"/>
                </a:solidFill>
                <a:latin typeface="Aptos"/>
              </a:rPr>
              <a:t>Good Escalation</a:t>
            </a:r>
          </a:p>
        </p:txBody>
      </p:sp>
      <p:sp>
        <p:nvSpPr>
          <p:cNvPr id="9" name="Rounded Rectangle 8"/>
          <p:cNvSpPr/>
          <p:nvPr/>
        </p:nvSpPr>
        <p:spPr>
          <a:xfrm>
            <a:off x="868680" y="1965960"/>
            <a:ext cx="4983480" cy="6858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“Report not working.”</a:t>
            </a:r>
          </a:p>
          <a:p>
            <a:pPr>
              <a:spcBef>
                <a:spcPts val="500"/>
              </a:spcBef>
            </a:pPr>
            <a:r>
              <a:rPr sz="1300">
                <a:solidFill>
                  <a:srgbClr val="0F172A"/>
                </a:solidFill>
                <a:latin typeface="Aptos"/>
              </a:rPr>
              <a:t>Why it is bad: no customer, version, scope, steps, logs, screenshot, or expected vs actual result.</a:t>
            </a:r>
          </a:p>
        </p:txBody>
      </p:sp>
      <p:sp>
        <p:nvSpPr>
          <p:cNvPr id="10" name="Rounded Rectangle 9"/>
          <p:cNvSpPr/>
          <p:nvPr/>
        </p:nvSpPr>
        <p:spPr>
          <a:xfrm>
            <a:off x="6400800" y="1874519"/>
            <a:ext cx="4754880" cy="2240280"/>
          </a:xfrm>
          <a:prstGeom prst="roundRect">
            <a:avLst/>
          </a:prstGeom>
          <a:solidFill>
            <a:srgbClr val="E2F5EA"/>
          </a:solidFill>
          <a:ln w="12700">
            <a:solidFill>
              <a:srgbClr val="1F9756"/>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0" i="0">
                <a:solidFill>
                  <a:srgbClr val="0F172A"/>
                </a:solidFill>
                <a:latin typeface="Aptos"/>
              </a:rPr>
              <a:t>Customer: ABC Hospital
Version: 5.22.3
Impact: All users affected
Started after upgrade
Scope: One exam type only
Steps, logs, screenshot attached
No KB article found
Senior Support reviewed</a:t>
            </a:r>
          </a:p>
        </p:txBody>
      </p:sp>
      <p:graphicFrame>
        <p:nvGraphicFramePr>
          <p:cNvPr id="11" name="Table 10"/>
          <p:cNvGraphicFramePr>
            <a:graphicFrameLocks noGrp="1"/>
          </p:cNvGraphicFramePr>
          <p:nvPr/>
        </p:nvGraphicFramePr>
        <p:xfrm>
          <a:off x="914400" y="4160520"/>
          <a:ext cx="10241280" cy="1234440"/>
        </p:xfrm>
        <a:graphic>
          <a:graphicData uri="http://schemas.openxmlformats.org/drawingml/2006/table">
            <a:tbl>
              <a:tblPr firstRow="1" bandRow="1">
                <a:tableStyleId>{5C22544A-7EE6-4342-B048-85BDC9FD1C3A}</a:tableStyleId>
              </a:tblPr>
              <a:tblGrid>
                <a:gridCol w="51206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08610">
                <a:tc>
                  <a:txBody>
                    <a:bodyPr/>
                    <a:lstStyle/>
                    <a:p>
                      <a:pPr algn="ctr"/>
                      <a:r>
                        <a:rPr sz="1200" b="1">
                          <a:solidFill>
                            <a:srgbClr val="FFFFFF"/>
                          </a:solidFill>
                          <a:latin typeface="Aptos"/>
                        </a:rPr>
                        <a:t>Bad escalation causes</a:t>
                      </a:r>
                    </a:p>
                  </a:txBody>
                  <a:tcPr>
                    <a:solidFill>
                      <a:srgbClr val="122D4D"/>
                    </a:solidFill>
                  </a:tcPr>
                </a:tc>
                <a:tc>
                  <a:txBody>
                    <a:bodyPr/>
                    <a:lstStyle/>
                    <a:p>
                      <a:pPr algn="ctr"/>
                      <a:r>
                        <a:rPr sz="1200" b="1">
                          <a:solidFill>
                            <a:srgbClr val="FFFFFF"/>
                          </a:solidFill>
                          <a:latin typeface="Aptos"/>
                        </a:rPr>
                        <a:t>Good escalation enables</a:t>
                      </a:r>
                    </a:p>
                  </a:txBody>
                  <a:tcPr>
                    <a:solidFill>
                      <a:srgbClr val="122D4D"/>
                    </a:solidFill>
                  </a:tcPr>
                </a:tc>
                <a:extLst>
                  <a:ext uri="{0D108BD9-81ED-4DB2-BD59-A6C34878D82A}">
                    <a16:rowId xmlns:a16="http://schemas.microsoft.com/office/drawing/2014/main" val="10000"/>
                  </a:ext>
                </a:extLst>
              </a:tr>
              <a:tr h="308610">
                <a:tc>
                  <a:txBody>
                    <a:bodyPr/>
                    <a:lstStyle/>
                    <a:p>
                      <a:pPr algn="l"/>
                      <a:r>
                        <a:rPr sz="1200">
                          <a:solidFill>
                            <a:srgbClr val="0F172A"/>
                          </a:solidFill>
                          <a:latin typeface="Aptos"/>
                        </a:rPr>
                        <a:t>Back-and-forth questions</a:t>
                      </a:r>
                    </a:p>
                  </a:txBody>
                  <a:tcPr marL="73152" marR="73152">
                    <a:solidFill>
                      <a:srgbClr val="FFFFFF"/>
                    </a:solidFill>
                  </a:tcPr>
                </a:tc>
                <a:tc>
                  <a:txBody>
                    <a:bodyPr/>
                    <a:lstStyle/>
                    <a:p>
                      <a:pPr algn="l"/>
                      <a:r>
                        <a:rPr sz="1200">
                          <a:solidFill>
                            <a:srgbClr val="0F172A"/>
                          </a:solidFill>
                          <a:latin typeface="Aptos"/>
                        </a:rPr>
                        <a:t>Clear scope and reproduction</a:t>
                      </a:r>
                    </a:p>
                  </a:txBody>
                  <a:tcPr marL="73152" marR="73152">
                    <a:solidFill>
                      <a:srgbClr val="FFFFFF"/>
                    </a:solidFill>
                  </a:tcPr>
                </a:tc>
                <a:extLst>
                  <a:ext uri="{0D108BD9-81ED-4DB2-BD59-A6C34878D82A}">
                    <a16:rowId xmlns:a16="http://schemas.microsoft.com/office/drawing/2014/main" val="10001"/>
                  </a:ext>
                </a:extLst>
              </a:tr>
              <a:tr h="308610">
                <a:tc>
                  <a:txBody>
                    <a:bodyPr/>
                    <a:lstStyle/>
                    <a:p>
                      <a:pPr algn="l"/>
                      <a:r>
                        <a:rPr sz="1200">
                          <a:solidFill>
                            <a:srgbClr val="0F172A"/>
                          </a:solidFill>
                          <a:latin typeface="Aptos"/>
                        </a:rPr>
                        <a:t>Delayed investigation</a:t>
                      </a:r>
                    </a:p>
                  </a:txBody>
                  <a:tcPr marL="73152" marR="73152">
                    <a:solidFill>
                      <a:srgbClr val="F3F6FA"/>
                    </a:solidFill>
                  </a:tcPr>
                </a:tc>
                <a:tc>
                  <a:txBody>
                    <a:bodyPr/>
                    <a:lstStyle/>
                    <a:p>
                      <a:pPr algn="l"/>
                      <a:r>
                        <a:rPr sz="1200">
                          <a:solidFill>
                            <a:srgbClr val="0F172A"/>
                          </a:solidFill>
                          <a:latin typeface="Aptos"/>
                        </a:rPr>
                        <a:t>Evidence-based analysis</a:t>
                      </a:r>
                    </a:p>
                  </a:txBody>
                  <a:tcPr marL="73152" marR="73152">
                    <a:solidFill>
                      <a:srgbClr val="F3F6FA"/>
                    </a:solidFill>
                  </a:tcPr>
                </a:tc>
                <a:extLst>
                  <a:ext uri="{0D108BD9-81ED-4DB2-BD59-A6C34878D82A}">
                    <a16:rowId xmlns:a16="http://schemas.microsoft.com/office/drawing/2014/main" val="10002"/>
                  </a:ext>
                </a:extLst>
              </a:tr>
              <a:tr h="308610">
                <a:tc>
                  <a:txBody>
                    <a:bodyPr/>
                    <a:lstStyle/>
                    <a:p>
                      <a:pPr algn="l"/>
                      <a:r>
                        <a:rPr sz="1200">
                          <a:solidFill>
                            <a:srgbClr val="0F172A"/>
                          </a:solidFill>
                          <a:latin typeface="Aptos"/>
                        </a:rPr>
                        <a:t>Repeated customer follow-up</a:t>
                      </a:r>
                    </a:p>
                  </a:txBody>
                  <a:tcPr marL="73152" marR="73152">
                    <a:solidFill>
                      <a:srgbClr val="FFFFFF"/>
                    </a:solidFill>
                  </a:tcPr>
                </a:tc>
                <a:tc>
                  <a:txBody>
                    <a:bodyPr/>
                    <a:lstStyle/>
                    <a:p>
                      <a:pPr algn="l"/>
                      <a:r>
                        <a:rPr sz="1200">
                          <a:solidFill>
                            <a:srgbClr val="0F172A"/>
                          </a:solidFill>
                          <a:latin typeface="Aptos"/>
                        </a:rPr>
                        <a:t>Prior investigation already completed</a:t>
                      </a:r>
                    </a:p>
                  </a:txBody>
                  <a:tcPr marL="73152" marR="73152">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4</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4 – Knowledge Base and Internal Collaboration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45236" y="2386584"/>
            <a:ext cx="10469880" cy="91440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Collaboration principle</a:t>
            </a:r>
          </a:p>
          <a:p>
            <a:pPr>
              <a:spcBef>
                <a:spcPts val="500"/>
              </a:spcBef>
            </a:pPr>
            <a:r>
              <a:rPr sz="1300" dirty="0">
                <a:solidFill>
                  <a:srgbClr val="0F172A"/>
                </a:solidFill>
                <a:latin typeface="Aptos"/>
              </a:rPr>
              <a:t>Many escalations can be avoided by checking existing knowledge and collaborating internally before Development handoff.</a:t>
            </a:r>
          </a:p>
        </p:txBody>
      </p:sp>
      <p:sp>
        <p:nvSpPr>
          <p:cNvPr id="17" name="Rounded Rectangle 16"/>
          <p:cNvSpPr/>
          <p:nvPr/>
        </p:nvSpPr>
        <p:spPr>
          <a:xfrm>
            <a:off x="914400" y="452628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8056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Escalation quality improves when Support reuses known solutions.</a:t>
            </a:r>
          </a:p>
        </p:txBody>
      </p:sp>
      <p:sp>
        <p:nvSpPr>
          <p:cNvPr id="19" name="Rounded Rectangle 18"/>
          <p:cNvSpPr/>
          <p:nvPr/>
        </p:nvSpPr>
        <p:spPr>
          <a:xfrm>
            <a:off x="914400" y="507492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502920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Internal review catches missing details before Development receives the ticket.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WRAP-UP</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Final Expected Outcomes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23444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13441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9" name="Rectangle 8"/>
          <p:cNvSpPr/>
          <p:nvPr/>
        </p:nvSpPr>
        <p:spPr>
          <a:xfrm>
            <a:off x="1499616" y="135331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Identify whether an issue is a bug, configuration, question, or enhancement.</a:t>
            </a:r>
          </a:p>
        </p:txBody>
      </p:sp>
      <p:sp>
        <p:nvSpPr>
          <p:cNvPr id="10" name="Rounded Rectangle 9"/>
          <p:cNvSpPr/>
          <p:nvPr/>
        </p:nvSpPr>
        <p:spPr>
          <a:xfrm>
            <a:off x="6217920" y="123444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45936" y="13441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6894576" y="135331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Perform standard troubleshooting.</a:t>
            </a:r>
          </a:p>
        </p:txBody>
      </p:sp>
      <p:sp>
        <p:nvSpPr>
          <p:cNvPr id="13" name="Rounded Rectangle 12"/>
          <p:cNvSpPr/>
          <p:nvPr/>
        </p:nvSpPr>
        <p:spPr>
          <a:xfrm>
            <a:off x="822960" y="210312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50976" y="2212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5" name="Rectangle 14"/>
          <p:cNvSpPr/>
          <p:nvPr/>
        </p:nvSpPr>
        <p:spPr>
          <a:xfrm>
            <a:off x="1499616" y="222199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Gather the correct logs.</a:t>
            </a:r>
          </a:p>
        </p:txBody>
      </p:sp>
      <p:sp>
        <p:nvSpPr>
          <p:cNvPr id="16" name="Rounded Rectangle 15"/>
          <p:cNvSpPr/>
          <p:nvPr/>
        </p:nvSpPr>
        <p:spPr>
          <a:xfrm>
            <a:off x="6217920" y="210312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345936" y="2212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6894576" y="222199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Search existing Knowledge Base articles.</a:t>
            </a:r>
          </a:p>
        </p:txBody>
      </p:sp>
      <p:sp>
        <p:nvSpPr>
          <p:cNvPr id="19" name="Rounded Rectangle 18"/>
          <p:cNvSpPr/>
          <p:nvPr/>
        </p:nvSpPr>
        <p:spPr>
          <a:xfrm>
            <a:off x="822960" y="297180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50976" y="30815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1" name="Rectangle 20"/>
          <p:cNvSpPr/>
          <p:nvPr/>
        </p:nvSpPr>
        <p:spPr>
          <a:xfrm>
            <a:off x="1499616" y="309067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Consult internal experts appropriately.</a:t>
            </a:r>
          </a:p>
        </p:txBody>
      </p:sp>
      <p:sp>
        <p:nvSpPr>
          <p:cNvPr id="22" name="Rounded Rectangle 21"/>
          <p:cNvSpPr/>
          <p:nvPr/>
        </p:nvSpPr>
        <p:spPr>
          <a:xfrm>
            <a:off x="6217920" y="297180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345936" y="30815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4" name="Rectangle 23"/>
          <p:cNvSpPr/>
          <p:nvPr/>
        </p:nvSpPr>
        <p:spPr>
          <a:xfrm>
            <a:off x="6894576" y="309067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Submit high-quality escalations to Development.</a:t>
            </a:r>
          </a:p>
        </p:txBody>
      </p:sp>
      <p:sp>
        <p:nvSpPr>
          <p:cNvPr id="25" name="Rounded Rectangle 24"/>
          <p:cNvSpPr/>
          <p:nvPr/>
        </p:nvSpPr>
        <p:spPr>
          <a:xfrm>
            <a:off x="3520440" y="3840479"/>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648456" y="39502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7" name="Rectangle 26"/>
          <p:cNvSpPr/>
          <p:nvPr/>
        </p:nvSpPr>
        <p:spPr>
          <a:xfrm>
            <a:off x="4197096" y="395935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Reduce unnecessary Development escalations.</a:t>
            </a:r>
          </a:p>
        </p:txBody>
      </p:sp>
      <p:sp>
        <p:nvSpPr>
          <p:cNvPr id="28" name="Rounded Rectangle 27"/>
          <p:cNvSpPr/>
          <p:nvPr/>
        </p:nvSpPr>
        <p:spPr>
          <a:xfrm>
            <a:off x="914400" y="5486400"/>
            <a:ext cx="9966960" cy="5029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6FC4"/>
                </a:solidFill>
                <a:latin typeface="Aptos Display"/>
              </a:rPr>
              <a:t>Success measure</a:t>
            </a:r>
          </a:p>
          <a:p>
            <a:pPr>
              <a:spcBef>
                <a:spcPts val="500"/>
              </a:spcBef>
            </a:pPr>
            <a:r>
              <a:rPr sz="1300">
                <a:solidFill>
                  <a:srgbClr val="0F172A"/>
                </a:solidFill>
                <a:latin typeface="Aptos"/>
              </a:rPr>
              <a:t>Fewer avoidable escalations, faster Development investigation, and better customer communication.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Q&amp;A</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Questions and Discussion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51560" y="132588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795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728216" y="144475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issues are most commonly escalated today?</a:t>
            </a:r>
          </a:p>
        </p:txBody>
      </p:sp>
      <p:sp>
        <p:nvSpPr>
          <p:cNvPr id="10" name="Rounded Rectangle 9"/>
          <p:cNvSpPr/>
          <p:nvPr/>
        </p:nvSpPr>
        <p:spPr>
          <a:xfrm>
            <a:off x="1051560" y="228600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576" y="23957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1728216" y="240487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information is usually missing?</a:t>
            </a:r>
          </a:p>
        </p:txBody>
      </p:sp>
      <p:sp>
        <p:nvSpPr>
          <p:cNvPr id="13" name="Rounded Rectangle 12"/>
          <p:cNvSpPr/>
          <p:nvPr/>
        </p:nvSpPr>
        <p:spPr>
          <a:xfrm>
            <a:off x="1051560" y="324612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79576" y="3355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5" name="Rectangle 14"/>
          <p:cNvSpPr/>
          <p:nvPr/>
        </p:nvSpPr>
        <p:spPr>
          <a:xfrm>
            <a:off x="1728216" y="3364991"/>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can we improve immediately?</a:t>
            </a:r>
          </a:p>
        </p:txBody>
      </p:sp>
      <p:sp>
        <p:nvSpPr>
          <p:cNvPr id="16" name="Rounded Rectangle 15"/>
          <p:cNvSpPr/>
          <p:nvPr/>
        </p:nvSpPr>
        <p:spPr>
          <a:xfrm>
            <a:off x="1051560" y="420624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576" y="43159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1728216" y="432511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KB articles should be created or updated?</a:t>
            </a:r>
          </a:p>
        </p:txBody>
      </p:sp>
      <p:sp>
        <p:nvSpPr>
          <p:cNvPr id="19" name="Rectangle 18"/>
          <p:cNvSpPr/>
          <p:nvPr/>
        </p:nvSpPr>
        <p:spPr>
          <a:xfrm>
            <a:off x="1463040" y="5623560"/>
            <a:ext cx="9144000" cy="4114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a:solidFill>
                  <a:srgbClr val="122D4D"/>
                </a:solidFill>
                <a:latin typeface="Aptos"/>
              </a:rPr>
              <a:t>Thank you — let’s improve investigation quality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3304</Words>
  <Application>Microsoft Office PowerPoint</Application>
  <PresentationFormat>Widescreen</PresentationFormat>
  <Paragraphs>350</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Moharam</cp:lastModifiedBy>
  <cp:revision>5</cp:revision>
  <dcterms:created xsi:type="dcterms:W3CDTF">2013-01-27T09:14:16Z</dcterms:created>
  <dcterms:modified xsi:type="dcterms:W3CDTF">2026-06-24T23:12:20Z</dcterms:modified>
  <cp:category/>
</cp:coreProperties>
</file>
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Open the session by positioning this as a practical enablement program, not a theoretical lecture. The purpose is to help L1 Support resolve more issues independently and make the escalations that do reach Development faster to investigate.</a:t>
            </a:r>
          </a:p>
          <a:p>
            <a:r>
              <a:rPr sz="1100">
                <a:latin typeface="Aptos"/>
              </a:rPr>
              <a:t>Set expectations for participation. Ask attendees to think about recent escalations that took too long, had missing information, or bounced between teams. Explain that the deck will use those real patterns to build a consistent troubleshooting and escalation standard.</a:t>
            </a:r>
          </a:p>
          <a:p>
            <a:r>
              <a:rPr sz="1100">
                <a:latin typeface="Aptos"/>
              </a:rPr>
              <a:t>Emphasize that Support and Development are on the same side: faster customer resolution. The workflow is not about blocking escalations; it is about making sure every escalation is actionable.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Explain that this training is designed around day-to-day support behavior: how tickets are classified, how evidence is gathered, how internal expertise is used, and when Development should be engaged.</a:t>
            </a:r>
          </a:p>
          <a:p>
            <a:r>
              <a:rPr sz="1100">
                <a:latin typeface="Aptos"/>
              </a:rPr>
              <a:t>Use a real-world framing: Development can only move quickly when the issue is scoped, evidence is complete, and the customer scenario is clear. A ticket that says “not working” creates delay even when the underlying issue is important.</a:t>
            </a:r>
          </a:p>
          <a:p>
            <a:r>
              <a:rPr sz="1100">
                <a:latin typeface="Aptos"/>
              </a:rPr>
              <a:t>Invite the audience to treat each section as a checklist they can apply immediately after the session. The expected outcome is not perfection; it is consistency and fewer avoidable escalations.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Walk through the agenda and connect each module to the escalation lifecycle. Release awareness helps identify expected behavior. Troubleshooting and investigation establish facts. Escalation standards make the handoff actionable. Knowledge Base and collaboration reduce repeat escalations.</a:t>
            </a:r>
          </a:p>
          <a:p>
            <a:r>
              <a:rPr sz="1100">
                <a:latin typeface="Aptos"/>
              </a:rPr>
              <a:t>Tell attendees that the timing is flexible depending on discussion. If there are current high-volume issue types, use them as examples during Module 2 and Module 3.</a:t>
            </a:r>
          </a:p>
          <a:p>
            <a:r>
              <a:rPr sz="1100">
                <a:latin typeface="Aptos"/>
              </a:rPr>
              <a:t>Reinforce that Q&amp;A is intentionally included at the end, but questions during the session are welcome when they clarify a process or checklist.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Introduce Module 1 as the foundation for post-release support. Many tickets that look like defects are actually changed behavior, new validations, configuration gaps, or permission changes introduced by a release.</a:t>
            </a:r>
          </a:p>
          <a:p>
            <a:r>
              <a:rPr sz="1100">
                <a:latin typeface="Aptos"/>
              </a:rPr>
              <a:t>Emphasize that Support does not need to memorize every line of every release note. The practical approach is to group changes by business area and understand which customer workflows may be affected.</a:t>
            </a:r>
          </a:p>
          <a:p>
            <a:r>
              <a:rPr sz="1100">
                <a:latin typeface="Aptos"/>
              </a:rPr>
              <a:t>Discussion prompt: Ask the group which release changes usually generate the most tickets: reporting, exams, interfaces, filters, or permissions. Use responses to make the module concrete.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Explain the five business areas as the mental model for reviewing a release. Each area maps to common customer symptoms: missing exams, reporting differences, interface failures, performance issues, or access/security changes.</a:t>
            </a:r>
          </a:p>
          <a:p>
            <a:r>
              <a:rPr sz="1100">
                <a:latin typeface="Aptos"/>
              </a:rPr>
              <a:t>Encourage Support to tag or categorize post-release tickets using these areas. This helps identify whether a spike is isolated, customer-specific, or a broader release adoption issue.</a:t>
            </a:r>
          </a:p>
          <a:p>
            <a:r>
              <a:rPr sz="1100">
                <a:latin typeface="Aptos"/>
              </a:rPr>
              <a:t>Practical reminder: When a customer reports a new issue after upgrade, capture the business area and version immediately. Those two facts often determine the first troubleshooting path.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Walk through the workflow changes as examples of behavior that may look like a bug to an end user. A missing exam may be related to soft delete or filters. A finalize problem may be related to the current-page batch operation or a status rule.</a:t>
            </a:r>
          </a:p>
          <a:p>
            <a:r>
              <a:rPr sz="1100">
                <a:latin typeface="Aptos"/>
              </a:rPr>
              <a:t>Emphasize that Support should not assume “worked before” means “bug now.” The correct first question is whether the release intentionally changed what is allowed.</a:t>
            </a:r>
          </a:p>
          <a:p>
            <a:r>
              <a:rPr sz="1100">
                <a:latin typeface="Aptos"/>
              </a:rPr>
              <a:t>Discussion prompt: Ask attendees what evidence would prove whether an exam is truly missing versus filtered, deleted, or inaccessible because of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Explain that missing exam reports are high-volume and often caused by visibility conditions rather than data loss. Filters, locations, and permissions should be checked in that order because they are common and quick to validate.</a:t>
            </a:r>
          </a:p>
          <a:p>
            <a:r>
              <a:rPr sz="1100">
                <a:latin typeface="Aptos"/>
              </a:rPr>
              <a:t>Use an example: one user cannot see an exam but another user can. That points away from Development and toward permissions, filters, or location scope.</a:t>
            </a:r>
          </a:p>
          <a:p>
            <a:r>
              <a:rPr sz="1100">
                <a:latin typeface="Aptos"/>
              </a:rPr>
              <a:t>Practical reminder: Capture screenshots of the active filters and the user permission/location configuration. These screenshots are often more useful than a verbal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Reporting issues can involve data entry, worksheet state, report generation, macros, templates, and manual edits. Support should separate these layers before escalation.</a:t>
            </a:r>
          </a:p>
          <a:p>
            <a:r>
              <a:rPr sz="1100">
                <a:latin typeface="Aptos"/>
              </a:rPr>
              <a:t>Use a scenario: the user says a macro is wrong. Support should confirm whether the worksheet value was saved, whether the report was regenerated, whether the macro applied to the correct section, and whether the user edited the generated text afterward.</a:t>
            </a:r>
          </a:p>
          <a:p>
            <a:r>
              <a:rPr sz="1100">
                <a:latin typeface="Aptos"/>
              </a:rPr>
              <a:t>Practical reminder: For reporting escalations, attach the exam/report identifiers, screenshots before and after generation, and the exact expected text versus actual text.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Integrations require a disciplined investigation because failure can occur outside the application: customer system, network, endpoint, configuration, mapping, or queued jobs.</a:t>
            </a:r>
          </a:p>
          <a:p>
            <a:r>
              <a:rPr sz="1100">
                <a:latin typeface="Aptos"/>
              </a:rPr>
              <a:t>Emphasize the difference between “message did not process” and “application has a bug.” Support should identify whether the message arrived, whether it matched routing rules, whether the endpoint was reachable, and whether jobs are stuck or failed.</a:t>
            </a:r>
          </a:p>
          <a:p>
            <a:r>
              <a:rPr sz="1100">
                <a:latin typeface="Aptos"/>
              </a:rPr>
              <a:t>Discussion prompt: Ask what information is often missing from interface tickets. Typical answers include message IDs, timestamps, endpoints, job status, and customer-side confirmation.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Explain that infrastructure and security changes are not always visible to users as “infrastructure” issues. They may appear as login failures, document problems, stale screens, invalid redirects, or blocked operations.</a:t>
            </a:r>
          </a:p>
          <a:p>
            <a:r>
              <a:rPr sz="1100">
                <a:latin typeface="Aptos"/>
              </a:rPr>
              <a:t>Support should validate services, configuration, cache, and logs before escalating. This is especially important after upgrades, hostname changes, security hardening, or multi-tenant configuration changes.</a:t>
            </a:r>
          </a:p>
          <a:p>
            <a:r>
              <a:rPr sz="1100">
                <a:latin typeface="Aptos"/>
              </a:rPr>
              <a:t>Practical reminder: Always collect timestamps and the exact user path that led to an infrastructure or security symptom. Security-related logs often need precise timing to locate the event.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Summarize Module 1 by reinforcing the core mindset: after a release, Support should investigate whether behavior is expected, configuration-dependent, or permission-related before treating it as a defect.</a:t>
            </a:r>
          </a:p>
          <a:p>
            <a:r>
              <a:rPr sz="1100">
                <a:latin typeface="Aptos"/>
              </a:rPr>
              <a:t>Use examples from earlier slides: missing exams may be filters or permissions; reporting differences may be macro or worksheet flow; integration failures may be endpoint or routing changes.</a:t>
            </a:r>
          </a:p>
          <a:p>
            <a:r>
              <a:rPr sz="1100">
                <a:latin typeface="Aptos"/>
              </a:rPr>
              <a:t>Transition to Module 2 by explaining that release awareness is only one input. The next module covers the structured troubleshooting method that applies to all issue types.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Introduce troubleshooting as the highest-leverage support skill. A strong L1 investigation can resolve simple issues immediately and make complex issues easier for L2 or Development to act on.</a:t>
            </a:r>
          </a:p>
          <a:p>
            <a:r>
              <a:rPr sz="1100">
                <a:latin typeface="Aptos"/>
              </a:rPr>
              <a:t>Emphasize that structured troubleshooting protects the customer experience. It avoids random checks, repeated questions, and unnecessary escalation delays.</a:t>
            </a:r>
          </a:p>
          <a:p>
            <a:r>
              <a:rPr sz="1100">
                <a:latin typeface="Aptos"/>
              </a:rPr>
              <a:t>Discussion prompt: Ask attendees what happens when scope is not established early. Guide them toward common consequences: wrong priority, wrong team, missing logs, and repeated customer follow-up.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This slide is the core investigation checklist. Walk through each question and explain that none are optional for a quality escalation.</a:t>
            </a:r>
          </a:p>
          <a:p>
            <a:r>
              <a:rPr sz="1100">
                <a:latin typeface="Aptos"/>
              </a:rPr>
              <a:t>Use a simple example: “Report not working” becomes actionable only when Support knows which report, which user, when it started, which environment, and whether all reports or only one exam type are affected.</a:t>
            </a:r>
          </a:p>
          <a:p>
            <a:r>
              <a:rPr sz="1100">
                <a:latin typeface="Aptos"/>
              </a:rPr>
              <a:t>Practical reminder: These questions should be answered in the ticket body, not hidden in chat threads. The ticket should tell the next engineer exactly what is known.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Use the matrix to show how the same investigation principle changes by issue type. The first goal is always to distinguish isolated impact from broad impact.</a:t>
            </a:r>
          </a:p>
          <a:p>
            <a:r>
              <a:rPr sz="1100">
                <a:latin typeface="Aptos"/>
              </a:rPr>
              <a:t>For each row, ask what evidence would support the answer. Login may need user comparison. HL7 may need message IDs and queue status. Viewer may need workstation and browser details. Database may need operation type and timing.</a:t>
            </a:r>
          </a:p>
          <a:p>
            <a:r>
              <a:rPr sz="1100">
                <a:latin typeface="Aptos"/>
              </a:rPr>
              <a:t>Practical reminder: The matrix can be used as a triage script. It helps Support ask fewer but better questions during the first customer interaction.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Introduce the four health areas as the standard first-pass checklist before escalation. They cover the most common non-code causes of customer-impacting symptoms.</a:t>
            </a:r>
          </a:p>
          <a:p>
            <a:r>
              <a:rPr sz="1100">
                <a:latin typeface="Aptos"/>
              </a:rPr>
              <a:t>Explain that the goal is not for L1 to become system administrators or DBAs. The goal is to confirm whether obvious health indicators point to infrastructure, database, application jobs, or browser/client-side causes.</a:t>
            </a:r>
          </a:p>
          <a:p>
            <a:r>
              <a:rPr sz="1100">
                <a:latin typeface="Aptos"/>
              </a:rPr>
              <a:t>Practical reminder: Record what was checked and the result. “Checked services: all running” is much more useful than leaving the next team to repeat the same checks.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Explain that server health issues often appear as application errors: slow screens, failed report generation, timeouts, or unavailable pages. Support should check basic server indicators before assuming an application defect.</a:t>
            </a:r>
          </a:p>
          <a:p>
            <a:r>
              <a:rPr sz="1100">
                <a:latin typeface="Aptos"/>
              </a:rPr>
              <a:t>Give examples: disk full can stop logging or job processing; high CPU can cause timeouts; stopped services can break features even though the application code is unchanged.</a:t>
            </a:r>
          </a:p>
          <a:p>
            <a:r>
              <a:rPr sz="1100">
                <a:latin typeface="Aptos"/>
              </a:rPr>
              <a:t>Practical reminder: Capture screenshots or exact values when possible. “Disk C: has 1% free space” is actionable. “Server looks bad” is not.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Explain that database health is often invisible to end users. They only see slow or failed application behavior. That is why Support should consider SQL service, connectivity, blocking, and long-running queries when symptoms involve saving, searching, reporting, or batch processing.</a:t>
            </a:r>
          </a:p>
          <a:p>
            <a:r>
              <a:rPr sz="1100">
                <a:latin typeface="Aptos"/>
              </a:rPr>
              <a:t>Clarify that L1 may not always have permission to perform deep database checks. If so, the ticket should state who checked, what was checked, and what remains unknown.</a:t>
            </a:r>
          </a:p>
          <a:p>
            <a:r>
              <a:rPr sz="1100">
                <a:latin typeface="Aptos"/>
              </a:rPr>
              <a:t>Practical reminder: Timestamp accuracy matters for database issues. A vague “today” is difficult to correlate with SQL logs or performance events.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Application health checks focus on the moving parts inside the product: services, background jobs, queues, and scheduled tasks. These components often affect specific workflows rather than the whole application.</a:t>
            </a:r>
          </a:p>
          <a:p>
            <a:r>
              <a:rPr sz="1100">
                <a:latin typeface="Aptos"/>
              </a:rPr>
              <a:t>Use examples from the slide. Report generation depends on background jobs. Interface delivery depends on processing queues. Cleanup or cache tasks can affect stale content or storage behavior.</a:t>
            </a:r>
          </a:p>
          <a:p>
            <a:r>
              <a:rPr sz="1100">
                <a:latin typeface="Aptos"/>
              </a:rPr>
              <a:t>Practical reminder: Attach job names, queue counts, failed job details, and timestamps. Development can investigate much faster when the failing component is identified.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Browser checks are quick and often resolve or isolate issues. Cached scripts, stale sessions, extensions, and browser-specific behavior can all create symptoms that look like application defects.</a:t>
            </a:r>
          </a:p>
          <a:p>
            <a:r>
              <a:rPr sz="1100">
                <a:latin typeface="Aptos"/>
              </a:rPr>
              <a:t>Explain when to collect browser evidence. If the issue continues after cache/private/alternate browser tests, capture console errors and a network trace or HAR file when appropriate.</a:t>
            </a:r>
          </a:p>
          <a:p>
            <a:r>
              <a:rPr sz="1100">
                <a:latin typeface="Aptos"/>
              </a:rPr>
              <a:t>Practical reminder: Never attach browser logs without context. Include the exact time, user action, and whether the trace contains sensitive customer information that needs handling according to policy.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Use this slide to reinforce pattern recognition. These recurring root causes should become automatic checks before escalation.</a:t>
            </a:r>
          </a:p>
          <a:p>
            <a:r>
              <a:rPr sz="1100">
                <a:latin typeface="Aptos"/>
              </a:rPr>
              <a:t>Ask the audience which root causes they see most often. This can identify training gaps, KB gaps, or product areas needing better support documentation.</a:t>
            </a:r>
          </a:p>
          <a:p>
            <a:r>
              <a:rPr sz="1100">
                <a:latin typeface="Aptos"/>
              </a:rPr>
              <a:t>Practical reminder: When a recurring root cause is confirmed, update the ticket with the resolution and recommend a KB update if one does not already exist.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Introduce Module 3 as the standard for Development-ready escalations. The message should be firm but collaborative: Development wants to help, but incomplete tickets slow everyone down.</a:t>
            </a:r>
          </a:p>
          <a:p>
            <a:r>
              <a:rPr sz="1100">
                <a:latin typeface="Aptos"/>
              </a:rPr>
              <a:t>Explain that a good escalation does not need to prove the root cause. It needs to define the problem, scope, evidence, and prior checks clearly enough for the next team to act.</a:t>
            </a:r>
          </a:p>
          <a:p>
            <a:r>
              <a:rPr sz="1100">
                <a:latin typeface="Aptos"/>
              </a:rPr>
              <a:t>Transition by telling attendees that the next slides define the required ticket fields and examples of good versus bad escalation quality.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Position this slide as the Development escalation checklist. Every escalated ticket should contain these fields or explicitly explain why a field does not apply.</a:t>
            </a:r>
          </a:p>
          <a:p>
            <a:r>
              <a:rPr sz="1100">
                <a:latin typeface="Aptos"/>
              </a:rPr>
              <a:t>Explain that the checklist prevents missing information from being discovered after handoff. The goal is to reduce repeated customer follow-up and internal rework.</a:t>
            </a:r>
          </a:p>
          <a:p>
            <a:r>
              <a:rPr sz="1100">
                <a:latin typeface="Aptos"/>
              </a:rPr>
              <a:t>Practical reminder: Consider turning this checklist into a ticket template or required macro so Support does not have to rebuild the structure manually each time.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Customer and environment details seem basic, but missing basics cause major delays. Development must know which customer, environment, version, and installation type are involved before interpreting behavior.</a:t>
            </a:r>
          </a:p>
          <a:p>
            <a:r>
              <a:rPr sz="1100">
                <a:latin typeface="Aptos"/>
              </a:rPr>
              <a:t>Explain why installation type matters: PACS Only, All-In-One, and Enterprise deployments may differ in routing, services, integrations, and operational ownership.</a:t>
            </a:r>
          </a:p>
          <a:p>
            <a:r>
              <a:rPr sz="1100">
                <a:latin typeface="Aptos"/>
              </a:rPr>
              <a:t>Practical reminder: Do not rely on assumptions from the ticket title. Put the customer and environment details in the escalation body where they are immediately visible.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Access and upgrade information removes friction at the start of investigation. If Development cannot access the environment or does not know recent changes, the ticket may pause before technical analysis begins.</a:t>
            </a:r>
          </a:p>
          <a:p>
            <a:r>
              <a:rPr sz="1100">
                <a:latin typeface="Aptos"/>
              </a:rPr>
              <a:t>Highlight upgrade details because timing matters. Issues that begin immediately after upgrade often relate to release behavior, migration, configuration, cache, or permissions.</a:t>
            </a:r>
          </a:p>
          <a:p>
            <a:r>
              <a:rPr sz="1100">
                <a:latin typeface="Aptos"/>
              </a:rPr>
              <a:t>Practical reminder: If access is restricted, identify the owner and the process. Do not escalate without telling Development how access will be coordinated.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Issue classification is critical because each class has a different next action. Questions need answers or KB articles. Configuration requests need setup guidance. Feature requests need product review. Bugs need evidence and Development investigation.</a:t>
            </a:r>
          </a:p>
          <a:p>
            <a:r>
              <a:rPr sz="1100">
                <a:latin typeface="Aptos"/>
              </a:rPr>
              <a:t>Walk through the decision tree. If behavior is expected, it is not a bug. If setup is required, it is configuration. If the customer wants new behavior, it is an enhancement. If the system fails against expected behavior, it may be a bug.</a:t>
            </a:r>
          </a:p>
          <a:p>
            <a:r>
              <a:rPr sz="1100">
                <a:latin typeface="Aptos"/>
              </a:rPr>
              <a:t>Practical reminder: Misclassification creates delays and frustration. A configuration request escalated as a bug may bounce back; a true bug labeled as a question may not receive proper urgency.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Scope determines almost everything about the next step: priority, owner, reproduction approach, and likely root cause. A single exam problem is investigated differently from an all-user production outage.</a:t>
            </a:r>
          </a:p>
          <a:p>
            <a:r>
              <a:rPr sz="1100">
                <a:latin typeface="Aptos"/>
              </a:rPr>
              <a:t>Give examples: one user points to permissions or browser; one exam points to data or workflow; all exams points to service, configuration, or systemic defect; one site points to location routing or infrastructure.</a:t>
            </a:r>
          </a:p>
          <a:p>
            <a:r>
              <a:rPr sz="1100">
                <a:latin typeface="Aptos"/>
              </a:rPr>
              <a:t>Practical reminder: If scope is unknown, say what has been tested and what still needs confirmation. Unknown scope is acceptable only when the ticket explains the gap and the plan to close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Reproduction steps are one of the most important parts of a Development escalation. They turn a vague symptom into an actionable scenario.</a:t>
            </a:r>
          </a:p>
          <a:p>
            <a:r>
              <a:rPr sz="1100">
                <a:latin typeface="Aptos"/>
              </a:rPr>
              <a:t>Explain that steps should be written as a sequence of user actions and system responses. Include expected result, actual result, and evidence. If the issue is intermittent, describe frequency and known triggers.</a:t>
            </a:r>
          </a:p>
          <a:p>
            <a:r>
              <a:rPr sz="1100">
                <a:latin typeface="Aptos"/>
              </a:rPr>
              <a:t>Practical reminder: Use customer-safe screenshots or recordings when available. A short recording can eliminate ambiguity around the exact click path or message shown.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Logs should be relevant, focused, and tied to the issue timeframe. Large log dumps slow investigation and may create privacy or security concerns.</a:t>
            </a:r>
          </a:p>
          <a:p>
            <a:r>
              <a:rPr sz="1100">
                <a:latin typeface="Aptos"/>
              </a:rPr>
              <a:t>Explain the 10-minute guidance: collect a window before and after the issue so investigators can see setup, failure, and after-effects. Adjust the window for intermittent or long-running jobs when needed.</a:t>
            </a:r>
          </a:p>
          <a:p>
            <a:r>
              <a:rPr sz="1100">
                <a:latin typeface="Aptos"/>
              </a:rPr>
              <a:t>Practical reminder: Always include the timezone and exact timestamp of reproduction. A log file without timing context can be difficult to use.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Priority classification must be objective. Frustration is understandable, but priority is based on business impact, scope, and workaround availability.</a:t>
            </a:r>
          </a:p>
          <a:p>
            <a:r>
              <a:rPr sz="1100">
                <a:latin typeface="Aptos"/>
              </a:rPr>
              <a:t>Discuss examples. A single user with a workaround is usually not P1. A production system unavailable to all users with no workaround is P1. A major function down for a department may be P2.</a:t>
            </a:r>
          </a:p>
          <a:p>
            <a:r>
              <a:rPr sz="1100">
                <a:latin typeface="Aptos"/>
              </a:rPr>
              <a:t>Practical reminder: State the business impact in the ticket. “All echo reports blocked for production cardiology with no workaround” supports priority much better than “customer is upset.”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This slide defines boundaries. Development should not be the default route for training, configuration, permissions, known limitations, documented KB issues, or items resolved by standard troubleshooting.</a:t>
            </a:r>
          </a:p>
          <a:p>
            <a:r>
              <a:rPr sz="1100">
                <a:latin typeface="Aptos"/>
              </a:rPr>
              <a:t>Be careful with tone: the message is not “do not ask for help.” The message is “use the right path first.” Senior Support and Support Leads are part of that path.</a:t>
            </a:r>
          </a:p>
          <a:p>
            <a:r>
              <a:rPr sz="1100">
                <a:latin typeface="Aptos"/>
              </a:rPr>
              <a:t>Practical reminder: If a customer insists on escalation for a known limitation or expected behavior, escalate internally through Support leadership or Product process rather than labeling it as a Development bug.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Use this comparison to make escalation quality tangible. The bad example is common because it feels urgent, but it gives the next team almost nothing to act on.</a:t>
            </a:r>
          </a:p>
          <a:p>
            <a:r>
              <a:rPr sz="1100">
                <a:latin typeface="Aptos"/>
              </a:rPr>
              <a:t>Walk through the good example line by line. It contains customer, version, impact, timing, scope, evidence, KB check, and senior review. Development can immediately decide how to reproduce or inspect logs.</a:t>
            </a:r>
          </a:p>
          <a:p>
            <a:r>
              <a:rPr sz="1100">
                <a:latin typeface="Aptos"/>
              </a:rPr>
              <a:t>Discussion prompt: Ask attendees what they would add to the good example for a reporting issue. Expected answers include report ID, exam ID, expected text, actual text, and exact timestamp.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Introduce Module 4 as the prevention layer. Good support organizations reuse knowledge and collaborate before escalating to engineering.</a:t>
            </a:r>
          </a:p>
          <a:p>
            <a:r>
              <a:rPr sz="1100">
                <a:latin typeface="Aptos"/>
              </a:rPr>
              <a:t>Explain that KB search and previous ticket review are not optional administrative steps. They identify known workarounds, configuration fixes, release behavior, and prior Development conclusions.</a:t>
            </a:r>
          </a:p>
          <a:p>
            <a:r>
              <a:rPr sz="1100">
                <a:latin typeface="Aptos"/>
              </a:rPr>
              <a:t>Practical reminder: If no KB article exists for a recurring issue, Support should flag that as an improvement opportunity. Reducing repeat escalations depends on capturing knowledge after resolution.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Walk through the pre-escalation sequence as a required workflow. First search the KB, then previous tickets, then consult senior internal resources, then escalate to Development if needed.</a:t>
            </a:r>
          </a:p>
          <a:p>
            <a:r>
              <a:rPr sz="1100">
                <a:latin typeface="Aptos"/>
              </a:rPr>
              <a:t>Explain how to search effectively: use exact error text, workflow names, customer name, version, and related modules. Previous tickets may reveal that the issue was configuration or had a known workaround.</a:t>
            </a:r>
          </a:p>
          <a:p>
            <a:r>
              <a:rPr sz="1100">
                <a:latin typeface="Aptos"/>
              </a:rPr>
              <a:t>Practical reminder: The Development escalation should state the outcome of these checks. For example: “KB searched for exact error and workflow; no matching article found. Senior Support reviewed and confirmed escalation.”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Use this slide to describe the support-to-development workflow. The path is intentionally structured so that each stage adds value rather than simply forwarding the ticket.</a:t>
            </a:r>
          </a:p>
          <a:p>
            <a:r>
              <a:rPr sz="1100">
                <a:latin typeface="Aptos"/>
              </a:rPr>
              <a:t>Explain the role of each participant. The Support Engineer owns initial investigation. KB search prevents repeat work. Senior Support and Support Lead validate completeness and priority. Development Escalation Team routes and prepares for engineering analysis. Development Team investigates product-level issues.</a:t>
            </a:r>
          </a:p>
          <a:p>
            <a:r>
              <a:rPr sz="1100">
                <a:latin typeface="Aptos"/>
              </a:rPr>
              <a:t>Practical reminder: Skipping steps may feel faster, but it often creates delays later because Development has to request the missing investigation.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Summarize the expected outcomes as observable behaviors. After this training, Support should classify issues correctly, complete standard checks, gather focused evidence, use the KB, consult internal experts, and escalate with quality.</a:t>
            </a:r>
          </a:p>
          <a:p>
            <a:r>
              <a:rPr sz="1100">
                <a:latin typeface="Aptos"/>
              </a:rPr>
              <a:t>Emphasize that this is a continuous improvement loop. Each resolved ticket should improve future troubleshooting through KB updates, better templates, and stronger examples.</a:t>
            </a:r>
          </a:p>
          <a:p>
            <a:r>
              <a:rPr sz="1100">
                <a:latin typeface="Aptos"/>
              </a:rPr>
              <a:t>Practical reminder: Encourage the team to use the slides as a desk reference. The checklists are designed to be reused in real tickets, not only remembered from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ptos"/>
              </a:rPr>
              <a:t>Use the Q&amp;A to turn the training into action. Start with current escalation pain points: common issue types, missing information, delays, and repeated questions from Development.</a:t>
            </a:r>
          </a:p>
          <a:p>
            <a:r>
              <a:rPr sz="1100">
                <a:latin typeface="Aptos"/>
              </a:rPr>
              <a:t>Capture improvement ideas during discussion. Strong candidates include ticket template updates, KB article creation, training refreshers, quick-reference checklists, and better release note summaries.</a:t>
            </a:r>
          </a:p>
          <a:p>
            <a:r>
              <a:rPr sz="1100">
                <a:latin typeface="Aptos"/>
              </a:rPr>
              <a:t>Close by reinforcing partnership. The goal is not to reduce escalations by ignoring issues; the goal is to reduce unnecessary escalations and improve the quality of necessary ones.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D4D"/>
        </a:solidFill>
        <a:effectLst/>
      </p:bgPr>
    </p:bg>
    <p:spTree>
      <p:nvGrpSpPr>
        <p:cNvPr id="1" name=""/>
        <p:cNvGrpSpPr/>
        <p:nvPr/>
      </p:nvGrpSpPr>
      <p:grpSpPr/>
      <p:sp>
        <p:nvSpPr>
          <p:cNvPr id="2" name="Parallelogram 1"/>
          <p:cNvSpPr/>
          <p:nvPr/>
        </p:nvSpPr>
        <p:spPr>
          <a:xfrm>
            <a:off x="6583680" y="-182880"/>
            <a:ext cx="2560320" cy="7223760"/>
          </a:xfrm>
          <a:prstGeom prst="parallelogram">
            <a:avLst/>
          </a:prstGeom>
          <a:solidFill>
            <a:srgbClr val="184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406640" y="-182880"/>
            <a:ext cx="2560320" cy="7223760"/>
          </a:xfrm>
          <a:prstGeom prst="parallelogram">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229600" y="-182880"/>
            <a:ext cx="2560320" cy="7223760"/>
          </a:xfrm>
          <a:prstGeom prst="parallelogram">
            <a:avLst/>
          </a:prstGeom>
          <a:solidFill>
            <a:srgbClr val="115E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685800"/>
            <a:ext cx="1463040" cy="32004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1200" b="1" i="0">
                <a:solidFill>
                  <a:srgbClr val="FFFFFF"/>
                </a:solidFill>
                <a:latin typeface="Aptos"/>
              </a:rPr>
              <a:t>TRAINING DECK</a:t>
            </a:r>
          </a:p>
        </p:txBody>
      </p:sp>
      <p:sp>
        <p:nvSpPr>
          <p:cNvPr id="6" name="Rectangle 5"/>
          <p:cNvSpPr/>
          <p:nvPr/>
        </p:nvSpPr>
        <p:spPr>
          <a:xfrm>
            <a:off x="685800" y="1325880"/>
            <a:ext cx="6583680" cy="6858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3600" b="1" i="0">
                <a:solidFill>
                  <a:srgbClr val="FFFFFF"/>
                </a:solidFill>
                <a:latin typeface="Aptos"/>
              </a:rPr>
              <a:t>Support Excellence Program</a:t>
            </a:r>
          </a:p>
        </p:txBody>
      </p:sp>
      <p:sp>
        <p:nvSpPr>
          <p:cNvPr id="7" name="Rectangle 6"/>
          <p:cNvSpPr/>
          <p:nvPr/>
        </p:nvSpPr>
        <p:spPr>
          <a:xfrm>
            <a:off x="685800" y="2057400"/>
            <a:ext cx="6858000" cy="6400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400" b="1" i="0">
                <a:solidFill>
                  <a:srgbClr val="DBEAFE"/>
                </a:solidFill>
                <a:latin typeface="Aptos"/>
              </a:rPr>
              <a:t>How to Troubleshoot, Investigate, and Escalate Effectively</a:t>
            </a:r>
          </a:p>
        </p:txBody>
      </p:sp>
      <p:sp>
        <p:nvSpPr>
          <p:cNvPr id="8" name="Rounded Rectangle 7"/>
          <p:cNvSpPr/>
          <p:nvPr/>
        </p:nvSpPr>
        <p:spPr>
          <a:xfrm>
            <a:off x="713232" y="2999232"/>
            <a:ext cx="5394960" cy="1143000"/>
          </a:xfrm>
          <a:prstGeom prst="roundRect">
            <a:avLst/>
          </a:prstGeom>
          <a:solidFill>
            <a:srgbClr val="EBF5FF"/>
          </a:solidFill>
          <a:ln w="15240">
            <a:solidFill>
              <a:srgbClr val="1F6FC4"/>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1F6FC4"/>
                </a:solidFill>
                <a:latin typeface="Aptos Display"/>
              </a:rPr>
              <a:t>Audience</a:t>
            </a:r>
          </a:p>
          <a:p>
            <a:pPr>
              <a:spcBef>
                <a:spcPts val="500"/>
              </a:spcBef>
            </a:pPr>
            <a:r>
              <a:rPr sz="1300">
                <a:solidFill>
                  <a:srgbClr val="0F172A"/>
                </a:solidFill>
                <a:latin typeface="Aptos"/>
              </a:rPr>
              <a:t>Front-Line Support Team / L1</a:t>
            </a:r>
          </a:p>
        </p:txBody>
      </p:sp>
      <p:sp>
        <p:nvSpPr>
          <p:cNvPr id="9" name="Rounded Rectangle 8"/>
          <p:cNvSpPr/>
          <p:nvPr/>
        </p:nvSpPr>
        <p:spPr>
          <a:xfrm>
            <a:off x="713232" y="4279392"/>
            <a:ext cx="5394960" cy="1143000"/>
          </a:xfrm>
          <a:prstGeom prst="roundRect">
            <a:avLst/>
          </a:prstGeom>
          <a:solidFill>
            <a:srgbClr val="EAFBF2"/>
          </a:solidFill>
          <a:ln w="15240">
            <a:solidFill>
              <a:srgbClr val="1F9756"/>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1F9756"/>
                </a:solidFill>
                <a:latin typeface="Aptos Display"/>
              </a:rPr>
              <a:t>Presented By</a:t>
            </a:r>
          </a:p>
          <a:p>
            <a:pPr>
              <a:spcBef>
                <a:spcPts val="500"/>
              </a:spcBef>
            </a:pPr>
            <a:r>
              <a:rPr sz="1300">
                <a:solidFill>
                  <a:srgbClr val="0F172A"/>
                </a:solidFill>
                <a:latin typeface="Aptos"/>
              </a:rPr>
              <a:t>Development Escalation Team / L2
Duration: 2.5 – 3 Hours</a:t>
            </a:r>
          </a:p>
        </p:txBody>
      </p:sp>
      <p:sp>
        <p:nvSpPr>
          <p:cNvPr id="10" name="Rectangle 9"/>
          <p:cNvSpPr/>
          <p:nvPr/>
        </p:nvSpPr>
        <p:spPr>
          <a:xfrm>
            <a:off x="7360920" y="1965960"/>
            <a:ext cx="3383280" cy="5943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000" b="1" i="0">
                <a:solidFill>
                  <a:srgbClr val="FFFFFF"/>
                </a:solidFill>
                <a:latin typeface="Aptos"/>
              </a:rPr>
              <a:t>Support → Investigate → Escalate</a:t>
            </a:r>
          </a:p>
        </p:txBody>
      </p:sp>
      <p:sp>
        <p:nvSpPr>
          <p:cNvPr id="11" name="Rounded Rectangle 10"/>
          <p:cNvSpPr/>
          <p:nvPr/>
        </p:nvSpPr>
        <p:spPr>
          <a:xfrm>
            <a:off x="6720840" y="2834640"/>
            <a:ext cx="966978" cy="658368"/>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Triage</a:t>
            </a:r>
          </a:p>
        </p:txBody>
      </p:sp>
      <p:cxnSp>
        <p:nvCxnSpPr>
          <p:cNvPr id="12" name="Connector 11"/>
          <p:cNvCxnSpPr/>
          <p:nvPr/>
        </p:nvCxnSpPr>
        <p:spPr>
          <a:xfrm>
            <a:off x="7687817" y="3163824"/>
            <a:ext cx="128017" cy="0"/>
          </a:xfrm>
          <a:prstGeom prst="line">
            <a:avLst/>
          </a:prstGeom>
          <a:ln w="25400">
            <a:solidFill>
              <a:srgbClr val="1F975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852410" y="2834640"/>
            <a:ext cx="966978" cy="658368"/>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Evidence</a:t>
            </a:r>
          </a:p>
        </p:txBody>
      </p:sp>
      <p:cxnSp>
        <p:nvCxnSpPr>
          <p:cNvPr id="14" name="Connector 13"/>
          <p:cNvCxnSpPr/>
          <p:nvPr/>
        </p:nvCxnSpPr>
        <p:spPr>
          <a:xfrm>
            <a:off x="8819388" y="3163824"/>
            <a:ext cx="128016" cy="0"/>
          </a:xfrm>
          <a:prstGeom prst="line">
            <a:avLst/>
          </a:prstGeom>
          <a:ln w="25400">
            <a:solidFill>
              <a:srgbClr val="1F9756"/>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983980" y="2834640"/>
            <a:ext cx="966978" cy="658368"/>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Review</a:t>
            </a:r>
          </a:p>
        </p:txBody>
      </p:sp>
      <p:cxnSp>
        <p:nvCxnSpPr>
          <p:cNvPr id="16" name="Connector 15"/>
          <p:cNvCxnSpPr/>
          <p:nvPr/>
        </p:nvCxnSpPr>
        <p:spPr>
          <a:xfrm>
            <a:off x="9950958" y="3163824"/>
            <a:ext cx="128016" cy="0"/>
          </a:xfrm>
          <a:prstGeom prst="line">
            <a:avLst/>
          </a:prstGeom>
          <a:ln w="25400">
            <a:solidFill>
              <a:srgbClr val="1F9756"/>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115550" y="2834640"/>
            <a:ext cx="966978" cy="658368"/>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Escalate</a:t>
            </a:r>
          </a:p>
        </p:txBody>
      </p:sp>
      <p:sp>
        <p:nvSpPr>
          <p:cNvPr id="18" name="Rectangle 17"/>
          <p:cNvSpPr/>
          <p:nvPr/>
        </p:nvSpPr>
        <p:spPr>
          <a:xfrm>
            <a:off x="7680960" y="4023360"/>
            <a:ext cx="2606040" cy="10058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3800" b="0" i="0">
                <a:solidFill>
                  <a:srgbClr val="FFFFFF"/>
                </a:solidFill>
                <a:latin typeface="Aptos"/>
              </a:rPr>
              <a:t>🛠️  🔍  📋  🚀</a:t>
            </a:r>
          </a:p>
        </p:txBody>
      </p:sp>
      <p:sp>
        <p:nvSpPr>
          <p:cNvPr id="19" name="Rectangle 18"/>
          <p:cNvSpPr/>
          <p:nvPr/>
        </p:nvSpPr>
        <p:spPr>
          <a:xfrm>
            <a:off x="685800" y="6309360"/>
            <a:ext cx="2743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CBD5E1"/>
                </a:solidFill>
                <a:latin typeface="Aptos"/>
              </a:rPr>
              <a:t>Corporate support training | Practical and action-oriented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PROGRAM CONTEXT</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Training Purpose</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2</a:t>
            </a:r>
          </a:p>
        </p:txBody>
      </p:sp>
      <p:sp>
        <p:nvSpPr>
          <p:cNvPr id="7" name="Rounded Rectangle 6"/>
          <p:cNvSpPr/>
          <p:nvPr/>
        </p:nvSpPr>
        <p:spPr>
          <a:xfrm>
            <a:off x="777240" y="1508760"/>
            <a:ext cx="10652760" cy="960120"/>
          </a:xfrm>
          <a:prstGeom prst="roundRect">
            <a:avLst/>
          </a:prstGeom>
          <a:solidFill>
            <a:srgbClr val="E2EFFF"/>
          </a:solidFill>
          <a:ln w="15240">
            <a:solidFill>
              <a:srgbClr val="1F6FC4"/>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1F6FC4"/>
                </a:solidFill>
                <a:latin typeface="Aptos Display"/>
              </a:rPr>
              <a:t>Goal of this session</a:t>
            </a:r>
          </a:p>
          <a:p>
            <a:pPr>
              <a:spcBef>
                <a:spcPts val="500"/>
              </a:spcBef>
            </a:pPr>
            <a:r>
              <a:rPr sz="1300">
                <a:solidFill>
                  <a:srgbClr val="0F172A"/>
                </a:solidFill>
                <a:latin typeface="Aptos"/>
              </a:rPr>
              <a:t>Improve support quality by helping L1 teams troubleshoot effectively, investigate issues properly, and escalate only when the correct information has been collected.</a:t>
            </a:r>
          </a:p>
        </p:txBody>
      </p:sp>
      <p:sp>
        <p:nvSpPr>
          <p:cNvPr id="8" name="Rounded Rectangle 7"/>
          <p:cNvSpPr/>
          <p:nvPr/>
        </p:nvSpPr>
        <p:spPr>
          <a:xfrm>
            <a:off x="868680" y="2788920"/>
            <a:ext cx="324612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96695" y="289864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6FC4"/>
                </a:solidFill>
                <a:latin typeface="Aptos"/>
              </a:rPr>
              <a:t>🔎</a:t>
            </a:r>
          </a:p>
        </p:txBody>
      </p:sp>
      <p:sp>
        <p:nvSpPr>
          <p:cNvPr id="10" name="Rectangle 9"/>
          <p:cNvSpPr/>
          <p:nvPr/>
        </p:nvSpPr>
        <p:spPr>
          <a:xfrm>
            <a:off x="1545336" y="2907791"/>
            <a:ext cx="244144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Better investigation</a:t>
            </a:r>
          </a:p>
        </p:txBody>
      </p:sp>
      <p:sp>
        <p:nvSpPr>
          <p:cNvPr id="11" name="Rectangle 10"/>
          <p:cNvSpPr/>
          <p:nvPr/>
        </p:nvSpPr>
        <p:spPr>
          <a:xfrm>
            <a:off x="1033271" y="3319272"/>
            <a:ext cx="2916936" cy="5486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Clear scope, reliable evidence, and reproducible steps.</a:t>
            </a:r>
          </a:p>
        </p:txBody>
      </p:sp>
      <p:sp>
        <p:nvSpPr>
          <p:cNvPr id="12" name="Rounded Rectangle 11"/>
          <p:cNvSpPr/>
          <p:nvPr/>
        </p:nvSpPr>
        <p:spPr>
          <a:xfrm>
            <a:off x="4480560" y="2788920"/>
            <a:ext cx="324612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08576" y="289864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14" name="Rectangle 13"/>
          <p:cNvSpPr/>
          <p:nvPr/>
        </p:nvSpPr>
        <p:spPr>
          <a:xfrm>
            <a:off x="5157216" y="2907791"/>
            <a:ext cx="244144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Faster resolution</a:t>
            </a:r>
          </a:p>
        </p:txBody>
      </p:sp>
      <p:sp>
        <p:nvSpPr>
          <p:cNvPr id="15" name="Rectangle 14"/>
          <p:cNvSpPr/>
          <p:nvPr/>
        </p:nvSpPr>
        <p:spPr>
          <a:xfrm>
            <a:off x="4645152" y="3319272"/>
            <a:ext cx="2916936" cy="5486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Less back-and-forth; fewer delays between teams.</a:t>
            </a:r>
          </a:p>
        </p:txBody>
      </p:sp>
      <p:sp>
        <p:nvSpPr>
          <p:cNvPr id="16" name="Rounded Rectangle 15"/>
          <p:cNvSpPr/>
          <p:nvPr/>
        </p:nvSpPr>
        <p:spPr>
          <a:xfrm>
            <a:off x="8092440" y="2788920"/>
            <a:ext cx="324612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0456" y="289864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18" name="Rectangle 17"/>
          <p:cNvSpPr/>
          <p:nvPr/>
        </p:nvSpPr>
        <p:spPr>
          <a:xfrm>
            <a:off x="8769096" y="2907791"/>
            <a:ext cx="244144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Higher satisfaction</a:t>
            </a:r>
          </a:p>
        </p:txBody>
      </p:sp>
      <p:sp>
        <p:nvSpPr>
          <p:cNvPr id="19" name="Rectangle 18"/>
          <p:cNvSpPr/>
          <p:nvPr/>
        </p:nvSpPr>
        <p:spPr>
          <a:xfrm>
            <a:off x="8257031" y="3319272"/>
            <a:ext cx="2916936" cy="5486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Customers see confident ownership and timely answers.</a:t>
            </a:r>
          </a:p>
        </p:txBody>
      </p:sp>
      <p:sp>
        <p:nvSpPr>
          <p:cNvPr id="20" name="Rounded Rectangle 19"/>
          <p:cNvSpPr/>
          <p:nvPr/>
        </p:nvSpPr>
        <p:spPr>
          <a:xfrm>
            <a:off x="1051560" y="4800600"/>
            <a:ext cx="10058400" cy="5029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1" i="0">
                <a:solidFill>
                  <a:srgbClr val="122D4D"/>
                </a:solidFill>
                <a:latin typeface="Aptos"/>
              </a:rPr>
              <a:t>Key message: Better investigation leads to faster resolution, fewer delays, and higher customer satisfaction.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2.5–3 HOUR TRAINING PATH</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Agenda</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3</a:t>
            </a:r>
          </a:p>
        </p:txBody>
      </p:sp>
      <p:sp>
        <p:nvSpPr>
          <p:cNvPr id="7" name="Rounded Rectangle 6"/>
          <p:cNvSpPr/>
          <p:nvPr/>
        </p:nvSpPr>
        <p:spPr>
          <a:xfrm>
            <a:off x="868680" y="1417320"/>
            <a:ext cx="502920" cy="50292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FFFFFF"/>
                </a:solidFill>
                <a:latin typeface="Aptos"/>
              </a:rPr>
              <a:t>1</a:t>
            </a:r>
          </a:p>
        </p:txBody>
      </p:sp>
      <p:sp>
        <p:nvSpPr>
          <p:cNvPr id="8" name="Rectangle 7"/>
          <p:cNvSpPr/>
          <p:nvPr/>
        </p:nvSpPr>
        <p:spPr>
          <a:xfrm>
            <a:off x="1508760" y="1444752"/>
            <a:ext cx="6583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800" b="1" i="0">
                <a:solidFill>
                  <a:srgbClr val="122D4D"/>
                </a:solidFill>
                <a:latin typeface="Aptos"/>
              </a:rPr>
              <a:t>Product Release Updates &amp; New Features</a:t>
            </a:r>
          </a:p>
        </p:txBody>
      </p:sp>
      <p:sp>
        <p:nvSpPr>
          <p:cNvPr id="9" name="Rounded Rectangle 8"/>
          <p:cNvSpPr/>
          <p:nvPr/>
        </p:nvSpPr>
        <p:spPr>
          <a:xfrm>
            <a:off x="8869680" y="1435608"/>
            <a:ext cx="1417320" cy="338328"/>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1300" b="1" i="0">
                <a:solidFill>
                  <a:srgbClr val="FFFFFF"/>
                </a:solidFill>
                <a:latin typeface="Aptos"/>
              </a:rPr>
              <a:t>30–45 min</a:t>
            </a:r>
          </a:p>
        </p:txBody>
      </p:sp>
      <p:sp>
        <p:nvSpPr>
          <p:cNvPr id="10" name="Rounded Rectangle 9"/>
          <p:cNvSpPr/>
          <p:nvPr/>
        </p:nvSpPr>
        <p:spPr>
          <a:xfrm>
            <a:off x="868680" y="2286000"/>
            <a:ext cx="502920" cy="502920"/>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FFFFFF"/>
                </a:solidFill>
                <a:latin typeface="Aptos"/>
              </a:rPr>
              <a:t>2</a:t>
            </a:r>
          </a:p>
        </p:txBody>
      </p:sp>
      <p:sp>
        <p:nvSpPr>
          <p:cNvPr id="11" name="Rectangle 10"/>
          <p:cNvSpPr/>
          <p:nvPr/>
        </p:nvSpPr>
        <p:spPr>
          <a:xfrm>
            <a:off x="1508760" y="2313432"/>
            <a:ext cx="6583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800" b="1" i="0">
                <a:solidFill>
                  <a:srgbClr val="122D4D"/>
                </a:solidFill>
                <a:latin typeface="Aptos"/>
              </a:rPr>
              <a:t>Troubleshooting &amp; Initial Investigation</a:t>
            </a:r>
          </a:p>
        </p:txBody>
      </p:sp>
      <p:sp>
        <p:nvSpPr>
          <p:cNvPr id="12" name="Rounded Rectangle 11"/>
          <p:cNvSpPr/>
          <p:nvPr/>
        </p:nvSpPr>
        <p:spPr>
          <a:xfrm>
            <a:off x="8869680" y="2304288"/>
            <a:ext cx="1417320" cy="338328"/>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1300" b="1" i="0">
                <a:solidFill>
                  <a:srgbClr val="FFFFFF"/>
                </a:solidFill>
                <a:latin typeface="Aptos"/>
              </a:rPr>
              <a:t>45 min</a:t>
            </a:r>
          </a:p>
        </p:txBody>
      </p:sp>
      <p:sp>
        <p:nvSpPr>
          <p:cNvPr id="13" name="Rounded Rectangle 12"/>
          <p:cNvSpPr/>
          <p:nvPr/>
        </p:nvSpPr>
        <p:spPr>
          <a:xfrm>
            <a:off x="868680" y="3154680"/>
            <a:ext cx="502920" cy="502920"/>
          </a:xfrm>
          <a:prstGeom prst="roundRect">
            <a:avLst/>
          </a:prstGeom>
          <a:solidFill>
            <a:srgbClr val="F2B83A"/>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FFFFFF"/>
                </a:solidFill>
                <a:latin typeface="Aptos"/>
              </a:rPr>
              <a:t>3</a:t>
            </a:r>
          </a:p>
        </p:txBody>
      </p:sp>
      <p:sp>
        <p:nvSpPr>
          <p:cNvPr id="14" name="Rectangle 13"/>
          <p:cNvSpPr/>
          <p:nvPr/>
        </p:nvSpPr>
        <p:spPr>
          <a:xfrm>
            <a:off x="1508760" y="3182112"/>
            <a:ext cx="6583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800" b="1" i="0">
                <a:solidFill>
                  <a:srgbClr val="122D4D"/>
                </a:solidFill>
                <a:latin typeface="Aptos"/>
              </a:rPr>
              <a:t>Escalation Standards &amp; Required Information</a:t>
            </a:r>
          </a:p>
        </p:txBody>
      </p:sp>
      <p:sp>
        <p:nvSpPr>
          <p:cNvPr id="15" name="Rounded Rectangle 14"/>
          <p:cNvSpPr/>
          <p:nvPr/>
        </p:nvSpPr>
        <p:spPr>
          <a:xfrm>
            <a:off x="8869680" y="3172968"/>
            <a:ext cx="1417320" cy="338328"/>
          </a:xfrm>
          <a:prstGeom prst="roundRect">
            <a:avLst/>
          </a:prstGeom>
          <a:solidFill>
            <a:srgbClr val="F2B83A"/>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1300" b="1" i="0">
                <a:solidFill>
                  <a:srgbClr val="FFFFFF"/>
                </a:solidFill>
                <a:latin typeface="Aptos"/>
              </a:rPr>
              <a:t>30 min</a:t>
            </a:r>
          </a:p>
        </p:txBody>
      </p:sp>
      <p:sp>
        <p:nvSpPr>
          <p:cNvPr id="16" name="Rounded Rectangle 15"/>
          <p:cNvSpPr/>
          <p:nvPr/>
        </p:nvSpPr>
        <p:spPr>
          <a:xfrm>
            <a:off x="868680" y="4023359"/>
            <a:ext cx="502920" cy="50292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FFFFFF"/>
                </a:solidFill>
                <a:latin typeface="Aptos"/>
              </a:rPr>
              <a:t>4</a:t>
            </a:r>
          </a:p>
        </p:txBody>
      </p:sp>
      <p:sp>
        <p:nvSpPr>
          <p:cNvPr id="17" name="Rectangle 16"/>
          <p:cNvSpPr/>
          <p:nvPr/>
        </p:nvSpPr>
        <p:spPr>
          <a:xfrm>
            <a:off x="1508760" y="4050791"/>
            <a:ext cx="6583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800" b="1" i="0">
                <a:solidFill>
                  <a:srgbClr val="122D4D"/>
                </a:solidFill>
                <a:latin typeface="Aptos"/>
              </a:rPr>
              <a:t>Knowledge Base Usage &amp; Internal Collaboration</a:t>
            </a:r>
          </a:p>
        </p:txBody>
      </p:sp>
      <p:sp>
        <p:nvSpPr>
          <p:cNvPr id="18" name="Rounded Rectangle 17"/>
          <p:cNvSpPr/>
          <p:nvPr/>
        </p:nvSpPr>
        <p:spPr>
          <a:xfrm>
            <a:off x="8869680" y="4041647"/>
            <a:ext cx="1417320" cy="338328"/>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1300" b="1" i="0">
                <a:solidFill>
                  <a:srgbClr val="FFFFFF"/>
                </a:solidFill>
                <a:latin typeface="Aptos"/>
              </a:rPr>
              <a:t>20–30 min</a:t>
            </a:r>
          </a:p>
        </p:txBody>
      </p:sp>
      <p:sp>
        <p:nvSpPr>
          <p:cNvPr id="19" name="Rounded Rectangle 18"/>
          <p:cNvSpPr/>
          <p:nvPr/>
        </p:nvSpPr>
        <p:spPr>
          <a:xfrm>
            <a:off x="868680" y="4892040"/>
            <a:ext cx="502920" cy="502920"/>
          </a:xfrm>
          <a:prstGeom prst="round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FFFFFF"/>
                </a:solidFill>
                <a:latin typeface="Aptos"/>
              </a:rPr>
              <a:t>5</a:t>
            </a:r>
          </a:p>
        </p:txBody>
      </p:sp>
      <p:sp>
        <p:nvSpPr>
          <p:cNvPr id="20" name="Rectangle 19"/>
          <p:cNvSpPr/>
          <p:nvPr/>
        </p:nvSpPr>
        <p:spPr>
          <a:xfrm>
            <a:off x="1508760" y="4919472"/>
            <a:ext cx="658368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800" b="1" i="0">
                <a:solidFill>
                  <a:srgbClr val="122D4D"/>
                </a:solidFill>
                <a:latin typeface="Aptos"/>
              </a:rPr>
              <a:t>Q&amp;A Session</a:t>
            </a:r>
          </a:p>
        </p:txBody>
      </p:sp>
      <p:sp>
        <p:nvSpPr>
          <p:cNvPr id="21" name="Rounded Rectangle 20"/>
          <p:cNvSpPr/>
          <p:nvPr/>
        </p:nvSpPr>
        <p:spPr>
          <a:xfrm>
            <a:off x="8869680" y="4910327"/>
            <a:ext cx="1417320" cy="338328"/>
          </a:xfrm>
          <a:prstGeom prst="round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1300" b="1" i="0">
                <a:solidFill>
                  <a:srgbClr val="FFFFFF"/>
                </a:solidFill>
                <a:latin typeface="Aptos"/>
              </a:rPr>
              <a:t>15 min</a:t>
            </a:r>
          </a:p>
        </p:txBody>
      </p:sp>
      <p:sp>
        <p:nvSpPr>
          <p:cNvPr id="22" name="Rounded Rectangle 21"/>
          <p:cNvSpPr/>
          <p:nvPr/>
        </p:nvSpPr>
        <p:spPr>
          <a:xfrm>
            <a:off x="868680" y="5715000"/>
            <a:ext cx="10287000" cy="502920"/>
          </a:xfrm>
          <a:prstGeom prst="roundRect">
            <a:avLst/>
          </a:prstGeom>
          <a:solidFill>
            <a:srgbClr val="E2F5EA"/>
          </a:solidFill>
          <a:ln w="15240">
            <a:solidFill>
              <a:srgbClr val="1F9756"/>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1F9756"/>
                </a:solidFill>
                <a:latin typeface="Aptos Display"/>
              </a:rPr>
              <a:t>Delivery approach</a:t>
            </a:r>
          </a:p>
          <a:p>
            <a:pPr>
              <a:spcBef>
                <a:spcPts val="500"/>
              </a:spcBef>
            </a:pPr>
            <a:r>
              <a:rPr sz="1300">
                <a:solidFill>
                  <a:srgbClr val="0F172A"/>
                </a:solidFill>
                <a:latin typeface="Aptos"/>
              </a:rPr>
              <a:t>Concise concepts, practical examples, checklists, and discussion prompts throughout.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1</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Module 1 – Product Release Updates and Feature Changes</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4</a:t>
            </a:r>
          </a:p>
        </p:txBody>
      </p:sp>
      <p:sp>
        <p:nvSpPr>
          <p:cNvPr id="7" name="Rounded Rectangle 6"/>
          <p:cNvSpPr/>
          <p:nvPr/>
        </p:nvSpPr>
        <p:spPr>
          <a:xfrm>
            <a:off x="822960" y="1417320"/>
            <a:ext cx="10424160" cy="914400"/>
          </a:xfrm>
          <a:prstGeom prst="roundRect">
            <a:avLst/>
          </a:prstGeom>
          <a:solidFill>
            <a:srgbClr val="E2EFFF"/>
          </a:solidFill>
          <a:ln w="15240">
            <a:solidFill>
              <a:srgbClr val="1F6FC4"/>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1F6FC4"/>
                </a:solidFill>
                <a:latin typeface="Aptos Display"/>
              </a:rPr>
              <a:t>Release review method</a:t>
            </a:r>
          </a:p>
          <a:p>
            <a:pPr>
              <a:spcBef>
                <a:spcPts val="500"/>
              </a:spcBef>
            </a:pPr>
            <a:r>
              <a:rPr sz="1300">
                <a:solidFill>
                  <a:srgbClr val="0F172A"/>
                </a:solidFill>
                <a:latin typeface="Aptos"/>
              </a:rPr>
              <a:t>Do not review release notes item by item. Group changes by business area so Support can understand customer impact and expected behavior.</a:t>
            </a:r>
          </a:p>
        </p:txBody>
      </p:sp>
      <p:sp>
        <p:nvSpPr>
          <p:cNvPr id="8" name="Rounded Rectangle 7"/>
          <p:cNvSpPr/>
          <p:nvPr/>
        </p:nvSpPr>
        <p:spPr>
          <a:xfrm>
            <a:off x="822960" y="2788920"/>
            <a:ext cx="1929384" cy="73152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Release note</a:t>
            </a:r>
          </a:p>
        </p:txBody>
      </p:sp>
      <p:cxnSp>
        <p:nvCxnSpPr>
          <p:cNvPr id="9" name="Connector 8"/>
          <p:cNvCxnSpPr/>
          <p:nvPr/>
        </p:nvCxnSpPr>
        <p:spPr>
          <a:xfrm>
            <a:off x="2752344" y="3154679"/>
            <a:ext cx="128016"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916936" y="2788920"/>
            <a:ext cx="1929384" cy="73152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Business area</a:t>
            </a:r>
          </a:p>
        </p:txBody>
      </p:sp>
      <p:cxnSp>
        <p:nvCxnSpPr>
          <p:cNvPr id="11" name="Connector 10"/>
          <p:cNvCxnSpPr/>
          <p:nvPr/>
        </p:nvCxnSpPr>
        <p:spPr>
          <a:xfrm>
            <a:off x="4846320" y="3154679"/>
            <a:ext cx="128016"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10912" y="2788920"/>
            <a:ext cx="1929384" cy="73152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Customer impact</a:t>
            </a:r>
          </a:p>
        </p:txBody>
      </p:sp>
      <p:cxnSp>
        <p:nvCxnSpPr>
          <p:cNvPr id="13" name="Connector 12"/>
          <p:cNvCxnSpPr/>
          <p:nvPr/>
        </p:nvCxnSpPr>
        <p:spPr>
          <a:xfrm>
            <a:off x="6940296" y="3154679"/>
            <a:ext cx="128016"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104888" y="2788920"/>
            <a:ext cx="1929384" cy="73152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Support checks</a:t>
            </a:r>
          </a:p>
        </p:txBody>
      </p:sp>
      <p:cxnSp>
        <p:nvCxnSpPr>
          <p:cNvPr id="15" name="Connector 14"/>
          <p:cNvCxnSpPr/>
          <p:nvPr/>
        </p:nvCxnSpPr>
        <p:spPr>
          <a:xfrm>
            <a:off x="9034272" y="3154679"/>
            <a:ext cx="128016"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198864" y="2788920"/>
            <a:ext cx="1929384" cy="73152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Escalation decision</a:t>
            </a:r>
          </a:p>
        </p:txBody>
      </p:sp>
      <p:sp>
        <p:nvSpPr>
          <p:cNvPr id="17" name="Rounded Rectangle 16"/>
          <p:cNvSpPr/>
          <p:nvPr/>
        </p:nvSpPr>
        <p:spPr>
          <a:xfrm>
            <a:off x="1005840" y="425195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8" name="Rectangle 17"/>
          <p:cNvSpPr/>
          <p:nvPr/>
        </p:nvSpPr>
        <p:spPr>
          <a:xfrm>
            <a:off x="1261872" y="4206240"/>
            <a:ext cx="971092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Focus on changed workflows, permissions, defaults, routing, and security controls.</a:t>
            </a:r>
          </a:p>
        </p:txBody>
      </p:sp>
      <p:sp>
        <p:nvSpPr>
          <p:cNvPr id="19" name="Rounded Rectangle 18"/>
          <p:cNvSpPr/>
          <p:nvPr/>
        </p:nvSpPr>
        <p:spPr>
          <a:xfrm>
            <a:off x="1005840" y="480059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20" name="Rectangle 19"/>
          <p:cNvSpPr/>
          <p:nvPr/>
        </p:nvSpPr>
        <p:spPr>
          <a:xfrm>
            <a:off x="1261872" y="4754879"/>
            <a:ext cx="971092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Ask: “Could this be expected behavior after the release?” before labeling it a bug.</a:t>
            </a:r>
          </a:p>
        </p:txBody>
      </p:sp>
      <p:sp>
        <p:nvSpPr>
          <p:cNvPr id="21" name="Rounded Rectangle 20"/>
          <p:cNvSpPr/>
          <p:nvPr/>
        </p:nvSpPr>
        <p:spPr>
          <a:xfrm>
            <a:off x="1005840" y="534923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22" name="Rectangle 21"/>
          <p:cNvSpPr/>
          <p:nvPr/>
        </p:nvSpPr>
        <p:spPr>
          <a:xfrm>
            <a:off x="1261872" y="5303519"/>
            <a:ext cx="971092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Capture release-specific patterns in Knowledge Base articles and ticket macros.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1</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Release Updates by Business Area</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5</a:t>
            </a:r>
          </a:p>
        </p:txBody>
      </p:sp>
      <p:sp>
        <p:nvSpPr>
          <p:cNvPr id="7" name="Rounded Rectangle 6"/>
          <p:cNvSpPr/>
          <p:nvPr/>
        </p:nvSpPr>
        <p:spPr>
          <a:xfrm>
            <a:off x="566928" y="1508760"/>
            <a:ext cx="2057400" cy="29718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4944" y="161848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6FC4"/>
                </a:solidFill>
                <a:latin typeface="Aptos"/>
              </a:rPr>
              <a:t>🧭</a:t>
            </a:r>
          </a:p>
        </p:txBody>
      </p:sp>
      <p:sp>
        <p:nvSpPr>
          <p:cNvPr id="9" name="Rectangle 8"/>
          <p:cNvSpPr/>
          <p:nvPr/>
        </p:nvSpPr>
        <p:spPr>
          <a:xfrm>
            <a:off x="1243584" y="1627631"/>
            <a:ext cx="125272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Exam Workflow</a:t>
            </a:r>
          </a:p>
        </p:txBody>
      </p:sp>
      <p:sp>
        <p:nvSpPr>
          <p:cNvPr id="10" name="Rectangle 9"/>
          <p:cNvSpPr/>
          <p:nvPr/>
        </p:nvSpPr>
        <p:spPr>
          <a:xfrm>
            <a:off x="731520" y="2039112"/>
            <a:ext cx="1728216" cy="2377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Deletion audit, soft delete, finalize controls</a:t>
            </a:r>
          </a:p>
        </p:txBody>
      </p:sp>
      <p:sp>
        <p:nvSpPr>
          <p:cNvPr id="11" name="Rounded Rectangle 10"/>
          <p:cNvSpPr/>
          <p:nvPr/>
        </p:nvSpPr>
        <p:spPr>
          <a:xfrm>
            <a:off x="2880360" y="1508760"/>
            <a:ext cx="2057400" cy="29718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08376" y="161848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13" name="Rectangle 12"/>
          <p:cNvSpPr/>
          <p:nvPr/>
        </p:nvSpPr>
        <p:spPr>
          <a:xfrm>
            <a:off x="3557015" y="1627631"/>
            <a:ext cx="125272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Exam List &amp; Filters</a:t>
            </a:r>
          </a:p>
        </p:txBody>
      </p:sp>
      <p:sp>
        <p:nvSpPr>
          <p:cNvPr id="14" name="Rectangle 13"/>
          <p:cNvSpPr/>
          <p:nvPr/>
        </p:nvSpPr>
        <p:spPr>
          <a:xfrm>
            <a:off x="3044952" y="2039112"/>
            <a:ext cx="1728216" cy="2377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Filtering, locations, permissions, dual-screen behavior</a:t>
            </a:r>
          </a:p>
        </p:txBody>
      </p:sp>
      <p:sp>
        <p:nvSpPr>
          <p:cNvPr id="15" name="Rounded Rectangle 14"/>
          <p:cNvSpPr/>
          <p:nvPr/>
        </p:nvSpPr>
        <p:spPr>
          <a:xfrm>
            <a:off x="5193792" y="1508760"/>
            <a:ext cx="2057400" cy="29718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21807" y="161848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F2B83A"/>
                </a:solidFill>
                <a:latin typeface="Aptos"/>
              </a:rPr>
              <a:t>📊</a:t>
            </a:r>
          </a:p>
        </p:txBody>
      </p:sp>
      <p:sp>
        <p:nvSpPr>
          <p:cNvPr id="17" name="Rectangle 16"/>
          <p:cNvSpPr/>
          <p:nvPr/>
        </p:nvSpPr>
        <p:spPr>
          <a:xfrm>
            <a:off x="5870448" y="1627631"/>
            <a:ext cx="125272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Reporting &amp; Worksheets</a:t>
            </a:r>
          </a:p>
        </p:txBody>
      </p:sp>
      <p:sp>
        <p:nvSpPr>
          <p:cNvPr id="18" name="Rectangle 17"/>
          <p:cNvSpPr/>
          <p:nvPr/>
        </p:nvSpPr>
        <p:spPr>
          <a:xfrm>
            <a:off x="5358383" y="2039112"/>
            <a:ext cx="1728216" cy="2377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Preview, Conclusion Editor, macros, worksheet fixes</a:t>
            </a:r>
          </a:p>
        </p:txBody>
      </p:sp>
      <p:sp>
        <p:nvSpPr>
          <p:cNvPr id="19" name="Rounded Rectangle 18"/>
          <p:cNvSpPr/>
          <p:nvPr/>
        </p:nvSpPr>
        <p:spPr>
          <a:xfrm>
            <a:off x="7507223" y="1508760"/>
            <a:ext cx="2057400" cy="29718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35240" y="161848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6FC4"/>
                </a:solidFill>
                <a:latin typeface="Aptos"/>
              </a:rPr>
              <a:t>🔌</a:t>
            </a:r>
          </a:p>
        </p:txBody>
      </p:sp>
      <p:sp>
        <p:nvSpPr>
          <p:cNvPr id="21" name="Rectangle 20"/>
          <p:cNvSpPr/>
          <p:nvPr/>
        </p:nvSpPr>
        <p:spPr>
          <a:xfrm>
            <a:off x="8183879" y="1627631"/>
            <a:ext cx="125272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Integrations</a:t>
            </a:r>
          </a:p>
        </p:txBody>
      </p:sp>
      <p:sp>
        <p:nvSpPr>
          <p:cNvPr id="22" name="Rectangle 21"/>
          <p:cNvSpPr/>
          <p:nvPr/>
        </p:nvSpPr>
        <p:spPr>
          <a:xfrm>
            <a:off x="7671815" y="2039112"/>
            <a:ext cx="1728216" cy="2377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HL7, routing, NPI, WADO, DICOM HTTP</a:t>
            </a:r>
          </a:p>
        </p:txBody>
      </p:sp>
      <p:sp>
        <p:nvSpPr>
          <p:cNvPr id="23" name="Rounded Rectangle 22"/>
          <p:cNvSpPr/>
          <p:nvPr/>
        </p:nvSpPr>
        <p:spPr>
          <a:xfrm>
            <a:off x="9820655" y="1508760"/>
            <a:ext cx="2057400" cy="29718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948672" y="161848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C53030"/>
                </a:solidFill>
                <a:latin typeface="Aptos"/>
              </a:rPr>
              <a:t>🔐</a:t>
            </a:r>
          </a:p>
        </p:txBody>
      </p:sp>
      <p:sp>
        <p:nvSpPr>
          <p:cNvPr id="25" name="Rectangle 24"/>
          <p:cNvSpPr/>
          <p:nvPr/>
        </p:nvSpPr>
        <p:spPr>
          <a:xfrm>
            <a:off x="10497311" y="1627631"/>
            <a:ext cx="125272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Infrastructure &amp; Security</a:t>
            </a:r>
          </a:p>
        </p:txBody>
      </p:sp>
      <p:sp>
        <p:nvSpPr>
          <p:cNvPr id="26" name="Rectangle 25"/>
          <p:cNvSpPr/>
          <p:nvPr/>
        </p:nvSpPr>
        <p:spPr>
          <a:xfrm>
            <a:off x="9985247" y="2039112"/>
            <a:ext cx="1728216" cy="2377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Documents, cache, hostname, hardening</a:t>
            </a:r>
          </a:p>
        </p:txBody>
      </p:sp>
      <p:sp>
        <p:nvSpPr>
          <p:cNvPr id="27" name="Rounded Rectangle 26"/>
          <p:cNvSpPr/>
          <p:nvPr/>
        </p:nvSpPr>
        <p:spPr>
          <a:xfrm>
            <a:off x="914400" y="5074920"/>
            <a:ext cx="10149840" cy="685800"/>
          </a:xfrm>
          <a:prstGeom prst="roundRect">
            <a:avLst/>
          </a:prstGeom>
          <a:solidFill>
            <a:srgbClr val="E2F5EA"/>
          </a:solidFill>
          <a:ln w="15240">
            <a:solidFill>
              <a:srgbClr val="1F9756"/>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1F9756"/>
                </a:solidFill>
                <a:latin typeface="Aptos Display"/>
              </a:rPr>
              <a:t>Support lens</a:t>
            </a:r>
          </a:p>
          <a:p>
            <a:pPr>
              <a:spcBef>
                <a:spcPts val="500"/>
              </a:spcBef>
            </a:pPr>
            <a:r>
              <a:rPr sz="1300">
                <a:solidFill>
                  <a:srgbClr val="0F172A"/>
                </a:solidFill>
                <a:latin typeface="Aptos"/>
              </a:rPr>
              <a:t>For each category, identify what customers may report, what Support should verify first, and what evidence is needed if escalation is required.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1</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Exam Workflow Updates</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6</a:t>
            </a:r>
          </a:p>
        </p:txBody>
      </p:sp>
      <p:sp>
        <p:nvSpPr>
          <p:cNvPr id="7" name="Rounded Rectangle 6"/>
          <p:cNvSpPr/>
          <p:nvPr/>
        </p:nvSpPr>
        <p:spPr>
          <a:xfrm>
            <a:off x="868680" y="146304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8" name="Rectangle 7"/>
          <p:cNvSpPr/>
          <p:nvPr/>
        </p:nvSpPr>
        <p:spPr>
          <a:xfrm>
            <a:off x="1124712" y="1417320"/>
            <a:ext cx="495604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Exam deletion audit tracking</a:t>
            </a:r>
          </a:p>
        </p:txBody>
      </p:sp>
      <p:sp>
        <p:nvSpPr>
          <p:cNvPr id="9" name="Rounded Rectangle 8"/>
          <p:cNvSpPr/>
          <p:nvPr/>
        </p:nvSpPr>
        <p:spPr>
          <a:xfrm>
            <a:off x="868680" y="201167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0" name="Rectangle 9"/>
          <p:cNvSpPr/>
          <p:nvPr/>
        </p:nvSpPr>
        <p:spPr>
          <a:xfrm>
            <a:off x="1124712" y="1965960"/>
            <a:ext cx="495604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Soft delete enhancements</a:t>
            </a:r>
          </a:p>
        </p:txBody>
      </p:sp>
      <p:sp>
        <p:nvSpPr>
          <p:cNvPr id="11" name="Rounded Rectangle 10"/>
          <p:cNvSpPr/>
          <p:nvPr/>
        </p:nvSpPr>
        <p:spPr>
          <a:xfrm>
            <a:off x="868680" y="256032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2" name="Rectangle 11"/>
          <p:cNvSpPr/>
          <p:nvPr/>
        </p:nvSpPr>
        <p:spPr>
          <a:xfrm>
            <a:off x="1124712" y="2514600"/>
            <a:ext cx="495604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Batch finalize current page</a:t>
            </a:r>
          </a:p>
        </p:txBody>
      </p:sp>
      <p:sp>
        <p:nvSpPr>
          <p:cNvPr id="13" name="Rounded Rectangle 12"/>
          <p:cNvSpPr/>
          <p:nvPr/>
        </p:nvSpPr>
        <p:spPr>
          <a:xfrm>
            <a:off x="868680" y="310896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4" name="Rectangle 13"/>
          <p:cNvSpPr/>
          <p:nvPr/>
        </p:nvSpPr>
        <p:spPr>
          <a:xfrm>
            <a:off x="1124712" y="3063240"/>
            <a:ext cx="495604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Final exam status restriction</a:t>
            </a:r>
          </a:p>
        </p:txBody>
      </p:sp>
      <p:sp>
        <p:nvSpPr>
          <p:cNvPr id="15" name="Rounded Rectangle 14"/>
          <p:cNvSpPr/>
          <p:nvPr/>
        </p:nvSpPr>
        <p:spPr>
          <a:xfrm>
            <a:off x="6492240" y="1417320"/>
            <a:ext cx="4434840" cy="1005840"/>
          </a:xfrm>
          <a:prstGeom prst="roundRect">
            <a:avLst/>
          </a:prstGeom>
          <a:solidFill>
            <a:srgbClr val="FFF7DB"/>
          </a:solidFill>
          <a:ln w="15240">
            <a:solidFill>
              <a:srgbClr val="F2B83A"/>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F2B83A"/>
                </a:solidFill>
                <a:latin typeface="Aptos Display"/>
              </a:rPr>
              <a:t>Support Impact</a:t>
            </a:r>
          </a:p>
          <a:p>
            <a:pPr>
              <a:spcBef>
                <a:spcPts val="500"/>
              </a:spcBef>
            </a:pPr>
            <a:r>
              <a:rPr sz="1300">
                <a:solidFill>
                  <a:srgbClr val="0F172A"/>
                </a:solidFill>
                <a:latin typeface="Aptos"/>
              </a:rPr>
              <a:t>When users report missing exams, inability to finalize, or inability to move from Final, verify release behavior first.</a:t>
            </a:r>
          </a:p>
        </p:txBody>
      </p:sp>
      <p:graphicFrame>
        <p:nvGraphicFramePr>
          <p:cNvPr id="16" name="Table 15"/>
          <p:cNvGraphicFramePr>
            <a:graphicFrameLocks noGrp="1"/>
          </p:cNvGraphicFramePr>
          <p:nvPr/>
        </p:nvGraphicFramePr>
        <p:xfrm>
          <a:off x="868680" y="3749039"/>
          <a:ext cx="10287000" cy="1417320"/>
        </p:xfrm>
        <a:graphic>
          <a:graphicData uri="http://schemas.openxmlformats.org/drawingml/2006/table">
            <a:tbl>
              <a:tblPr firstRow="1" bandRow="1">
                <a:tableStyleId>{5C22544A-7EE6-4342-B048-85BDC9FD1C3A}</a:tableStyleId>
              </a:tblPr>
              <a:tblGrid>
                <a:gridCol w="2743200"/>
                <a:gridCol w="7543800"/>
              </a:tblGrid>
              <a:tr h="354330">
                <a:tc>
                  <a:txBody>
                    <a:bodyPr/>
                    <a:lstStyle/>
                    <a:p>
                      <a:pPr algn="ctr"/>
                      <a:r>
                        <a:rPr b="1" sz="1200">
                          <a:solidFill>
                            <a:srgbClr val="FFFFFF"/>
                          </a:solidFill>
                          <a:latin typeface="Aptos"/>
                        </a:rPr>
                        <a:t>Customer report</a:t>
                      </a:r>
                    </a:p>
                  </a:txBody>
                  <a:tcPr>
                    <a:solidFill>
                      <a:srgbClr val="122D4D"/>
                    </a:solidFill>
                  </a:tcPr>
                </a:tc>
                <a:tc>
                  <a:txBody>
                    <a:bodyPr/>
                    <a:lstStyle/>
                    <a:p>
                      <a:pPr algn="ctr"/>
                      <a:r>
                        <a:rPr b="1" sz="1200">
                          <a:solidFill>
                            <a:srgbClr val="FFFFFF"/>
                          </a:solidFill>
                          <a:latin typeface="Aptos"/>
                        </a:rPr>
                        <a:t>First Support check</a:t>
                      </a:r>
                    </a:p>
                  </a:txBody>
                  <a:tcPr>
                    <a:solidFill>
                      <a:srgbClr val="122D4D"/>
                    </a:solidFill>
                  </a:tcPr>
                </a:tc>
              </a:tr>
              <a:tr h="354330">
                <a:tc>
                  <a:txBody>
                    <a:bodyPr/>
                    <a:lstStyle/>
                    <a:p>
                      <a:pPr algn="l"/>
                      <a:r>
                        <a:rPr sz="1200">
                          <a:solidFill>
                            <a:srgbClr val="0F172A"/>
                          </a:solidFill>
                          <a:latin typeface="Aptos"/>
                        </a:rPr>
                        <a:t>Missing exam</a:t>
                      </a:r>
                    </a:p>
                  </a:txBody>
                  <a:tcPr marL="73152" marR="73152">
                    <a:solidFill>
                      <a:srgbClr val="FFFFFF"/>
                    </a:solidFill>
                  </a:tcPr>
                </a:tc>
                <a:tc>
                  <a:txBody>
                    <a:bodyPr/>
                    <a:lstStyle/>
                    <a:p>
                      <a:pPr algn="l"/>
                      <a:r>
                        <a:rPr sz="1200">
                          <a:solidFill>
                            <a:srgbClr val="0F172A"/>
                          </a:solidFill>
                          <a:latin typeface="Aptos"/>
                        </a:rPr>
                        <a:t>Soft delete state, audit trail, filters, permissions</a:t>
                      </a:r>
                    </a:p>
                  </a:txBody>
                  <a:tcPr marL="73152" marR="73152">
                    <a:solidFill>
                      <a:srgbClr val="FFFFFF"/>
                    </a:solidFill>
                  </a:tcPr>
                </a:tc>
              </a:tr>
              <a:tr h="354330">
                <a:tc>
                  <a:txBody>
                    <a:bodyPr/>
                    <a:lstStyle/>
                    <a:p>
                      <a:pPr algn="l"/>
                      <a:r>
                        <a:rPr sz="1200">
                          <a:solidFill>
                            <a:srgbClr val="0F172A"/>
                          </a:solidFill>
                          <a:latin typeface="Aptos"/>
                        </a:rPr>
                        <a:t>Cannot finalize exam</a:t>
                      </a:r>
                    </a:p>
                  </a:txBody>
                  <a:tcPr marL="73152" marR="73152">
                    <a:solidFill>
                      <a:srgbClr val="F3F6FA"/>
                    </a:solidFill>
                  </a:tcPr>
                </a:tc>
                <a:tc>
                  <a:txBody>
                    <a:bodyPr/>
                    <a:lstStyle/>
                    <a:p>
                      <a:pPr algn="l"/>
                      <a:r>
                        <a:rPr sz="1200">
                          <a:solidFill>
                            <a:srgbClr val="0F172A"/>
                          </a:solidFill>
                          <a:latin typeface="Aptos"/>
                        </a:rPr>
                        <a:t>Batch finalize rules and current-page selection</a:t>
                      </a:r>
                    </a:p>
                  </a:txBody>
                  <a:tcPr marL="73152" marR="73152">
                    <a:solidFill>
                      <a:srgbClr val="F3F6FA"/>
                    </a:solidFill>
                  </a:tcPr>
                </a:tc>
              </a:tr>
              <a:tr h="354330">
                <a:tc>
                  <a:txBody>
                    <a:bodyPr/>
                    <a:lstStyle/>
                    <a:p>
                      <a:pPr algn="l"/>
                      <a:r>
                        <a:rPr sz="1200">
                          <a:solidFill>
                            <a:srgbClr val="0F172A"/>
                          </a:solidFill>
                          <a:latin typeface="Aptos"/>
                        </a:rPr>
                        <a:t>Cannot move exam from Final</a:t>
                      </a:r>
                    </a:p>
                  </a:txBody>
                  <a:tcPr marL="73152" marR="73152">
                    <a:solidFill>
                      <a:srgbClr val="FFFFFF"/>
                    </a:solidFill>
                  </a:tcPr>
                </a:tc>
                <a:tc>
                  <a:txBody>
                    <a:bodyPr/>
                    <a:lstStyle/>
                    <a:p>
                      <a:pPr algn="l"/>
                      <a:r>
                        <a:rPr sz="1200">
                          <a:solidFill>
                            <a:srgbClr val="0F172A"/>
                          </a:solidFill>
                          <a:latin typeface="Aptos"/>
                        </a:rPr>
                        <a:t>Final status restriction and allowed workflow</a:t>
                      </a:r>
                    </a:p>
                  </a:txBody>
                  <a:tcPr marL="73152" marR="7315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1</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Exam List &amp; Filters</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7</a:t>
            </a:r>
          </a:p>
        </p:txBody>
      </p:sp>
      <p:sp>
        <p:nvSpPr>
          <p:cNvPr id="7" name="Rounded Rectangle 6"/>
          <p:cNvSpPr/>
          <p:nvPr/>
        </p:nvSpPr>
        <p:spPr>
          <a:xfrm>
            <a:off x="868680" y="146304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8" name="Rectangle 7"/>
          <p:cNvSpPr/>
          <p:nvPr/>
        </p:nvSpPr>
        <p:spPr>
          <a:xfrm>
            <a:off x="1124712" y="1417320"/>
            <a:ext cx="459028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Enhanced filtering</a:t>
            </a:r>
          </a:p>
        </p:txBody>
      </p:sp>
      <p:sp>
        <p:nvSpPr>
          <p:cNvPr id="9" name="Rounded Rectangle 8"/>
          <p:cNvSpPr/>
          <p:nvPr/>
        </p:nvSpPr>
        <p:spPr>
          <a:xfrm>
            <a:off x="868680" y="201167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0" name="Rectangle 9"/>
          <p:cNvSpPr/>
          <p:nvPr/>
        </p:nvSpPr>
        <p:spPr>
          <a:xfrm>
            <a:off x="1124712" y="1965960"/>
            <a:ext cx="459028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Multi-location support</a:t>
            </a:r>
          </a:p>
        </p:txBody>
      </p:sp>
      <p:sp>
        <p:nvSpPr>
          <p:cNvPr id="11" name="Rounded Rectangle 10"/>
          <p:cNvSpPr/>
          <p:nvPr/>
        </p:nvSpPr>
        <p:spPr>
          <a:xfrm>
            <a:off x="868680" y="256032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2" name="Rectangle 11"/>
          <p:cNvSpPr/>
          <p:nvPr/>
        </p:nvSpPr>
        <p:spPr>
          <a:xfrm>
            <a:off x="1124712" y="2514600"/>
            <a:ext cx="459028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Custom filter permissions</a:t>
            </a:r>
          </a:p>
        </p:txBody>
      </p:sp>
      <p:sp>
        <p:nvSpPr>
          <p:cNvPr id="13" name="Rounded Rectangle 12"/>
          <p:cNvSpPr/>
          <p:nvPr/>
        </p:nvSpPr>
        <p:spPr>
          <a:xfrm>
            <a:off x="868680" y="310896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4" name="Rectangle 13"/>
          <p:cNvSpPr/>
          <p:nvPr/>
        </p:nvSpPr>
        <p:spPr>
          <a:xfrm>
            <a:off x="1124712" y="3063240"/>
            <a:ext cx="459028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Dual-screen next exam behavior</a:t>
            </a:r>
          </a:p>
        </p:txBody>
      </p:sp>
      <p:sp>
        <p:nvSpPr>
          <p:cNvPr id="15" name="Rounded Rectangle 14"/>
          <p:cNvSpPr/>
          <p:nvPr/>
        </p:nvSpPr>
        <p:spPr>
          <a:xfrm>
            <a:off x="6080760" y="1417320"/>
            <a:ext cx="4754880" cy="1143000"/>
          </a:xfrm>
          <a:prstGeom prst="roundRect">
            <a:avLst/>
          </a:prstGeom>
          <a:solidFill>
            <a:srgbClr val="FFF7DB"/>
          </a:solidFill>
          <a:ln w="15240">
            <a:solidFill>
              <a:srgbClr val="F2B83A"/>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F2B83A"/>
                </a:solidFill>
                <a:latin typeface="Aptos Display"/>
              </a:rPr>
              <a:t>Most “missing exams” issues are caused by:</a:t>
            </a:r>
          </a:p>
          <a:p>
            <a:pPr>
              <a:spcBef>
                <a:spcPts val="500"/>
              </a:spcBef>
            </a:pPr>
            <a:r>
              <a:rPr sz="1300">
                <a:solidFill>
                  <a:srgbClr val="0F172A"/>
                </a:solidFill>
                <a:latin typeface="Aptos"/>
              </a:rPr>
              <a:t>Filter settings • Location restrictions • User permissions</a:t>
            </a:r>
          </a:p>
        </p:txBody>
      </p:sp>
      <p:sp>
        <p:nvSpPr>
          <p:cNvPr id="16" name="Rounded Rectangle 15"/>
          <p:cNvSpPr/>
          <p:nvPr/>
        </p:nvSpPr>
        <p:spPr>
          <a:xfrm>
            <a:off x="914400" y="3840480"/>
            <a:ext cx="2327148" cy="777240"/>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Check filters</a:t>
            </a:r>
          </a:p>
        </p:txBody>
      </p:sp>
      <p:cxnSp>
        <p:nvCxnSpPr>
          <p:cNvPr id="17" name="Connector 16"/>
          <p:cNvCxnSpPr/>
          <p:nvPr/>
        </p:nvCxnSpPr>
        <p:spPr>
          <a:xfrm>
            <a:off x="3241548" y="4229100"/>
            <a:ext cx="128016" cy="0"/>
          </a:xfrm>
          <a:prstGeom prst="line">
            <a:avLst/>
          </a:prstGeom>
          <a:ln w="25400">
            <a:solidFill>
              <a:srgbClr val="1F975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406140" y="3840480"/>
            <a:ext cx="2327148" cy="777240"/>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Check location access</a:t>
            </a:r>
          </a:p>
        </p:txBody>
      </p:sp>
      <p:cxnSp>
        <p:nvCxnSpPr>
          <p:cNvPr id="19" name="Connector 18"/>
          <p:cNvCxnSpPr/>
          <p:nvPr/>
        </p:nvCxnSpPr>
        <p:spPr>
          <a:xfrm>
            <a:off x="5733288" y="4229100"/>
            <a:ext cx="128016" cy="0"/>
          </a:xfrm>
          <a:prstGeom prst="line">
            <a:avLst/>
          </a:prstGeom>
          <a:ln w="25400">
            <a:solidFill>
              <a:srgbClr val="1F9756"/>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897880" y="3840480"/>
            <a:ext cx="2327148" cy="777240"/>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Check user permissions</a:t>
            </a:r>
          </a:p>
        </p:txBody>
      </p:sp>
      <p:cxnSp>
        <p:nvCxnSpPr>
          <p:cNvPr id="21" name="Connector 20"/>
          <p:cNvCxnSpPr/>
          <p:nvPr/>
        </p:nvCxnSpPr>
        <p:spPr>
          <a:xfrm>
            <a:off x="8225028" y="4229100"/>
            <a:ext cx="128016" cy="0"/>
          </a:xfrm>
          <a:prstGeom prst="line">
            <a:avLst/>
          </a:prstGeom>
          <a:ln w="25400">
            <a:solidFill>
              <a:srgbClr val="1F9756"/>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389620" y="3840480"/>
            <a:ext cx="2327148" cy="777240"/>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Then escalate if unresolved</a:t>
            </a:r>
          </a:p>
        </p:txBody>
      </p:sp>
      <p:sp>
        <p:nvSpPr>
          <p:cNvPr id="23" name="Rounded Rectangle 22"/>
          <p:cNvSpPr/>
          <p:nvPr/>
        </p:nvSpPr>
        <p:spPr>
          <a:xfrm>
            <a:off x="1097280" y="5257800"/>
            <a:ext cx="9601200" cy="3840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1800" b="1" i="0">
                <a:solidFill>
                  <a:srgbClr val="122D4D"/>
                </a:solidFill>
                <a:latin typeface="Aptos"/>
              </a:rPr>
              <a:t>Reminder: Before escalating a missing exam issue, check filters, location access, and user permissions.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1</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Reporting &amp; Worksheets</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8</a:t>
            </a:r>
          </a:p>
        </p:txBody>
      </p:sp>
      <p:sp>
        <p:nvSpPr>
          <p:cNvPr id="7" name="Rounded Rectangle 6"/>
          <p:cNvSpPr/>
          <p:nvPr/>
        </p:nvSpPr>
        <p:spPr>
          <a:xfrm>
            <a:off x="822960" y="137160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8" name="Rectangle 7"/>
          <p:cNvSpPr/>
          <p:nvPr/>
        </p:nvSpPr>
        <p:spPr>
          <a:xfrm>
            <a:off x="1078992" y="1325880"/>
            <a:ext cx="449884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Report Preview improvements</a:t>
            </a:r>
          </a:p>
        </p:txBody>
      </p:sp>
      <p:sp>
        <p:nvSpPr>
          <p:cNvPr id="9" name="Rounded Rectangle 8"/>
          <p:cNvSpPr/>
          <p:nvPr/>
        </p:nvSpPr>
        <p:spPr>
          <a:xfrm>
            <a:off x="822960" y="192023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0" name="Rectangle 9"/>
          <p:cNvSpPr/>
          <p:nvPr/>
        </p:nvSpPr>
        <p:spPr>
          <a:xfrm>
            <a:off x="1078992" y="1874519"/>
            <a:ext cx="449884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Conclusion Editor enhancements</a:t>
            </a:r>
          </a:p>
        </p:txBody>
      </p:sp>
      <p:sp>
        <p:nvSpPr>
          <p:cNvPr id="11" name="Rounded Rectangle 10"/>
          <p:cNvSpPr/>
          <p:nvPr/>
        </p:nvSpPr>
        <p:spPr>
          <a:xfrm>
            <a:off x="822960" y="246887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2" name="Rectangle 11"/>
          <p:cNvSpPr/>
          <p:nvPr/>
        </p:nvSpPr>
        <p:spPr>
          <a:xfrm>
            <a:off x="1078992" y="2423160"/>
            <a:ext cx="449884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Macro fixes</a:t>
            </a:r>
          </a:p>
        </p:txBody>
      </p:sp>
      <p:sp>
        <p:nvSpPr>
          <p:cNvPr id="13" name="Rounded Rectangle 12"/>
          <p:cNvSpPr/>
          <p:nvPr/>
        </p:nvSpPr>
        <p:spPr>
          <a:xfrm>
            <a:off x="822960" y="301752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4" name="Rectangle 13"/>
          <p:cNvSpPr/>
          <p:nvPr/>
        </p:nvSpPr>
        <p:spPr>
          <a:xfrm>
            <a:off x="1078992" y="2971800"/>
            <a:ext cx="449884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Worksheet enhancements</a:t>
            </a:r>
          </a:p>
        </p:txBody>
      </p:sp>
      <p:sp>
        <p:nvSpPr>
          <p:cNvPr id="15" name="Rounded Rectangle 14"/>
          <p:cNvSpPr/>
          <p:nvPr/>
        </p:nvSpPr>
        <p:spPr>
          <a:xfrm>
            <a:off x="822960" y="356616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6" name="Rectangle 15"/>
          <p:cNvSpPr/>
          <p:nvPr/>
        </p:nvSpPr>
        <p:spPr>
          <a:xfrm>
            <a:off x="1078992" y="3520440"/>
            <a:ext cx="449884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Adult Echo fixes</a:t>
            </a:r>
          </a:p>
        </p:txBody>
      </p:sp>
      <p:sp>
        <p:nvSpPr>
          <p:cNvPr id="17" name="Rounded Rectangle 16"/>
          <p:cNvSpPr/>
          <p:nvPr/>
        </p:nvSpPr>
        <p:spPr>
          <a:xfrm>
            <a:off x="5897880" y="1234440"/>
            <a:ext cx="4754880" cy="658368"/>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25896" y="134416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19" name="Rectangle 18"/>
          <p:cNvSpPr/>
          <p:nvPr/>
        </p:nvSpPr>
        <p:spPr>
          <a:xfrm>
            <a:off x="6574536" y="1353312"/>
            <a:ext cx="39502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Was the worksheet saved?</a:t>
            </a:r>
          </a:p>
        </p:txBody>
      </p:sp>
      <p:sp>
        <p:nvSpPr>
          <p:cNvPr id="20" name="Rounded Rectangle 19"/>
          <p:cNvSpPr/>
          <p:nvPr/>
        </p:nvSpPr>
        <p:spPr>
          <a:xfrm>
            <a:off x="5897880" y="2194560"/>
            <a:ext cx="4754880" cy="658368"/>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25896" y="230428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22" name="Rectangle 21"/>
          <p:cNvSpPr/>
          <p:nvPr/>
        </p:nvSpPr>
        <p:spPr>
          <a:xfrm>
            <a:off x="6574536" y="2313432"/>
            <a:ext cx="39502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Was the report generated?</a:t>
            </a:r>
          </a:p>
        </p:txBody>
      </p:sp>
      <p:sp>
        <p:nvSpPr>
          <p:cNvPr id="23" name="Rounded Rectangle 22"/>
          <p:cNvSpPr/>
          <p:nvPr/>
        </p:nvSpPr>
        <p:spPr>
          <a:xfrm>
            <a:off x="5897880" y="3154680"/>
            <a:ext cx="4754880" cy="658368"/>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25896" y="326440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25" name="Rectangle 24"/>
          <p:cNvSpPr/>
          <p:nvPr/>
        </p:nvSpPr>
        <p:spPr>
          <a:xfrm>
            <a:off x="6574536" y="3273552"/>
            <a:ext cx="39502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Was the macro applied?</a:t>
            </a:r>
          </a:p>
        </p:txBody>
      </p:sp>
      <p:sp>
        <p:nvSpPr>
          <p:cNvPr id="26" name="Rounded Rectangle 25"/>
          <p:cNvSpPr/>
          <p:nvPr/>
        </p:nvSpPr>
        <p:spPr>
          <a:xfrm>
            <a:off x="5897880" y="4114800"/>
            <a:ext cx="4754880" cy="658368"/>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25896" y="422452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28" name="Rectangle 27"/>
          <p:cNvSpPr/>
          <p:nvPr/>
        </p:nvSpPr>
        <p:spPr>
          <a:xfrm>
            <a:off x="6574536" y="4233672"/>
            <a:ext cx="39502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Did the user manually edit generated text?</a:t>
            </a:r>
          </a:p>
        </p:txBody>
      </p:sp>
      <p:sp>
        <p:nvSpPr>
          <p:cNvPr id="29" name="Rounded Rectangle 28"/>
          <p:cNvSpPr/>
          <p:nvPr/>
        </p:nvSpPr>
        <p:spPr>
          <a:xfrm>
            <a:off x="914400" y="4983480"/>
            <a:ext cx="9966960" cy="640080"/>
          </a:xfrm>
          <a:prstGeom prst="roundRect">
            <a:avLst/>
          </a:prstGeom>
          <a:solidFill>
            <a:srgbClr val="E2EFFF"/>
          </a:solidFill>
          <a:ln w="15240">
            <a:solidFill>
              <a:srgbClr val="1F6FC4"/>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1F6FC4"/>
                </a:solidFill>
                <a:latin typeface="Aptos Display"/>
              </a:rPr>
              <a:t>Support Impact</a:t>
            </a:r>
          </a:p>
          <a:p>
            <a:pPr>
              <a:spcBef>
                <a:spcPts val="500"/>
              </a:spcBef>
            </a:pPr>
            <a:r>
              <a:rPr sz="1300">
                <a:solidFill>
                  <a:srgbClr val="0F172A"/>
                </a:solidFill>
                <a:latin typeface="Aptos"/>
              </a:rPr>
              <a:t>Reporting tickets require workflow evidence: saved data, generated output, macro behavior, and any manual changes.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1</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Integrations</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9</a:t>
            </a:r>
          </a:p>
        </p:txBody>
      </p:sp>
      <p:sp>
        <p:nvSpPr>
          <p:cNvPr id="7" name="Rounded Rectangle 6"/>
          <p:cNvSpPr/>
          <p:nvPr/>
        </p:nvSpPr>
        <p:spPr>
          <a:xfrm>
            <a:off x="822960" y="137160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8" name="Rectangle 7"/>
          <p:cNvSpPr/>
          <p:nvPr/>
        </p:nvSpPr>
        <p:spPr>
          <a:xfrm>
            <a:off x="1078992" y="1325880"/>
            <a:ext cx="449884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HL7 Ready / QA controls</a:t>
            </a:r>
          </a:p>
        </p:txBody>
      </p:sp>
      <p:sp>
        <p:nvSpPr>
          <p:cNvPr id="9" name="Rounded Rectangle 8"/>
          <p:cNvSpPr/>
          <p:nvPr/>
        </p:nvSpPr>
        <p:spPr>
          <a:xfrm>
            <a:off x="822960" y="192023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0" name="Rectangle 9"/>
          <p:cNvSpPr/>
          <p:nvPr/>
        </p:nvSpPr>
        <p:spPr>
          <a:xfrm>
            <a:off x="1078992" y="1874519"/>
            <a:ext cx="449884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Location-based routing</a:t>
            </a:r>
          </a:p>
        </p:txBody>
      </p:sp>
      <p:sp>
        <p:nvSpPr>
          <p:cNvPr id="11" name="Rounded Rectangle 10"/>
          <p:cNvSpPr/>
          <p:nvPr/>
        </p:nvSpPr>
        <p:spPr>
          <a:xfrm>
            <a:off x="822960" y="246887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2" name="Rectangle 11"/>
          <p:cNvSpPr/>
          <p:nvPr/>
        </p:nvSpPr>
        <p:spPr>
          <a:xfrm>
            <a:off x="1078992" y="2423160"/>
            <a:ext cx="449884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NPI mapping</a:t>
            </a:r>
          </a:p>
        </p:txBody>
      </p:sp>
      <p:sp>
        <p:nvSpPr>
          <p:cNvPr id="13" name="Rounded Rectangle 12"/>
          <p:cNvSpPr/>
          <p:nvPr/>
        </p:nvSpPr>
        <p:spPr>
          <a:xfrm>
            <a:off x="822960" y="301752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4" name="Rectangle 13"/>
          <p:cNvSpPr/>
          <p:nvPr/>
        </p:nvSpPr>
        <p:spPr>
          <a:xfrm>
            <a:off x="1078992" y="2971800"/>
            <a:ext cx="449884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WADO integration</a:t>
            </a:r>
          </a:p>
        </p:txBody>
      </p:sp>
      <p:sp>
        <p:nvSpPr>
          <p:cNvPr id="15" name="Rounded Rectangle 14"/>
          <p:cNvSpPr/>
          <p:nvPr/>
        </p:nvSpPr>
        <p:spPr>
          <a:xfrm>
            <a:off x="822960" y="356616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6" name="Rectangle 15"/>
          <p:cNvSpPr/>
          <p:nvPr/>
        </p:nvSpPr>
        <p:spPr>
          <a:xfrm>
            <a:off x="1078992" y="3520440"/>
            <a:ext cx="449884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DICOM HTTP integration</a:t>
            </a:r>
          </a:p>
        </p:txBody>
      </p:sp>
      <p:sp>
        <p:nvSpPr>
          <p:cNvPr id="17" name="Rounded Rectangle 16"/>
          <p:cNvSpPr/>
          <p:nvPr/>
        </p:nvSpPr>
        <p:spPr>
          <a:xfrm>
            <a:off x="822960" y="3840480"/>
            <a:ext cx="1920240" cy="77724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Configuration review</a:t>
            </a:r>
          </a:p>
        </p:txBody>
      </p:sp>
      <p:cxnSp>
        <p:nvCxnSpPr>
          <p:cNvPr id="18" name="Connector 17"/>
          <p:cNvCxnSpPr/>
          <p:nvPr/>
        </p:nvCxnSpPr>
        <p:spPr>
          <a:xfrm>
            <a:off x="2743200" y="4229100"/>
            <a:ext cx="128016"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907792" y="3840480"/>
            <a:ext cx="1920240" cy="77724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Endpoint validation</a:t>
            </a:r>
          </a:p>
        </p:txBody>
      </p:sp>
      <p:cxnSp>
        <p:nvCxnSpPr>
          <p:cNvPr id="20" name="Connector 19"/>
          <p:cNvCxnSpPr/>
          <p:nvPr/>
        </p:nvCxnSpPr>
        <p:spPr>
          <a:xfrm>
            <a:off x="4828032" y="4229100"/>
            <a:ext cx="128016"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992624" y="3840480"/>
            <a:ext cx="1920240" cy="77724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Job status review</a:t>
            </a:r>
          </a:p>
        </p:txBody>
      </p:sp>
      <p:cxnSp>
        <p:nvCxnSpPr>
          <p:cNvPr id="22" name="Connector 21"/>
          <p:cNvCxnSpPr/>
          <p:nvPr/>
        </p:nvCxnSpPr>
        <p:spPr>
          <a:xfrm>
            <a:off x="6912864" y="4229100"/>
            <a:ext cx="128016"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077456" y="3840480"/>
            <a:ext cx="1920240" cy="77724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Evidence package</a:t>
            </a:r>
          </a:p>
        </p:txBody>
      </p:sp>
      <p:cxnSp>
        <p:nvCxnSpPr>
          <p:cNvPr id="24" name="Connector 23"/>
          <p:cNvCxnSpPr/>
          <p:nvPr/>
        </p:nvCxnSpPr>
        <p:spPr>
          <a:xfrm>
            <a:off x="8997696" y="4229100"/>
            <a:ext cx="128016"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62288" y="3840480"/>
            <a:ext cx="1920240" cy="77724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Development involvement</a:t>
            </a:r>
          </a:p>
        </p:txBody>
      </p:sp>
      <p:sp>
        <p:nvSpPr>
          <p:cNvPr id="26" name="Rounded Rectangle 25"/>
          <p:cNvSpPr/>
          <p:nvPr/>
        </p:nvSpPr>
        <p:spPr>
          <a:xfrm>
            <a:off x="5989320" y="1417320"/>
            <a:ext cx="4480560" cy="1051560"/>
          </a:xfrm>
          <a:prstGeom prst="roundRect">
            <a:avLst/>
          </a:prstGeom>
          <a:solidFill>
            <a:srgbClr val="FFF7DB"/>
          </a:solidFill>
          <a:ln w="15240">
            <a:solidFill>
              <a:srgbClr val="F2B83A"/>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F2B83A"/>
                </a:solidFill>
                <a:latin typeface="Aptos Display"/>
              </a:rPr>
              <a:t>Support Impact</a:t>
            </a:r>
          </a:p>
          <a:p>
            <a:pPr>
              <a:spcBef>
                <a:spcPts val="500"/>
              </a:spcBef>
            </a:pPr>
            <a:r>
              <a:rPr sz="1300">
                <a:solidFill>
                  <a:srgbClr val="0F172A"/>
                </a:solidFill>
                <a:latin typeface="Aptos"/>
              </a:rPr>
              <a:t>Most interface tickets require configuration review, endpoint validation, and job status review before Development involvement.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1</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Infrastructure &amp; Security</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10</a:t>
            </a:r>
          </a:p>
        </p:txBody>
      </p:sp>
      <p:sp>
        <p:nvSpPr>
          <p:cNvPr id="7" name="Rounded Rectangle 6"/>
          <p:cNvSpPr/>
          <p:nvPr/>
        </p:nvSpPr>
        <p:spPr>
          <a:xfrm>
            <a:off x="822960" y="137160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8" name="Rectangle 7"/>
          <p:cNvSpPr/>
          <p:nvPr/>
        </p:nvSpPr>
        <p:spPr>
          <a:xfrm>
            <a:off x="1078992" y="1325880"/>
            <a:ext cx="468172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Document handling changes</a:t>
            </a:r>
          </a:p>
        </p:txBody>
      </p:sp>
      <p:sp>
        <p:nvSpPr>
          <p:cNvPr id="9" name="Rounded Rectangle 8"/>
          <p:cNvSpPr/>
          <p:nvPr/>
        </p:nvSpPr>
        <p:spPr>
          <a:xfrm>
            <a:off x="822960" y="192023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0" name="Rectangle 9"/>
          <p:cNvSpPr/>
          <p:nvPr/>
        </p:nvSpPr>
        <p:spPr>
          <a:xfrm>
            <a:off x="1078992" y="1874519"/>
            <a:ext cx="468172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Cache improvements</a:t>
            </a:r>
          </a:p>
        </p:txBody>
      </p:sp>
      <p:sp>
        <p:nvSpPr>
          <p:cNvPr id="11" name="Rounded Rectangle 10"/>
          <p:cNvSpPr/>
          <p:nvPr/>
        </p:nvSpPr>
        <p:spPr>
          <a:xfrm>
            <a:off x="822960" y="246887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2" name="Rectangle 11"/>
          <p:cNvSpPr/>
          <p:nvPr/>
        </p:nvSpPr>
        <p:spPr>
          <a:xfrm>
            <a:off x="1078992" y="2423160"/>
            <a:ext cx="468172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Multi-tenant hostname changes</a:t>
            </a:r>
          </a:p>
        </p:txBody>
      </p:sp>
      <p:sp>
        <p:nvSpPr>
          <p:cNvPr id="13" name="Rounded Rectangle 12"/>
          <p:cNvSpPr/>
          <p:nvPr/>
        </p:nvSpPr>
        <p:spPr>
          <a:xfrm>
            <a:off x="822960" y="301752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4" name="Rectangle 13"/>
          <p:cNvSpPr/>
          <p:nvPr/>
        </p:nvSpPr>
        <p:spPr>
          <a:xfrm>
            <a:off x="1078992" y="2971800"/>
            <a:ext cx="468172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Security hardening</a:t>
            </a:r>
          </a:p>
        </p:txBody>
      </p:sp>
      <p:sp>
        <p:nvSpPr>
          <p:cNvPr id="15" name="Rounded Rectangle 14"/>
          <p:cNvSpPr/>
          <p:nvPr/>
        </p:nvSpPr>
        <p:spPr>
          <a:xfrm>
            <a:off x="5989320" y="1234440"/>
            <a:ext cx="4297680" cy="6217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17336" y="134416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6FC4"/>
                </a:solidFill>
                <a:latin typeface="Aptos"/>
              </a:rPr>
              <a:t>🖥️</a:t>
            </a:r>
          </a:p>
        </p:txBody>
      </p:sp>
      <p:sp>
        <p:nvSpPr>
          <p:cNvPr id="17" name="Rectangle 16"/>
          <p:cNvSpPr/>
          <p:nvPr/>
        </p:nvSpPr>
        <p:spPr>
          <a:xfrm>
            <a:off x="6665976" y="1353312"/>
            <a:ext cx="34930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Check Services</a:t>
            </a:r>
          </a:p>
        </p:txBody>
      </p:sp>
      <p:sp>
        <p:nvSpPr>
          <p:cNvPr id="18" name="Rounded Rectangle 17"/>
          <p:cNvSpPr/>
          <p:nvPr/>
        </p:nvSpPr>
        <p:spPr>
          <a:xfrm>
            <a:off x="5989320" y="2103120"/>
            <a:ext cx="4297680" cy="6217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17336" y="221284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20" name="Rectangle 19"/>
          <p:cNvSpPr/>
          <p:nvPr/>
        </p:nvSpPr>
        <p:spPr>
          <a:xfrm>
            <a:off x="6665976" y="2221991"/>
            <a:ext cx="34930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Check Configuration</a:t>
            </a:r>
          </a:p>
        </p:txBody>
      </p:sp>
      <p:sp>
        <p:nvSpPr>
          <p:cNvPr id="21" name="Rounded Rectangle 20"/>
          <p:cNvSpPr/>
          <p:nvPr/>
        </p:nvSpPr>
        <p:spPr>
          <a:xfrm>
            <a:off x="5989320" y="2971800"/>
            <a:ext cx="4297680" cy="6217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308152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F2B83A"/>
                </a:solidFill>
                <a:latin typeface="Aptos"/>
              </a:rPr>
              <a:t>🧹</a:t>
            </a:r>
          </a:p>
        </p:txBody>
      </p:sp>
      <p:sp>
        <p:nvSpPr>
          <p:cNvPr id="23" name="Rectangle 22"/>
          <p:cNvSpPr/>
          <p:nvPr/>
        </p:nvSpPr>
        <p:spPr>
          <a:xfrm>
            <a:off x="6665976" y="3090672"/>
            <a:ext cx="34930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Check Cache status</a:t>
            </a:r>
          </a:p>
        </p:txBody>
      </p:sp>
      <p:sp>
        <p:nvSpPr>
          <p:cNvPr id="24" name="Rounded Rectangle 23"/>
          <p:cNvSpPr/>
          <p:nvPr/>
        </p:nvSpPr>
        <p:spPr>
          <a:xfrm>
            <a:off x="5989320" y="3840479"/>
            <a:ext cx="4297680" cy="6217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17336" y="3950207"/>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C53030"/>
                </a:solidFill>
                <a:latin typeface="Aptos"/>
              </a:rPr>
              <a:t>📄</a:t>
            </a:r>
          </a:p>
        </p:txBody>
      </p:sp>
      <p:sp>
        <p:nvSpPr>
          <p:cNvPr id="26" name="Rectangle 25"/>
          <p:cNvSpPr/>
          <p:nvPr/>
        </p:nvSpPr>
        <p:spPr>
          <a:xfrm>
            <a:off x="6665976" y="3959351"/>
            <a:ext cx="34930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Check Logs</a:t>
            </a:r>
          </a:p>
        </p:txBody>
      </p:sp>
      <p:sp>
        <p:nvSpPr>
          <p:cNvPr id="27" name="Rounded Rectangle 26"/>
          <p:cNvSpPr/>
          <p:nvPr/>
        </p:nvSpPr>
        <p:spPr>
          <a:xfrm>
            <a:off x="914400" y="4892040"/>
            <a:ext cx="9966960" cy="685800"/>
          </a:xfrm>
          <a:prstGeom prst="roundRect">
            <a:avLst/>
          </a:prstGeom>
          <a:solidFill>
            <a:srgbClr val="E2EFFF"/>
          </a:solidFill>
          <a:ln w="15240">
            <a:solidFill>
              <a:srgbClr val="1F6FC4"/>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1F6FC4"/>
                </a:solidFill>
                <a:latin typeface="Aptos Display"/>
              </a:rPr>
              <a:t>Support Impact</a:t>
            </a:r>
          </a:p>
          <a:p>
            <a:pPr>
              <a:spcBef>
                <a:spcPts val="500"/>
              </a:spcBef>
            </a:pPr>
            <a:r>
              <a:rPr sz="1300">
                <a:solidFill>
                  <a:srgbClr val="0F172A"/>
                </a:solidFill>
                <a:latin typeface="Aptos"/>
              </a:rPr>
              <a:t>Infrastructure and security changes may surface as access errors, stale content, document handling issues, or service failures.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1</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Module 1 Key Takeaways</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11</a:t>
            </a:r>
          </a:p>
        </p:txBody>
      </p:sp>
      <p:sp>
        <p:nvSpPr>
          <p:cNvPr id="7" name="Rounded Rectangle 6"/>
          <p:cNvSpPr/>
          <p:nvPr/>
        </p:nvSpPr>
        <p:spPr>
          <a:xfrm>
            <a:off x="914400" y="1463040"/>
            <a:ext cx="146304" cy="146304"/>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8" name="Rectangle 7"/>
          <p:cNvSpPr/>
          <p:nvPr/>
        </p:nvSpPr>
        <p:spPr>
          <a:xfrm>
            <a:off x="1170432" y="1417320"/>
            <a:ext cx="961948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Not every behavior change is a bug.</a:t>
            </a:r>
          </a:p>
        </p:txBody>
      </p:sp>
      <p:sp>
        <p:nvSpPr>
          <p:cNvPr id="9" name="Rounded Rectangle 8"/>
          <p:cNvSpPr/>
          <p:nvPr/>
        </p:nvSpPr>
        <p:spPr>
          <a:xfrm>
            <a:off x="914400" y="2066543"/>
            <a:ext cx="146304" cy="146304"/>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0" name="Rectangle 9"/>
          <p:cNvSpPr/>
          <p:nvPr/>
        </p:nvSpPr>
        <p:spPr>
          <a:xfrm>
            <a:off x="1170432" y="2020824"/>
            <a:ext cx="961948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Many issues after release are related to configuration, permissions, or workflow changes.</a:t>
            </a:r>
          </a:p>
        </p:txBody>
      </p:sp>
      <p:sp>
        <p:nvSpPr>
          <p:cNvPr id="11" name="Rounded Rectangle 10"/>
          <p:cNvSpPr/>
          <p:nvPr/>
        </p:nvSpPr>
        <p:spPr>
          <a:xfrm>
            <a:off x="914400" y="2670048"/>
            <a:ext cx="146304" cy="146304"/>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2" name="Rectangle 11"/>
          <p:cNvSpPr/>
          <p:nvPr/>
        </p:nvSpPr>
        <p:spPr>
          <a:xfrm>
            <a:off x="1170432" y="2624328"/>
            <a:ext cx="961948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Support should compare reported behavior against the latest release functionality.</a:t>
            </a:r>
          </a:p>
        </p:txBody>
      </p:sp>
      <p:sp>
        <p:nvSpPr>
          <p:cNvPr id="13" name="Rounded Rectangle 12"/>
          <p:cNvSpPr/>
          <p:nvPr/>
        </p:nvSpPr>
        <p:spPr>
          <a:xfrm>
            <a:off x="914400" y="3273552"/>
            <a:ext cx="146304" cy="146304"/>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4" name="Rectangle 13"/>
          <p:cNvSpPr/>
          <p:nvPr/>
        </p:nvSpPr>
        <p:spPr>
          <a:xfrm>
            <a:off x="1170432" y="3227832"/>
            <a:ext cx="961948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Clear release understanding reduces unnecessary escalations.</a:t>
            </a:r>
          </a:p>
        </p:txBody>
      </p:sp>
      <p:sp>
        <p:nvSpPr>
          <p:cNvPr id="15" name="Rounded Rectangle 14"/>
          <p:cNvSpPr/>
          <p:nvPr/>
        </p:nvSpPr>
        <p:spPr>
          <a:xfrm>
            <a:off x="1097280" y="5074920"/>
            <a:ext cx="9464040" cy="5029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1" i="0">
                <a:solidFill>
                  <a:srgbClr val="122D4D"/>
                </a:solidFill>
                <a:latin typeface="Aptos"/>
              </a:rPr>
              <a:t>Release awareness turns “something changed” into a focused investigation.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2</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Module 2 – Troubleshooting &amp; Initial Investigation</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12</a:t>
            </a:r>
          </a:p>
        </p:txBody>
      </p:sp>
      <p:sp>
        <p:nvSpPr>
          <p:cNvPr id="7" name="Rounded Rectangle 6"/>
          <p:cNvSpPr/>
          <p:nvPr/>
        </p:nvSpPr>
        <p:spPr>
          <a:xfrm>
            <a:off x="822960" y="1417320"/>
            <a:ext cx="10469880" cy="914400"/>
          </a:xfrm>
          <a:prstGeom prst="roundRect">
            <a:avLst/>
          </a:prstGeom>
          <a:solidFill>
            <a:srgbClr val="E2F5EA"/>
          </a:solidFill>
          <a:ln w="15240">
            <a:solidFill>
              <a:srgbClr val="1F9756"/>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1F9756"/>
                </a:solidFill>
                <a:latin typeface="Aptos Display"/>
              </a:rPr>
              <a:t>Why this matters</a:t>
            </a:r>
          </a:p>
          <a:p>
            <a:pPr>
              <a:spcBef>
                <a:spcPts val="500"/>
              </a:spcBef>
            </a:pPr>
            <a:r>
              <a:rPr sz="1300">
                <a:solidFill>
                  <a:srgbClr val="0F172A"/>
                </a:solidFill>
                <a:latin typeface="Aptos"/>
              </a:rPr>
              <a:t>Troubleshooting is the most valuable skill for L1 Support and directly affects resolution speed, escalation quality, and customer confidence.</a:t>
            </a:r>
          </a:p>
        </p:txBody>
      </p:sp>
      <p:sp>
        <p:nvSpPr>
          <p:cNvPr id="8" name="Rounded Rectangle 7"/>
          <p:cNvSpPr/>
          <p:nvPr/>
        </p:nvSpPr>
        <p:spPr>
          <a:xfrm>
            <a:off x="822960" y="2880360"/>
            <a:ext cx="1911095" cy="822960"/>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Clarify symptom</a:t>
            </a:r>
          </a:p>
        </p:txBody>
      </p:sp>
      <p:cxnSp>
        <p:nvCxnSpPr>
          <p:cNvPr id="9" name="Connector 8"/>
          <p:cNvCxnSpPr/>
          <p:nvPr/>
        </p:nvCxnSpPr>
        <p:spPr>
          <a:xfrm>
            <a:off x="2734056" y="3291840"/>
            <a:ext cx="128016" cy="0"/>
          </a:xfrm>
          <a:prstGeom prst="line">
            <a:avLst/>
          </a:prstGeom>
          <a:ln w="25400">
            <a:solidFill>
              <a:srgbClr val="1F975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98648" y="2880360"/>
            <a:ext cx="1911095" cy="822960"/>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Define scope</a:t>
            </a:r>
          </a:p>
        </p:txBody>
      </p:sp>
      <p:cxnSp>
        <p:nvCxnSpPr>
          <p:cNvPr id="11" name="Connector 10"/>
          <p:cNvCxnSpPr/>
          <p:nvPr/>
        </p:nvCxnSpPr>
        <p:spPr>
          <a:xfrm>
            <a:off x="4809744" y="3291840"/>
            <a:ext cx="128015" cy="0"/>
          </a:xfrm>
          <a:prstGeom prst="line">
            <a:avLst/>
          </a:prstGeom>
          <a:ln w="25400">
            <a:solidFill>
              <a:srgbClr val="1F975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974336" y="2880360"/>
            <a:ext cx="1911095" cy="822960"/>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Check health</a:t>
            </a:r>
          </a:p>
        </p:txBody>
      </p:sp>
      <p:cxnSp>
        <p:nvCxnSpPr>
          <p:cNvPr id="13" name="Connector 12"/>
          <p:cNvCxnSpPr/>
          <p:nvPr/>
        </p:nvCxnSpPr>
        <p:spPr>
          <a:xfrm>
            <a:off x="6885432" y="3291840"/>
            <a:ext cx="128016" cy="0"/>
          </a:xfrm>
          <a:prstGeom prst="line">
            <a:avLst/>
          </a:prstGeom>
          <a:ln w="25400">
            <a:solidFill>
              <a:srgbClr val="1F9756"/>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050024" y="2880360"/>
            <a:ext cx="1911095" cy="822960"/>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Gather evidence</a:t>
            </a:r>
          </a:p>
        </p:txBody>
      </p:sp>
      <p:cxnSp>
        <p:nvCxnSpPr>
          <p:cNvPr id="15" name="Connector 14"/>
          <p:cNvCxnSpPr/>
          <p:nvPr/>
        </p:nvCxnSpPr>
        <p:spPr>
          <a:xfrm>
            <a:off x="8961120" y="3291840"/>
            <a:ext cx="128016" cy="0"/>
          </a:xfrm>
          <a:prstGeom prst="line">
            <a:avLst/>
          </a:prstGeom>
          <a:ln w="25400">
            <a:solidFill>
              <a:srgbClr val="1F9756"/>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125712" y="2880360"/>
            <a:ext cx="1911095" cy="822960"/>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Decide next step</a:t>
            </a:r>
          </a:p>
        </p:txBody>
      </p:sp>
      <p:sp>
        <p:nvSpPr>
          <p:cNvPr id="17" name="Rounded Rectangle 16"/>
          <p:cNvSpPr/>
          <p:nvPr/>
        </p:nvSpPr>
        <p:spPr>
          <a:xfrm>
            <a:off x="914400" y="448055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8" name="Rectangle 17"/>
          <p:cNvSpPr/>
          <p:nvPr/>
        </p:nvSpPr>
        <p:spPr>
          <a:xfrm>
            <a:off x="1170432" y="4434840"/>
            <a:ext cx="971092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800" b="0" i="0">
                <a:solidFill>
                  <a:srgbClr val="0F172A"/>
                </a:solidFill>
                <a:latin typeface="Aptos"/>
              </a:rPr>
              <a:t>A structured method prevents assumptions.</a:t>
            </a:r>
          </a:p>
        </p:txBody>
      </p:sp>
      <p:sp>
        <p:nvSpPr>
          <p:cNvPr id="19" name="Rounded Rectangle 18"/>
          <p:cNvSpPr/>
          <p:nvPr/>
        </p:nvSpPr>
        <p:spPr>
          <a:xfrm>
            <a:off x="914400" y="502919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20" name="Rectangle 19"/>
          <p:cNvSpPr/>
          <p:nvPr/>
        </p:nvSpPr>
        <p:spPr>
          <a:xfrm>
            <a:off x="1170432" y="4983479"/>
            <a:ext cx="971092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800" b="0" i="0">
                <a:solidFill>
                  <a:srgbClr val="0F172A"/>
                </a:solidFill>
                <a:latin typeface="Aptos"/>
              </a:rPr>
              <a:t>The goal is not to solve every issue; the goal is to establish facts before handoff.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2</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Troubleshooting Mindset</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13</a:t>
            </a:r>
          </a:p>
        </p:txBody>
      </p:sp>
      <p:sp>
        <p:nvSpPr>
          <p:cNvPr id="7" name="Rounded Rectangle 6"/>
          <p:cNvSpPr/>
          <p:nvPr/>
        </p:nvSpPr>
        <p:spPr>
          <a:xfrm>
            <a:off x="822960" y="1325880"/>
            <a:ext cx="4526280" cy="8686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50976" y="1435607"/>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6FC4"/>
                </a:solidFill>
                <a:latin typeface="Aptos"/>
              </a:rPr>
              <a:t>❓</a:t>
            </a:r>
          </a:p>
        </p:txBody>
      </p:sp>
      <p:sp>
        <p:nvSpPr>
          <p:cNvPr id="9" name="Rectangle 8"/>
          <p:cNvSpPr/>
          <p:nvPr/>
        </p:nvSpPr>
        <p:spPr>
          <a:xfrm>
            <a:off x="1499616" y="1444752"/>
            <a:ext cx="37216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What?</a:t>
            </a:r>
          </a:p>
        </p:txBody>
      </p:sp>
      <p:sp>
        <p:nvSpPr>
          <p:cNvPr id="10" name="Rectangle 9"/>
          <p:cNvSpPr/>
          <p:nvPr/>
        </p:nvSpPr>
        <p:spPr>
          <a:xfrm>
            <a:off x="987552" y="1856231"/>
            <a:ext cx="4197096" cy="27431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What exactly is failing?</a:t>
            </a:r>
          </a:p>
        </p:txBody>
      </p:sp>
      <p:sp>
        <p:nvSpPr>
          <p:cNvPr id="11" name="Rounded Rectangle 10"/>
          <p:cNvSpPr/>
          <p:nvPr/>
        </p:nvSpPr>
        <p:spPr>
          <a:xfrm>
            <a:off x="6080760" y="1325880"/>
            <a:ext cx="4526280" cy="8686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1435607"/>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13" name="Rectangle 12"/>
          <p:cNvSpPr/>
          <p:nvPr/>
        </p:nvSpPr>
        <p:spPr>
          <a:xfrm>
            <a:off x="6757416" y="1444752"/>
            <a:ext cx="37216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Who?</a:t>
            </a:r>
          </a:p>
        </p:txBody>
      </p:sp>
      <p:sp>
        <p:nvSpPr>
          <p:cNvPr id="14" name="Rectangle 13"/>
          <p:cNvSpPr/>
          <p:nvPr/>
        </p:nvSpPr>
        <p:spPr>
          <a:xfrm>
            <a:off x="6245352" y="1856231"/>
            <a:ext cx="4197096" cy="27431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One user or all users?</a:t>
            </a:r>
          </a:p>
        </p:txBody>
      </p:sp>
      <p:sp>
        <p:nvSpPr>
          <p:cNvPr id="15" name="Rounded Rectangle 14"/>
          <p:cNvSpPr/>
          <p:nvPr/>
        </p:nvSpPr>
        <p:spPr>
          <a:xfrm>
            <a:off x="822960" y="2560320"/>
            <a:ext cx="4526280" cy="8686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50976" y="267004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6FC4"/>
                </a:solidFill>
                <a:latin typeface="Aptos"/>
              </a:rPr>
              <a:t>❓</a:t>
            </a:r>
          </a:p>
        </p:txBody>
      </p:sp>
      <p:sp>
        <p:nvSpPr>
          <p:cNvPr id="17" name="Rectangle 16"/>
          <p:cNvSpPr/>
          <p:nvPr/>
        </p:nvSpPr>
        <p:spPr>
          <a:xfrm>
            <a:off x="1499616" y="2679191"/>
            <a:ext cx="37216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When?</a:t>
            </a:r>
          </a:p>
        </p:txBody>
      </p:sp>
      <p:sp>
        <p:nvSpPr>
          <p:cNvPr id="18" name="Rectangle 17"/>
          <p:cNvSpPr/>
          <p:nvPr/>
        </p:nvSpPr>
        <p:spPr>
          <a:xfrm>
            <a:off x="987552" y="3090672"/>
            <a:ext cx="4197096" cy="27431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After upgrade? Always? Intermittent?</a:t>
            </a:r>
          </a:p>
        </p:txBody>
      </p:sp>
      <p:sp>
        <p:nvSpPr>
          <p:cNvPr id="19" name="Rounded Rectangle 18"/>
          <p:cNvSpPr/>
          <p:nvPr/>
        </p:nvSpPr>
        <p:spPr>
          <a:xfrm>
            <a:off x="6080760" y="2560320"/>
            <a:ext cx="4526280" cy="8686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08776" y="267004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21" name="Rectangle 20"/>
          <p:cNvSpPr/>
          <p:nvPr/>
        </p:nvSpPr>
        <p:spPr>
          <a:xfrm>
            <a:off x="6757416" y="2679191"/>
            <a:ext cx="37216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Where?</a:t>
            </a:r>
          </a:p>
        </p:txBody>
      </p:sp>
      <p:sp>
        <p:nvSpPr>
          <p:cNvPr id="22" name="Rectangle 21"/>
          <p:cNvSpPr/>
          <p:nvPr/>
        </p:nvSpPr>
        <p:spPr>
          <a:xfrm>
            <a:off x="6245352" y="3090672"/>
            <a:ext cx="4197096" cy="27431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Production? Test? Specific site?</a:t>
            </a:r>
          </a:p>
        </p:txBody>
      </p:sp>
      <p:sp>
        <p:nvSpPr>
          <p:cNvPr id="23" name="Rounded Rectangle 22"/>
          <p:cNvSpPr/>
          <p:nvPr/>
        </p:nvSpPr>
        <p:spPr>
          <a:xfrm>
            <a:off x="3429000" y="3794760"/>
            <a:ext cx="4526280" cy="8686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557016" y="390448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6FC4"/>
                </a:solidFill>
                <a:latin typeface="Aptos"/>
              </a:rPr>
              <a:t>❓</a:t>
            </a:r>
          </a:p>
        </p:txBody>
      </p:sp>
      <p:sp>
        <p:nvSpPr>
          <p:cNvPr id="25" name="Rectangle 24"/>
          <p:cNvSpPr/>
          <p:nvPr/>
        </p:nvSpPr>
        <p:spPr>
          <a:xfrm>
            <a:off x="4105656" y="3913632"/>
            <a:ext cx="37216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Scope?</a:t>
            </a:r>
          </a:p>
        </p:txBody>
      </p:sp>
      <p:sp>
        <p:nvSpPr>
          <p:cNvPr id="26" name="Rectangle 25"/>
          <p:cNvSpPr/>
          <p:nvPr/>
        </p:nvSpPr>
        <p:spPr>
          <a:xfrm>
            <a:off x="3593592" y="4325112"/>
            <a:ext cx="4197096" cy="27431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One exam? One patient? One modality? All exams?</a:t>
            </a:r>
          </a:p>
        </p:txBody>
      </p:sp>
      <p:sp>
        <p:nvSpPr>
          <p:cNvPr id="27" name="Rounded Rectangle 26"/>
          <p:cNvSpPr/>
          <p:nvPr/>
        </p:nvSpPr>
        <p:spPr>
          <a:xfrm>
            <a:off x="1005840" y="5349240"/>
            <a:ext cx="9966960" cy="548640"/>
          </a:xfrm>
          <a:prstGeom prst="roundRect">
            <a:avLst/>
          </a:prstGeom>
          <a:solidFill>
            <a:srgbClr val="FFF7DB"/>
          </a:solidFill>
          <a:ln w="15240">
            <a:solidFill>
              <a:srgbClr val="F2B83A"/>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F2B83A"/>
                </a:solidFill>
                <a:latin typeface="Aptos Display"/>
              </a:rPr>
              <a:t>Rule of thumb</a:t>
            </a:r>
          </a:p>
          <a:p>
            <a:pPr>
              <a:spcBef>
                <a:spcPts val="500"/>
              </a:spcBef>
            </a:pPr>
            <a:r>
              <a:rPr sz="1300">
                <a:solidFill>
                  <a:srgbClr val="0F172A"/>
                </a:solidFill>
                <a:latin typeface="Aptos"/>
              </a:rPr>
              <a:t>If you cannot describe the symptom, impacted users, timing, environment, and scope, the issue is not ready for Development escalation.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2</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Troubleshooting Matrix</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14</a:t>
            </a:r>
          </a:p>
        </p:txBody>
      </p:sp>
      <p:graphicFrame>
        <p:nvGraphicFramePr>
          <p:cNvPr id="7" name="Table 6"/>
          <p:cNvGraphicFramePr>
            <a:graphicFrameLocks noGrp="1"/>
          </p:cNvGraphicFramePr>
          <p:nvPr/>
        </p:nvGraphicFramePr>
        <p:xfrm>
          <a:off x="960120" y="1417320"/>
          <a:ext cx="10241280" cy="4160520"/>
        </p:xfrm>
        <a:graphic>
          <a:graphicData uri="http://schemas.openxmlformats.org/drawingml/2006/table">
            <a:tbl>
              <a:tblPr firstRow="1" bandRow="1">
                <a:tableStyleId>{5C22544A-7EE6-4342-B048-85BDC9FD1C3A}</a:tableStyleId>
              </a:tblPr>
              <a:tblGrid>
                <a:gridCol w="2926080"/>
                <a:gridCol w="7315200"/>
              </a:tblGrid>
              <a:tr h="594360">
                <a:tc>
                  <a:txBody>
                    <a:bodyPr/>
                    <a:lstStyle/>
                    <a:p>
                      <a:pPr algn="ctr"/>
                      <a:r>
                        <a:rPr b="1" sz="1500">
                          <a:solidFill>
                            <a:srgbClr val="FFFFFF"/>
                          </a:solidFill>
                          <a:latin typeface="Aptos"/>
                        </a:rPr>
                        <a:t>Issue Type</a:t>
                      </a:r>
                    </a:p>
                  </a:txBody>
                  <a:tcPr>
                    <a:solidFill>
                      <a:srgbClr val="122D4D"/>
                    </a:solidFill>
                  </a:tcPr>
                </a:tc>
                <a:tc>
                  <a:txBody>
                    <a:bodyPr/>
                    <a:lstStyle/>
                    <a:p>
                      <a:pPr algn="ctr"/>
                      <a:r>
                        <a:rPr b="1" sz="1500">
                          <a:solidFill>
                            <a:srgbClr val="FFFFFF"/>
                          </a:solidFill>
                          <a:latin typeface="Aptos"/>
                        </a:rPr>
                        <a:t>Key Questions</a:t>
                      </a:r>
                    </a:p>
                  </a:txBody>
                  <a:tcPr>
                    <a:solidFill>
                      <a:srgbClr val="122D4D"/>
                    </a:solidFill>
                  </a:tcPr>
                </a:tc>
              </a:tr>
              <a:tr h="594360">
                <a:tc>
                  <a:txBody>
                    <a:bodyPr/>
                    <a:lstStyle/>
                    <a:p>
                      <a:pPr algn="l"/>
                      <a:r>
                        <a:rPr sz="1500">
                          <a:solidFill>
                            <a:srgbClr val="0F172A"/>
                          </a:solidFill>
                          <a:latin typeface="Aptos"/>
                        </a:rPr>
                        <a:t>Login</a:t>
                      </a:r>
                    </a:p>
                  </a:txBody>
                  <a:tcPr marL="73152" marR="73152">
                    <a:solidFill>
                      <a:srgbClr val="FFFFFF"/>
                    </a:solidFill>
                  </a:tcPr>
                </a:tc>
                <a:tc>
                  <a:txBody>
                    <a:bodyPr/>
                    <a:lstStyle/>
                    <a:p>
                      <a:pPr algn="l"/>
                      <a:r>
                        <a:rPr sz="1500">
                          <a:solidFill>
                            <a:srgbClr val="0F172A"/>
                          </a:solidFill>
                          <a:latin typeface="Aptos"/>
                        </a:rPr>
                        <a:t>One user or all users?</a:t>
                      </a:r>
                    </a:p>
                  </a:txBody>
                  <a:tcPr marL="73152" marR="73152">
                    <a:solidFill>
                      <a:srgbClr val="FFFFFF"/>
                    </a:solidFill>
                  </a:tcPr>
                </a:tc>
              </a:tr>
              <a:tr h="594360">
                <a:tc>
                  <a:txBody>
                    <a:bodyPr/>
                    <a:lstStyle/>
                    <a:p>
                      <a:pPr algn="l"/>
                      <a:r>
                        <a:rPr sz="1500">
                          <a:solidFill>
                            <a:srgbClr val="0F172A"/>
                          </a:solidFill>
                          <a:latin typeface="Aptos"/>
                        </a:rPr>
                        <a:t>Reporting</a:t>
                      </a:r>
                    </a:p>
                  </a:txBody>
                  <a:tcPr marL="73152" marR="73152">
                    <a:solidFill>
                      <a:srgbClr val="F3F6FA"/>
                    </a:solidFill>
                  </a:tcPr>
                </a:tc>
                <a:tc>
                  <a:txBody>
                    <a:bodyPr/>
                    <a:lstStyle/>
                    <a:p>
                      <a:pPr algn="l"/>
                      <a:r>
                        <a:rPr sz="1500">
                          <a:solidFill>
                            <a:srgbClr val="0F172A"/>
                          </a:solidFill>
                          <a:latin typeface="Aptos"/>
                        </a:rPr>
                        <a:t>One report or all reports?</a:t>
                      </a:r>
                    </a:p>
                  </a:txBody>
                  <a:tcPr marL="73152" marR="73152">
                    <a:solidFill>
                      <a:srgbClr val="F3F6FA"/>
                    </a:solidFill>
                  </a:tcPr>
                </a:tc>
              </a:tr>
              <a:tr h="594360">
                <a:tc>
                  <a:txBody>
                    <a:bodyPr/>
                    <a:lstStyle/>
                    <a:p>
                      <a:pPr algn="l"/>
                      <a:r>
                        <a:rPr sz="1500">
                          <a:solidFill>
                            <a:srgbClr val="0F172A"/>
                          </a:solidFill>
                          <a:latin typeface="Aptos"/>
                        </a:rPr>
                        <a:t>HL7</a:t>
                      </a:r>
                    </a:p>
                  </a:txBody>
                  <a:tcPr marL="73152" marR="73152">
                    <a:solidFill>
                      <a:srgbClr val="FFFFFF"/>
                    </a:solidFill>
                  </a:tcPr>
                </a:tc>
                <a:tc>
                  <a:txBody>
                    <a:bodyPr/>
                    <a:lstStyle/>
                    <a:p>
                      <a:pPr algn="l"/>
                      <a:r>
                        <a:rPr sz="1500">
                          <a:solidFill>
                            <a:srgbClr val="0F172A"/>
                          </a:solidFill>
                          <a:latin typeface="Aptos"/>
                        </a:rPr>
                        <a:t>One message or all messages?</a:t>
                      </a:r>
                    </a:p>
                  </a:txBody>
                  <a:tcPr marL="73152" marR="73152">
                    <a:solidFill>
                      <a:srgbClr val="FFFFFF"/>
                    </a:solidFill>
                  </a:tcPr>
                </a:tc>
              </a:tr>
              <a:tr h="594360">
                <a:tc>
                  <a:txBody>
                    <a:bodyPr/>
                    <a:lstStyle/>
                    <a:p>
                      <a:pPr algn="l"/>
                      <a:r>
                        <a:rPr sz="1500">
                          <a:solidFill>
                            <a:srgbClr val="0F172A"/>
                          </a:solidFill>
                          <a:latin typeface="Aptos"/>
                        </a:rPr>
                        <a:t>Viewer</a:t>
                      </a:r>
                    </a:p>
                  </a:txBody>
                  <a:tcPr marL="73152" marR="73152">
                    <a:solidFill>
                      <a:srgbClr val="F3F6FA"/>
                    </a:solidFill>
                  </a:tcPr>
                </a:tc>
                <a:tc>
                  <a:txBody>
                    <a:bodyPr/>
                    <a:lstStyle/>
                    <a:p>
                      <a:pPr algn="l"/>
                      <a:r>
                        <a:rPr sz="1500">
                          <a:solidFill>
                            <a:srgbClr val="0F172A"/>
                          </a:solidFill>
                          <a:latin typeface="Aptos"/>
                        </a:rPr>
                        <a:t>One workstation or all workstations?</a:t>
                      </a:r>
                    </a:p>
                  </a:txBody>
                  <a:tcPr marL="73152" marR="73152">
                    <a:solidFill>
                      <a:srgbClr val="F3F6FA"/>
                    </a:solidFill>
                  </a:tcPr>
                </a:tc>
              </a:tr>
              <a:tr h="594360">
                <a:tc>
                  <a:txBody>
                    <a:bodyPr/>
                    <a:lstStyle/>
                    <a:p>
                      <a:pPr algn="l"/>
                      <a:r>
                        <a:rPr sz="1500">
                          <a:solidFill>
                            <a:srgbClr val="0F172A"/>
                          </a:solidFill>
                          <a:latin typeface="Aptos"/>
                        </a:rPr>
                        <a:t>Performance</a:t>
                      </a:r>
                    </a:p>
                  </a:txBody>
                  <a:tcPr marL="73152" marR="73152">
                    <a:solidFill>
                      <a:srgbClr val="FFFFFF"/>
                    </a:solidFill>
                  </a:tcPr>
                </a:tc>
                <a:tc>
                  <a:txBody>
                    <a:bodyPr/>
                    <a:lstStyle/>
                    <a:p>
                      <a:pPr algn="l"/>
                      <a:r>
                        <a:rPr sz="1500">
                          <a:solidFill>
                            <a:srgbClr val="0F172A"/>
                          </a:solidFill>
                          <a:latin typeface="Aptos"/>
                        </a:rPr>
                        <a:t>One user or all users?</a:t>
                      </a:r>
                    </a:p>
                  </a:txBody>
                  <a:tcPr marL="73152" marR="73152">
                    <a:solidFill>
                      <a:srgbClr val="FFFFFF"/>
                    </a:solidFill>
                  </a:tcPr>
                </a:tc>
              </a:tr>
              <a:tr h="594360">
                <a:tc>
                  <a:txBody>
                    <a:bodyPr/>
                    <a:lstStyle/>
                    <a:p>
                      <a:pPr algn="l"/>
                      <a:r>
                        <a:rPr sz="1500">
                          <a:solidFill>
                            <a:srgbClr val="0F172A"/>
                          </a:solidFill>
                          <a:latin typeface="Aptos"/>
                        </a:rPr>
                        <a:t>Database</a:t>
                      </a:r>
                    </a:p>
                  </a:txBody>
                  <a:tcPr marL="73152" marR="73152">
                    <a:solidFill>
                      <a:srgbClr val="F3F6FA"/>
                    </a:solidFill>
                  </a:tcPr>
                </a:tc>
                <a:tc>
                  <a:txBody>
                    <a:bodyPr/>
                    <a:lstStyle/>
                    <a:p>
                      <a:pPr algn="l"/>
                      <a:r>
                        <a:rPr sz="1500">
                          <a:solidFill>
                            <a:srgbClr val="0F172A"/>
                          </a:solidFill>
                          <a:latin typeface="Aptos"/>
                        </a:rPr>
                        <a:t>Specific operation or whole system?</a:t>
                      </a:r>
                    </a:p>
                  </a:txBody>
                  <a:tcPr marL="73152" marR="73152">
                    <a:solidFill>
                      <a:srgbClr val="F3F6FA"/>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2</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Initial Checks Before Escalation</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15</a:t>
            </a:r>
          </a:p>
        </p:txBody>
      </p:sp>
      <p:sp>
        <p:nvSpPr>
          <p:cNvPr id="7" name="Rounded Rectangle 6"/>
          <p:cNvSpPr/>
          <p:nvPr/>
        </p:nvSpPr>
        <p:spPr>
          <a:xfrm>
            <a:off x="822960" y="1600200"/>
            <a:ext cx="2423160" cy="23774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50976" y="170992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6FC4"/>
                </a:solidFill>
                <a:latin typeface="Aptos"/>
              </a:rPr>
              <a:t>🖥️</a:t>
            </a:r>
          </a:p>
        </p:txBody>
      </p:sp>
      <p:sp>
        <p:nvSpPr>
          <p:cNvPr id="9" name="Rectangle 8"/>
          <p:cNvSpPr/>
          <p:nvPr/>
        </p:nvSpPr>
        <p:spPr>
          <a:xfrm>
            <a:off x="1499616" y="1719072"/>
            <a:ext cx="1618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Server Health</a:t>
            </a:r>
          </a:p>
        </p:txBody>
      </p:sp>
      <p:sp>
        <p:nvSpPr>
          <p:cNvPr id="10" name="Rectangle 9"/>
          <p:cNvSpPr/>
          <p:nvPr/>
        </p:nvSpPr>
        <p:spPr>
          <a:xfrm>
            <a:off x="987552" y="2130552"/>
            <a:ext cx="2093976" cy="17830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CPU, memory, disk, services</a:t>
            </a:r>
          </a:p>
        </p:txBody>
      </p:sp>
      <p:sp>
        <p:nvSpPr>
          <p:cNvPr id="11" name="Rounded Rectangle 10"/>
          <p:cNvSpPr/>
          <p:nvPr/>
        </p:nvSpPr>
        <p:spPr>
          <a:xfrm>
            <a:off x="3611879" y="1600200"/>
            <a:ext cx="2423160" cy="23774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739896" y="170992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13" name="Rectangle 12"/>
          <p:cNvSpPr/>
          <p:nvPr/>
        </p:nvSpPr>
        <p:spPr>
          <a:xfrm>
            <a:off x="4288536" y="1719072"/>
            <a:ext cx="1618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Database Health</a:t>
            </a:r>
          </a:p>
        </p:txBody>
      </p:sp>
      <p:sp>
        <p:nvSpPr>
          <p:cNvPr id="14" name="Rectangle 13"/>
          <p:cNvSpPr/>
          <p:nvPr/>
        </p:nvSpPr>
        <p:spPr>
          <a:xfrm>
            <a:off x="3776472" y="2130552"/>
            <a:ext cx="2093976" cy="17830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SQL service, connectivity, blocking, queries</a:t>
            </a:r>
          </a:p>
        </p:txBody>
      </p:sp>
      <p:sp>
        <p:nvSpPr>
          <p:cNvPr id="15" name="Rounded Rectangle 14"/>
          <p:cNvSpPr/>
          <p:nvPr/>
        </p:nvSpPr>
        <p:spPr>
          <a:xfrm>
            <a:off x="6400800" y="1600200"/>
            <a:ext cx="2423160" cy="23774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28816" y="170992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F2B83A"/>
                </a:solidFill>
                <a:latin typeface="Aptos"/>
              </a:rPr>
              <a:t>⚙️</a:t>
            </a:r>
          </a:p>
        </p:txBody>
      </p:sp>
      <p:sp>
        <p:nvSpPr>
          <p:cNvPr id="17" name="Rectangle 16"/>
          <p:cNvSpPr/>
          <p:nvPr/>
        </p:nvSpPr>
        <p:spPr>
          <a:xfrm>
            <a:off x="7077456" y="1719072"/>
            <a:ext cx="1618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Application Health</a:t>
            </a:r>
          </a:p>
        </p:txBody>
      </p:sp>
      <p:sp>
        <p:nvSpPr>
          <p:cNvPr id="18" name="Rectangle 17"/>
          <p:cNvSpPr/>
          <p:nvPr/>
        </p:nvSpPr>
        <p:spPr>
          <a:xfrm>
            <a:off x="6565392" y="2130552"/>
            <a:ext cx="2093976" cy="17830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Services, jobs, queues, scheduled tasks</a:t>
            </a:r>
          </a:p>
        </p:txBody>
      </p:sp>
      <p:sp>
        <p:nvSpPr>
          <p:cNvPr id="19" name="Rounded Rectangle 18"/>
          <p:cNvSpPr/>
          <p:nvPr/>
        </p:nvSpPr>
        <p:spPr>
          <a:xfrm>
            <a:off x="9189719" y="1600200"/>
            <a:ext cx="2423160" cy="23774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317736" y="170992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C53030"/>
                </a:solidFill>
                <a:latin typeface="Aptos"/>
              </a:rPr>
              <a:t>🌐</a:t>
            </a:r>
          </a:p>
        </p:txBody>
      </p:sp>
      <p:sp>
        <p:nvSpPr>
          <p:cNvPr id="21" name="Rectangle 20"/>
          <p:cNvSpPr/>
          <p:nvPr/>
        </p:nvSpPr>
        <p:spPr>
          <a:xfrm>
            <a:off x="9866376" y="1719072"/>
            <a:ext cx="1618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Browser Issues</a:t>
            </a:r>
          </a:p>
        </p:txBody>
      </p:sp>
      <p:sp>
        <p:nvSpPr>
          <p:cNvPr id="22" name="Rectangle 21"/>
          <p:cNvSpPr/>
          <p:nvPr/>
        </p:nvSpPr>
        <p:spPr>
          <a:xfrm>
            <a:off x="9354311" y="2130552"/>
            <a:ext cx="2093976" cy="17830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Version, cache, incognito, alternate browser</a:t>
            </a:r>
          </a:p>
        </p:txBody>
      </p:sp>
      <p:sp>
        <p:nvSpPr>
          <p:cNvPr id="23" name="Rounded Rectangle 22"/>
          <p:cNvSpPr/>
          <p:nvPr/>
        </p:nvSpPr>
        <p:spPr>
          <a:xfrm>
            <a:off x="914400" y="4800600"/>
            <a:ext cx="9966960" cy="685800"/>
          </a:xfrm>
          <a:prstGeom prst="roundRect">
            <a:avLst/>
          </a:prstGeom>
          <a:solidFill>
            <a:srgbClr val="E2EFFF"/>
          </a:solidFill>
          <a:ln w="15240">
            <a:solidFill>
              <a:srgbClr val="1F6FC4"/>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1F6FC4"/>
                </a:solidFill>
                <a:latin typeface="Aptos Display"/>
              </a:rPr>
              <a:t>Escalation gate</a:t>
            </a:r>
          </a:p>
          <a:p>
            <a:pPr>
              <a:spcBef>
                <a:spcPts val="500"/>
              </a:spcBef>
            </a:pPr>
            <a:r>
              <a:rPr sz="1300">
                <a:solidFill>
                  <a:srgbClr val="0F172A"/>
                </a:solidFill>
                <a:latin typeface="Aptos"/>
              </a:rPr>
              <a:t>Complete these initial checks before requesting Development investigation unless the incident is a confirmed P1 outage.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2</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Server Health Checks</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16</a:t>
            </a:r>
          </a:p>
        </p:txBody>
      </p:sp>
      <p:sp>
        <p:nvSpPr>
          <p:cNvPr id="7" name="Rounded Rectangle 6"/>
          <p:cNvSpPr/>
          <p:nvPr/>
        </p:nvSpPr>
        <p:spPr>
          <a:xfrm>
            <a:off x="868680" y="137160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8" name="Rectangle 7"/>
          <p:cNvSpPr/>
          <p:nvPr/>
        </p:nvSpPr>
        <p:spPr>
          <a:xfrm>
            <a:off x="1124712" y="1325880"/>
            <a:ext cx="4864607"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CPU usage</a:t>
            </a:r>
          </a:p>
        </p:txBody>
      </p:sp>
      <p:sp>
        <p:nvSpPr>
          <p:cNvPr id="9" name="Rounded Rectangle 8"/>
          <p:cNvSpPr/>
          <p:nvPr/>
        </p:nvSpPr>
        <p:spPr>
          <a:xfrm>
            <a:off x="868680" y="192023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0" name="Rectangle 9"/>
          <p:cNvSpPr/>
          <p:nvPr/>
        </p:nvSpPr>
        <p:spPr>
          <a:xfrm>
            <a:off x="1124712" y="1874519"/>
            <a:ext cx="4864607"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Memory usage</a:t>
            </a:r>
          </a:p>
        </p:txBody>
      </p:sp>
      <p:sp>
        <p:nvSpPr>
          <p:cNvPr id="11" name="Rounded Rectangle 10"/>
          <p:cNvSpPr/>
          <p:nvPr/>
        </p:nvSpPr>
        <p:spPr>
          <a:xfrm>
            <a:off x="868680" y="246887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2" name="Rectangle 11"/>
          <p:cNvSpPr/>
          <p:nvPr/>
        </p:nvSpPr>
        <p:spPr>
          <a:xfrm>
            <a:off x="1124712" y="2423160"/>
            <a:ext cx="4864607"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Disk space</a:t>
            </a:r>
          </a:p>
        </p:txBody>
      </p:sp>
      <p:sp>
        <p:nvSpPr>
          <p:cNvPr id="13" name="Rounded Rectangle 12"/>
          <p:cNvSpPr/>
          <p:nvPr/>
        </p:nvSpPr>
        <p:spPr>
          <a:xfrm>
            <a:off x="868680" y="301752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4" name="Rectangle 13"/>
          <p:cNvSpPr/>
          <p:nvPr/>
        </p:nvSpPr>
        <p:spPr>
          <a:xfrm>
            <a:off x="1124712" y="2971800"/>
            <a:ext cx="4864607"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Services running</a:t>
            </a:r>
          </a:p>
        </p:txBody>
      </p:sp>
      <p:sp>
        <p:nvSpPr>
          <p:cNvPr id="15" name="Rounded Rectangle 14"/>
          <p:cNvSpPr/>
          <p:nvPr/>
        </p:nvSpPr>
        <p:spPr>
          <a:xfrm>
            <a:off x="6263640" y="1417320"/>
            <a:ext cx="4389120" cy="1188720"/>
          </a:xfrm>
          <a:prstGeom prst="roundRect">
            <a:avLst/>
          </a:prstGeom>
          <a:solidFill>
            <a:srgbClr val="FFF7DB"/>
          </a:solidFill>
          <a:ln w="15240">
            <a:solidFill>
              <a:srgbClr val="F2B83A"/>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F2B83A"/>
                </a:solidFill>
                <a:latin typeface="Aptos Display"/>
              </a:rPr>
              <a:t>Key message</a:t>
            </a:r>
          </a:p>
          <a:p>
            <a:pPr>
              <a:spcBef>
                <a:spcPts val="500"/>
              </a:spcBef>
            </a:pPr>
            <a:r>
              <a:rPr sz="1300">
                <a:solidFill>
                  <a:srgbClr val="0F172A"/>
                </a:solidFill>
                <a:latin typeface="Aptos"/>
              </a:rPr>
              <a:t>A technical issue may be caused by infrastructure health, not application code.</a:t>
            </a:r>
          </a:p>
        </p:txBody>
      </p:sp>
      <p:sp>
        <p:nvSpPr>
          <p:cNvPr id="16" name="Rounded Rectangle 15"/>
          <p:cNvSpPr/>
          <p:nvPr/>
        </p:nvSpPr>
        <p:spPr>
          <a:xfrm>
            <a:off x="960120" y="4251960"/>
            <a:ext cx="2304288" cy="77724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Observe symptom</a:t>
            </a:r>
          </a:p>
        </p:txBody>
      </p:sp>
      <p:cxnSp>
        <p:nvCxnSpPr>
          <p:cNvPr id="17" name="Connector 16"/>
          <p:cNvCxnSpPr/>
          <p:nvPr/>
        </p:nvCxnSpPr>
        <p:spPr>
          <a:xfrm>
            <a:off x="3264408" y="4640580"/>
            <a:ext cx="128016"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429000" y="4251960"/>
            <a:ext cx="2304288" cy="77724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Check server health</a:t>
            </a:r>
          </a:p>
        </p:txBody>
      </p:sp>
      <p:cxnSp>
        <p:nvCxnSpPr>
          <p:cNvPr id="19" name="Connector 18"/>
          <p:cNvCxnSpPr/>
          <p:nvPr/>
        </p:nvCxnSpPr>
        <p:spPr>
          <a:xfrm>
            <a:off x="5733288" y="4640580"/>
            <a:ext cx="128016"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897880" y="4251960"/>
            <a:ext cx="2304288" cy="77724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Confirm service state</a:t>
            </a:r>
          </a:p>
        </p:txBody>
      </p:sp>
      <p:cxnSp>
        <p:nvCxnSpPr>
          <p:cNvPr id="21" name="Connector 20"/>
          <p:cNvCxnSpPr/>
          <p:nvPr/>
        </p:nvCxnSpPr>
        <p:spPr>
          <a:xfrm>
            <a:off x="8202168" y="4640580"/>
            <a:ext cx="128016"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366760" y="4251960"/>
            <a:ext cx="2304288" cy="77724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Attach evidence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2</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Database Health Checks</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17</a:t>
            </a:r>
          </a:p>
        </p:txBody>
      </p:sp>
      <p:sp>
        <p:nvSpPr>
          <p:cNvPr id="7" name="Rounded Rectangle 6"/>
          <p:cNvSpPr/>
          <p:nvPr/>
        </p:nvSpPr>
        <p:spPr>
          <a:xfrm>
            <a:off x="868680" y="1371600"/>
            <a:ext cx="146304" cy="146304"/>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8" name="Rectangle 7"/>
          <p:cNvSpPr/>
          <p:nvPr/>
        </p:nvSpPr>
        <p:spPr>
          <a:xfrm>
            <a:off x="1124712" y="1325880"/>
            <a:ext cx="4864607"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SQL service running</a:t>
            </a:r>
          </a:p>
        </p:txBody>
      </p:sp>
      <p:sp>
        <p:nvSpPr>
          <p:cNvPr id="9" name="Rounded Rectangle 8"/>
          <p:cNvSpPr/>
          <p:nvPr/>
        </p:nvSpPr>
        <p:spPr>
          <a:xfrm>
            <a:off x="868680" y="1920239"/>
            <a:ext cx="146304" cy="146304"/>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0" name="Rectangle 9"/>
          <p:cNvSpPr/>
          <p:nvPr/>
        </p:nvSpPr>
        <p:spPr>
          <a:xfrm>
            <a:off x="1124712" y="1874519"/>
            <a:ext cx="4864607"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Database connectivity</a:t>
            </a:r>
          </a:p>
        </p:txBody>
      </p:sp>
      <p:sp>
        <p:nvSpPr>
          <p:cNvPr id="11" name="Rounded Rectangle 10"/>
          <p:cNvSpPr/>
          <p:nvPr/>
        </p:nvSpPr>
        <p:spPr>
          <a:xfrm>
            <a:off x="868680" y="2468879"/>
            <a:ext cx="146304" cy="146304"/>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2" name="Rectangle 11"/>
          <p:cNvSpPr/>
          <p:nvPr/>
        </p:nvSpPr>
        <p:spPr>
          <a:xfrm>
            <a:off x="1124712" y="2423160"/>
            <a:ext cx="4864607"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Blocking sessions</a:t>
            </a:r>
          </a:p>
        </p:txBody>
      </p:sp>
      <p:sp>
        <p:nvSpPr>
          <p:cNvPr id="13" name="Rounded Rectangle 12"/>
          <p:cNvSpPr/>
          <p:nvPr/>
        </p:nvSpPr>
        <p:spPr>
          <a:xfrm>
            <a:off x="868680" y="3017520"/>
            <a:ext cx="146304" cy="146304"/>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4" name="Rectangle 13"/>
          <p:cNvSpPr/>
          <p:nvPr/>
        </p:nvSpPr>
        <p:spPr>
          <a:xfrm>
            <a:off x="1124712" y="2971800"/>
            <a:ext cx="4864607"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Long-running queries</a:t>
            </a:r>
          </a:p>
        </p:txBody>
      </p:sp>
      <p:sp>
        <p:nvSpPr>
          <p:cNvPr id="15" name="Rounded Rectangle 14"/>
          <p:cNvSpPr/>
          <p:nvPr/>
        </p:nvSpPr>
        <p:spPr>
          <a:xfrm>
            <a:off x="6172200" y="1417320"/>
            <a:ext cx="4480560" cy="1325880"/>
          </a:xfrm>
          <a:prstGeom prst="roundRect">
            <a:avLst/>
          </a:prstGeom>
          <a:solidFill>
            <a:srgbClr val="FDE7E7"/>
          </a:solidFill>
          <a:ln w="1524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C53030"/>
                </a:solidFill>
                <a:latin typeface="Aptos Display"/>
              </a:rPr>
              <a:t>Common symptoms</a:t>
            </a:r>
          </a:p>
          <a:p>
            <a:pPr>
              <a:spcBef>
                <a:spcPts val="500"/>
              </a:spcBef>
            </a:pPr>
            <a:r>
              <a:rPr sz="1300">
                <a:solidFill>
                  <a:srgbClr val="0F172A"/>
                </a:solidFill>
                <a:latin typeface="Aptos"/>
              </a:rPr>
              <a:t>Database-related issues may appear as application slowness, timeout errors, failed saves, or failed operations.</a:t>
            </a:r>
          </a:p>
        </p:txBody>
      </p:sp>
      <p:graphicFrame>
        <p:nvGraphicFramePr>
          <p:cNvPr id="16" name="Table 15"/>
          <p:cNvGraphicFramePr>
            <a:graphicFrameLocks noGrp="1"/>
          </p:cNvGraphicFramePr>
          <p:nvPr/>
        </p:nvGraphicFramePr>
        <p:xfrm>
          <a:off x="914400" y="3931920"/>
          <a:ext cx="9966959" cy="1234440"/>
        </p:xfrm>
        <a:graphic>
          <a:graphicData uri="http://schemas.openxmlformats.org/drawingml/2006/table">
            <a:tbl>
              <a:tblPr firstRow="1" bandRow="1">
                <a:tableStyleId>{5C22544A-7EE6-4342-B048-85BDC9FD1C3A}</a:tableStyleId>
              </a:tblPr>
              <a:tblGrid>
                <a:gridCol w="3749039"/>
                <a:gridCol w="6217920"/>
              </a:tblGrid>
              <a:tr h="308610">
                <a:tc>
                  <a:txBody>
                    <a:bodyPr/>
                    <a:lstStyle/>
                    <a:p>
                      <a:pPr algn="ctr"/>
                      <a:r>
                        <a:rPr b="1" sz="1200">
                          <a:solidFill>
                            <a:srgbClr val="FFFFFF"/>
                          </a:solidFill>
                          <a:latin typeface="Aptos"/>
                        </a:rPr>
                        <a:t>Symptom</a:t>
                      </a:r>
                    </a:p>
                  </a:txBody>
                  <a:tcPr>
                    <a:solidFill>
                      <a:srgbClr val="122D4D"/>
                    </a:solidFill>
                  </a:tcPr>
                </a:tc>
                <a:tc>
                  <a:txBody>
                    <a:bodyPr/>
                    <a:lstStyle/>
                    <a:p>
                      <a:pPr algn="ctr"/>
                      <a:r>
                        <a:rPr b="1" sz="1200">
                          <a:solidFill>
                            <a:srgbClr val="FFFFFF"/>
                          </a:solidFill>
                          <a:latin typeface="Aptos"/>
                        </a:rPr>
                        <a:t>Likely DB check</a:t>
                      </a:r>
                    </a:p>
                  </a:txBody>
                  <a:tcPr>
                    <a:solidFill>
                      <a:srgbClr val="122D4D"/>
                    </a:solidFill>
                  </a:tcPr>
                </a:tc>
              </a:tr>
              <a:tr h="308610">
                <a:tc>
                  <a:txBody>
                    <a:bodyPr/>
                    <a:lstStyle/>
                    <a:p>
                      <a:pPr algn="l"/>
                      <a:r>
                        <a:rPr sz="1200">
                          <a:solidFill>
                            <a:srgbClr val="0F172A"/>
                          </a:solidFill>
                          <a:latin typeface="Aptos"/>
                        </a:rPr>
                        <a:t>Slow screens</a:t>
                      </a:r>
                    </a:p>
                  </a:txBody>
                  <a:tcPr marL="73152" marR="73152">
                    <a:solidFill>
                      <a:srgbClr val="FFFFFF"/>
                    </a:solidFill>
                  </a:tcPr>
                </a:tc>
                <a:tc>
                  <a:txBody>
                    <a:bodyPr/>
                    <a:lstStyle/>
                    <a:p>
                      <a:pPr algn="l"/>
                      <a:r>
                        <a:rPr sz="1200">
                          <a:solidFill>
                            <a:srgbClr val="0F172A"/>
                          </a:solidFill>
                          <a:latin typeface="Aptos"/>
                        </a:rPr>
                        <a:t>Long-running queries or blocking</a:t>
                      </a:r>
                    </a:p>
                  </a:txBody>
                  <a:tcPr marL="73152" marR="73152">
                    <a:solidFill>
                      <a:srgbClr val="FFFFFF"/>
                    </a:solidFill>
                  </a:tcPr>
                </a:tc>
              </a:tr>
              <a:tr h="308610">
                <a:tc>
                  <a:txBody>
                    <a:bodyPr/>
                    <a:lstStyle/>
                    <a:p>
                      <a:pPr algn="l"/>
                      <a:r>
                        <a:rPr sz="1200">
                          <a:solidFill>
                            <a:srgbClr val="0F172A"/>
                          </a:solidFill>
                          <a:latin typeface="Aptos"/>
                        </a:rPr>
                        <a:t>Failed operation</a:t>
                      </a:r>
                    </a:p>
                  </a:txBody>
                  <a:tcPr marL="73152" marR="73152">
                    <a:solidFill>
                      <a:srgbClr val="F3F6FA"/>
                    </a:solidFill>
                  </a:tcPr>
                </a:tc>
                <a:tc>
                  <a:txBody>
                    <a:bodyPr/>
                    <a:lstStyle/>
                    <a:p>
                      <a:pPr algn="l"/>
                      <a:r>
                        <a:rPr sz="1200">
                          <a:solidFill>
                            <a:srgbClr val="0F172A"/>
                          </a:solidFill>
                          <a:latin typeface="Aptos"/>
                        </a:rPr>
                        <a:t>Connectivity, SQL errors, or transaction failure</a:t>
                      </a:r>
                    </a:p>
                  </a:txBody>
                  <a:tcPr marL="73152" marR="73152">
                    <a:solidFill>
                      <a:srgbClr val="F3F6FA"/>
                    </a:solidFill>
                  </a:tcPr>
                </a:tc>
              </a:tr>
              <a:tr h="308610">
                <a:tc>
                  <a:txBody>
                    <a:bodyPr/>
                    <a:lstStyle/>
                    <a:p>
                      <a:pPr algn="l"/>
                      <a:r>
                        <a:rPr sz="1200">
                          <a:solidFill>
                            <a:srgbClr val="0F172A"/>
                          </a:solidFill>
                          <a:latin typeface="Aptos"/>
                        </a:rPr>
                        <a:t>Timeout</a:t>
                      </a:r>
                    </a:p>
                  </a:txBody>
                  <a:tcPr marL="73152" marR="73152">
                    <a:solidFill>
                      <a:srgbClr val="FFFFFF"/>
                    </a:solidFill>
                  </a:tcPr>
                </a:tc>
                <a:tc>
                  <a:txBody>
                    <a:bodyPr/>
                    <a:lstStyle/>
                    <a:p>
                      <a:pPr algn="l"/>
                      <a:r>
                        <a:rPr sz="1200">
                          <a:solidFill>
                            <a:srgbClr val="0F172A"/>
                          </a:solidFill>
                          <a:latin typeface="Aptos"/>
                        </a:rPr>
                        <a:t>Blocking, resource pressure, or unavailable SQL service</a:t>
                      </a:r>
                    </a:p>
                  </a:txBody>
                  <a:tcPr marL="73152" marR="73152">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2</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Application Health Checks</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18</a:t>
            </a:r>
          </a:p>
        </p:txBody>
      </p:sp>
      <p:sp>
        <p:nvSpPr>
          <p:cNvPr id="7" name="Rounded Rectangle 6"/>
          <p:cNvSpPr/>
          <p:nvPr/>
        </p:nvSpPr>
        <p:spPr>
          <a:xfrm>
            <a:off x="868680" y="137160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8" name="Rectangle 7"/>
          <p:cNvSpPr/>
          <p:nvPr/>
        </p:nvSpPr>
        <p:spPr>
          <a:xfrm>
            <a:off x="1124712" y="1325880"/>
            <a:ext cx="4864607"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Application services</a:t>
            </a:r>
          </a:p>
        </p:txBody>
      </p:sp>
      <p:sp>
        <p:nvSpPr>
          <p:cNvPr id="9" name="Rounded Rectangle 8"/>
          <p:cNvSpPr/>
          <p:nvPr/>
        </p:nvSpPr>
        <p:spPr>
          <a:xfrm>
            <a:off x="868680" y="192023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0" name="Rectangle 9"/>
          <p:cNvSpPr/>
          <p:nvPr/>
        </p:nvSpPr>
        <p:spPr>
          <a:xfrm>
            <a:off x="1124712" y="1874519"/>
            <a:ext cx="4864607"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Background jobs</a:t>
            </a:r>
          </a:p>
        </p:txBody>
      </p:sp>
      <p:sp>
        <p:nvSpPr>
          <p:cNvPr id="11" name="Rounded Rectangle 10"/>
          <p:cNvSpPr/>
          <p:nvPr/>
        </p:nvSpPr>
        <p:spPr>
          <a:xfrm>
            <a:off x="868680" y="246887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2" name="Rectangle 11"/>
          <p:cNvSpPr/>
          <p:nvPr/>
        </p:nvSpPr>
        <p:spPr>
          <a:xfrm>
            <a:off x="1124712" y="2423160"/>
            <a:ext cx="4864607"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Queue processing</a:t>
            </a:r>
          </a:p>
        </p:txBody>
      </p:sp>
      <p:sp>
        <p:nvSpPr>
          <p:cNvPr id="13" name="Rounded Rectangle 12"/>
          <p:cNvSpPr/>
          <p:nvPr/>
        </p:nvSpPr>
        <p:spPr>
          <a:xfrm>
            <a:off x="868680" y="301752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4" name="Rectangle 13"/>
          <p:cNvSpPr/>
          <p:nvPr/>
        </p:nvSpPr>
        <p:spPr>
          <a:xfrm>
            <a:off x="1124712" y="2971800"/>
            <a:ext cx="4864607"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Scheduled tasks</a:t>
            </a:r>
          </a:p>
        </p:txBody>
      </p:sp>
      <p:graphicFrame>
        <p:nvGraphicFramePr>
          <p:cNvPr id="15" name="Table 14"/>
          <p:cNvGraphicFramePr>
            <a:graphicFrameLocks noGrp="1"/>
          </p:cNvGraphicFramePr>
          <p:nvPr/>
        </p:nvGraphicFramePr>
        <p:xfrm>
          <a:off x="5669280" y="1417320"/>
          <a:ext cx="5166360" cy="2514600"/>
        </p:xfrm>
        <a:graphic>
          <a:graphicData uri="http://schemas.openxmlformats.org/drawingml/2006/table">
            <a:tbl>
              <a:tblPr firstRow="1" bandRow="1">
                <a:tableStyleId>{5C22544A-7EE6-4342-B048-85BDC9FD1C3A}</a:tableStyleId>
              </a:tblPr>
              <a:tblGrid>
                <a:gridCol w="2286000"/>
                <a:gridCol w="2880360"/>
              </a:tblGrid>
              <a:tr h="628650">
                <a:tc>
                  <a:txBody>
                    <a:bodyPr/>
                    <a:lstStyle/>
                    <a:p>
                      <a:pPr algn="ctr"/>
                      <a:r>
                        <a:rPr b="1" sz="1000">
                          <a:solidFill>
                            <a:srgbClr val="FFFFFF"/>
                          </a:solidFill>
                          <a:latin typeface="Aptos"/>
                        </a:rPr>
                        <a:t>Example</a:t>
                      </a:r>
                    </a:p>
                  </a:txBody>
                  <a:tcPr>
                    <a:solidFill>
                      <a:srgbClr val="122D4D"/>
                    </a:solidFill>
                  </a:tcPr>
                </a:tc>
                <a:tc>
                  <a:txBody>
                    <a:bodyPr/>
                    <a:lstStyle/>
                    <a:p>
                      <a:pPr algn="ctr"/>
                      <a:r>
                        <a:rPr b="1" sz="1000">
                          <a:solidFill>
                            <a:srgbClr val="FFFFFF"/>
                          </a:solidFill>
                          <a:latin typeface="Aptos"/>
                        </a:rPr>
                        <a:t>Customer symptom</a:t>
                      </a:r>
                    </a:p>
                  </a:txBody>
                  <a:tcPr>
                    <a:solidFill>
                      <a:srgbClr val="122D4D"/>
                    </a:solidFill>
                  </a:tcPr>
                </a:tc>
              </a:tr>
              <a:tr h="628650">
                <a:tc>
                  <a:txBody>
                    <a:bodyPr/>
                    <a:lstStyle/>
                    <a:p>
                      <a:pPr algn="l"/>
                      <a:r>
                        <a:rPr sz="1000">
                          <a:solidFill>
                            <a:srgbClr val="0F172A"/>
                          </a:solidFill>
                          <a:latin typeface="Aptos"/>
                        </a:rPr>
                        <a:t>Report generation jobs</a:t>
                      </a:r>
                    </a:p>
                  </a:txBody>
                  <a:tcPr marL="73152" marR="73152">
                    <a:solidFill>
                      <a:srgbClr val="FFFFFF"/>
                    </a:solidFill>
                  </a:tcPr>
                </a:tc>
                <a:tc>
                  <a:txBody>
                    <a:bodyPr/>
                    <a:lstStyle/>
                    <a:p>
                      <a:pPr algn="l"/>
                      <a:r>
                        <a:rPr sz="1000">
                          <a:solidFill>
                            <a:srgbClr val="0F172A"/>
                          </a:solidFill>
                          <a:latin typeface="Aptos"/>
                        </a:rPr>
                        <a:t>Reports stuck or not created</a:t>
                      </a:r>
                    </a:p>
                  </a:txBody>
                  <a:tcPr marL="73152" marR="73152">
                    <a:solidFill>
                      <a:srgbClr val="FFFFFF"/>
                    </a:solidFill>
                  </a:tcPr>
                </a:tc>
              </a:tr>
              <a:tr h="628650">
                <a:tc>
                  <a:txBody>
                    <a:bodyPr/>
                    <a:lstStyle/>
                    <a:p>
                      <a:pPr algn="l"/>
                      <a:r>
                        <a:rPr sz="1000">
                          <a:solidFill>
                            <a:srgbClr val="0F172A"/>
                          </a:solidFill>
                          <a:latin typeface="Aptos"/>
                        </a:rPr>
                        <a:t>Interface processing jobs</a:t>
                      </a:r>
                    </a:p>
                  </a:txBody>
                  <a:tcPr marL="73152" marR="73152">
                    <a:solidFill>
                      <a:srgbClr val="F3F6FA"/>
                    </a:solidFill>
                  </a:tcPr>
                </a:tc>
                <a:tc>
                  <a:txBody>
                    <a:bodyPr/>
                    <a:lstStyle/>
                    <a:p>
                      <a:pPr algn="l"/>
                      <a:r>
                        <a:rPr sz="1000">
                          <a:solidFill>
                            <a:srgbClr val="0F172A"/>
                          </a:solidFill>
                          <a:latin typeface="Aptos"/>
                        </a:rPr>
                        <a:t>HL7/DICOM messages queued or failed</a:t>
                      </a:r>
                    </a:p>
                  </a:txBody>
                  <a:tcPr marL="73152" marR="73152">
                    <a:solidFill>
                      <a:srgbClr val="F3F6FA"/>
                    </a:solidFill>
                  </a:tcPr>
                </a:tc>
              </a:tr>
              <a:tr h="628650">
                <a:tc>
                  <a:txBody>
                    <a:bodyPr/>
                    <a:lstStyle/>
                    <a:p>
                      <a:pPr algn="l"/>
                      <a:r>
                        <a:rPr sz="1000">
                          <a:solidFill>
                            <a:srgbClr val="0F172A"/>
                          </a:solidFill>
                          <a:latin typeface="Aptos"/>
                        </a:rPr>
                        <a:t>Scheduled cleanup tasks</a:t>
                      </a:r>
                    </a:p>
                  </a:txBody>
                  <a:tcPr marL="73152" marR="73152">
                    <a:solidFill>
                      <a:srgbClr val="FFFFFF"/>
                    </a:solidFill>
                  </a:tcPr>
                </a:tc>
                <a:tc>
                  <a:txBody>
                    <a:bodyPr/>
                    <a:lstStyle/>
                    <a:p>
                      <a:pPr algn="l"/>
                      <a:r>
                        <a:rPr sz="1000">
                          <a:solidFill>
                            <a:srgbClr val="0F172A"/>
                          </a:solidFill>
                          <a:latin typeface="Aptos"/>
                        </a:rPr>
                        <a:t>Old data/cache not clearing</a:t>
                      </a:r>
                    </a:p>
                  </a:txBody>
                  <a:tcPr marL="73152" marR="73152">
                    <a:solidFill>
                      <a:srgbClr val="FFFFFF"/>
                    </a:solidFill>
                  </a:tcPr>
                </a:tc>
              </a:tr>
            </a:tbl>
          </a:graphicData>
        </a:graphic>
      </p:graphicFrame>
      <p:sp>
        <p:nvSpPr>
          <p:cNvPr id="16" name="Rounded Rectangle 15"/>
          <p:cNvSpPr/>
          <p:nvPr/>
        </p:nvSpPr>
        <p:spPr>
          <a:xfrm>
            <a:off x="914400" y="4892040"/>
            <a:ext cx="9966960" cy="594360"/>
          </a:xfrm>
          <a:prstGeom prst="roundRect">
            <a:avLst/>
          </a:prstGeom>
          <a:solidFill>
            <a:srgbClr val="E2F5EA"/>
          </a:solidFill>
          <a:ln w="15240">
            <a:solidFill>
              <a:srgbClr val="1F9756"/>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1F9756"/>
                </a:solidFill>
                <a:latin typeface="Aptos Display"/>
              </a:rPr>
              <a:t>Support Impact</a:t>
            </a:r>
          </a:p>
          <a:p>
            <a:pPr>
              <a:spcBef>
                <a:spcPts val="500"/>
              </a:spcBef>
            </a:pPr>
            <a:r>
              <a:rPr sz="1300">
                <a:solidFill>
                  <a:srgbClr val="0F172A"/>
                </a:solidFill>
                <a:latin typeface="Aptos"/>
              </a:rPr>
              <a:t>If jobs or queues are stopped, Development escalation may not be needed; operational recovery may resolve the issue.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2</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Browser-Related Checks</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19</a:t>
            </a:r>
          </a:p>
        </p:txBody>
      </p:sp>
      <p:sp>
        <p:nvSpPr>
          <p:cNvPr id="7" name="Rounded Rectangle 6"/>
          <p:cNvSpPr/>
          <p:nvPr/>
        </p:nvSpPr>
        <p:spPr>
          <a:xfrm>
            <a:off x="868680" y="137160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8" name="Rectangle 7"/>
          <p:cNvSpPr/>
          <p:nvPr/>
        </p:nvSpPr>
        <p:spPr>
          <a:xfrm>
            <a:off x="1124712" y="1325880"/>
            <a:ext cx="4864607"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Browser version</a:t>
            </a:r>
          </a:p>
        </p:txBody>
      </p:sp>
      <p:sp>
        <p:nvSpPr>
          <p:cNvPr id="9" name="Rounded Rectangle 8"/>
          <p:cNvSpPr/>
          <p:nvPr/>
        </p:nvSpPr>
        <p:spPr>
          <a:xfrm>
            <a:off x="868680" y="192023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0" name="Rectangle 9"/>
          <p:cNvSpPr/>
          <p:nvPr/>
        </p:nvSpPr>
        <p:spPr>
          <a:xfrm>
            <a:off x="1124712" y="1874519"/>
            <a:ext cx="4864607"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Cache cleared</a:t>
            </a:r>
          </a:p>
        </p:txBody>
      </p:sp>
      <p:sp>
        <p:nvSpPr>
          <p:cNvPr id="11" name="Rounded Rectangle 10"/>
          <p:cNvSpPr/>
          <p:nvPr/>
        </p:nvSpPr>
        <p:spPr>
          <a:xfrm>
            <a:off x="868680" y="2468879"/>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2" name="Rectangle 11"/>
          <p:cNvSpPr/>
          <p:nvPr/>
        </p:nvSpPr>
        <p:spPr>
          <a:xfrm>
            <a:off x="1124712" y="2423160"/>
            <a:ext cx="4864607"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Incognito/private mode test</a:t>
            </a:r>
          </a:p>
        </p:txBody>
      </p:sp>
      <p:sp>
        <p:nvSpPr>
          <p:cNvPr id="13" name="Rounded Rectangle 12"/>
          <p:cNvSpPr/>
          <p:nvPr/>
        </p:nvSpPr>
        <p:spPr>
          <a:xfrm>
            <a:off x="868680" y="301752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4" name="Rectangle 13"/>
          <p:cNvSpPr/>
          <p:nvPr/>
        </p:nvSpPr>
        <p:spPr>
          <a:xfrm>
            <a:off x="1124712" y="2971800"/>
            <a:ext cx="4864607"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Different browser test</a:t>
            </a:r>
          </a:p>
        </p:txBody>
      </p:sp>
      <p:sp>
        <p:nvSpPr>
          <p:cNvPr id="15" name="Rounded Rectangle 14"/>
          <p:cNvSpPr/>
          <p:nvPr/>
        </p:nvSpPr>
        <p:spPr>
          <a:xfrm>
            <a:off x="6080760" y="1508760"/>
            <a:ext cx="4663440" cy="1097280"/>
          </a:xfrm>
          <a:prstGeom prst="roundRect">
            <a:avLst/>
          </a:prstGeom>
          <a:solidFill>
            <a:srgbClr val="FFF7DB"/>
          </a:solidFill>
          <a:ln w="15240">
            <a:solidFill>
              <a:srgbClr val="F2B83A"/>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F2B83A"/>
                </a:solidFill>
                <a:latin typeface="Aptos Display"/>
              </a:rPr>
              <a:t>Key message</a:t>
            </a:r>
          </a:p>
          <a:p>
            <a:pPr>
              <a:spcBef>
                <a:spcPts val="500"/>
              </a:spcBef>
            </a:pPr>
            <a:r>
              <a:rPr sz="1300">
                <a:solidFill>
                  <a:srgbClr val="0F172A"/>
                </a:solidFill>
                <a:latin typeface="Aptos"/>
              </a:rPr>
              <a:t>Browser cache and client-side issues are common causes of unexpected behavior.</a:t>
            </a:r>
          </a:p>
        </p:txBody>
      </p:sp>
      <p:sp>
        <p:nvSpPr>
          <p:cNvPr id="16" name="Rounded Rectangle 15"/>
          <p:cNvSpPr/>
          <p:nvPr/>
        </p:nvSpPr>
        <p:spPr>
          <a:xfrm>
            <a:off x="822960" y="4023360"/>
            <a:ext cx="1938527" cy="777240"/>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Reproduce issue</a:t>
            </a:r>
          </a:p>
        </p:txBody>
      </p:sp>
      <p:cxnSp>
        <p:nvCxnSpPr>
          <p:cNvPr id="17" name="Connector 16"/>
          <p:cNvCxnSpPr/>
          <p:nvPr/>
        </p:nvCxnSpPr>
        <p:spPr>
          <a:xfrm>
            <a:off x="2761487" y="4411980"/>
            <a:ext cx="128016" cy="0"/>
          </a:xfrm>
          <a:prstGeom prst="line">
            <a:avLst/>
          </a:prstGeom>
          <a:ln w="25400">
            <a:solidFill>
              <a:srgbClr val="1F975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926079" y="4023360"/>
            <a:ext cx="1938527" cy="777240"/>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Clear cache</a:t>
            </a:r>
          </a:p>
        </p:txBody>
      </p:sp>
      <p:cxnSp>
        <p:nvCxnSpPr>
          <p:cNvPr id="19" name="Connector 18"/>
          <p:cNvCxnSpPr/>
          <p:nvPr/>
        </p:nvCxnSpPr>
        <p:spPr>
          <a:xfrm>
            <a:off x="4864607" y="4411980"/>
            <a:ext cx="128017" cy="0"/>
          </a:xfrm>
          <a:prstGeom prst="line">
            <a:avLst/>
          </a:prstGeom>
          <a:ln w="25400">
            <a:solidFill>
              <a:srgbClr val="1F9756"/>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029200" y="4023360"/>
            <a:ext cx="1938527" cy="777240"/>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Private mode</a:t>
            </a:r>
          </a:p>
        </p:txBody>
      </p:sp>
      <p:cxnSp>
        <p:nvCxnSpPr>
          <p:cNvPr id="21" name="Connector 20"/>
          <p:cNvCxnSpPr/>
          <p:nvPr/>
        </p:nvCxnSpPr>
        <p:spPr>
          <a:xfrm>
            <a:off x="6967727" y="4411980"/>
            <a:ext cx="128017" cy="0"/>
          </a:xfrm>
          <a:prstGeom prst="line">
            <a:avLst/>
          </a:prstGeom>
          <a:ln w="25400">
            <a:solidFill>
              <a:srgbClr val="1F9756"/>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132320" y="4023360"/>
            <a:ext cx="1938527" cy="777240"/>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Alternate browser</a:t>
            </a:r>
          </a:p>
        </p:txBody>
      </p:sp>
      <p:cxnSp>
        <p:nvCxnSpPr>
          <p:cNvPr id="23" name="Connector 22"/>
          <p:cNvCxnSpPr/>
          <p:nvPr/>
        </p:nvCxnSpPr>
        <p:spPr>
          <a:xfrm>
            <a:off x="9070848" y="4411980"/>
            <a:ext cx="128016" cy="0"/>
          </a:xfrm>
          <a:prstGeom prst="line">
            <a:avLst/>
          </a:prstGeom>
          <a:ln w="25400">
            <a:solidFill>
              <a:srgbClr val="1F9756"/>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235440" y="4023360"/>
            <a:ext cx="1938527" cy="777240"/>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Capture console/HAR if needed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2</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Top Recurring Root Causes</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20</a:t>
            </a:r>
          </a:p>
        </p:txBody>
      </p:sp>
      <p:sp>
        <p:nvSpPr>
          <p:cNvPr id="7" name="Rounded Rectangle 6"/>
          <p:cNvSpPr/>
          <p:nvPr/>
        </p:nvSpPr>
        <p:spPr>
          <a:xfrm>
            <a:off x="868680" y="1261872"/>
            <a:ext cx="384048" cy="347472"/>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1</a:t>
            </a:r>
          </a:p>
        </p:txBody>
      </p:sp>
      <p:sp>
        <p:nvSpPr>
          <p:cNvPr id="8" name="Rectangle 7"/>
          <p:cNvSpPr/>
          <p:nvPr/>
        </p:nvSpPr>
        <p:spPr>
          <a:xfrm>
            <a:off x="1371600" y="1289304"/>
            <a:ext cx="44805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Browser cache</a:t>
            </a:r>
          </a:p>
        </p:txBody>
      </p:sp>
      <p:sp>
        <p:nvSpPr>
          <p:cNvPr id="9" name="Rounded Rectangle 8"/>
          <p:cNvSpPr/>
          <p:nvPr/>
        </p:nvSpPr>
        <p:spPr>
          <a:xfrm>
            <a:off x="6080760" y="1261872"/>
            <a:ext cx="384048" cy="347472"/>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2</a:t>
            </a:r>
          </a:p>
        </p:txBody>
      </p:sp>
      <p:sp>
        <p:nvSpPr>
          <p:cNvPr id="10" name="Rectangle 9"/>
          <p:cNvSpPr/>
          <p:nvPr/>
        </p:nvSpPr>
        <p:spPr>
          <a:xfrm>
            <a:off x="6583680" y="1289304"/>
            <a:ext cx="44805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User permissions</a:t>
            </a:r>
          </a:p>
        </p:txBody>
      </p:sp>
      <p:sp>
        <p:nvSpPr>
          <p:cNvPr id="11" name="Rounded Rectangle 10"/>
          <p:cNvSpPr/>
          <p:nvPr/>
        </p:nvSpPr>
        <p:spPr>
          <a:xfrm>
            <a:off x="868680" y="2020824"/>
            <a:ext cx="384048" cy="347472"/>
          </a:xfrm>
          <a:prstGeom prst="roundRect">
            <a:avLst/>
          </a:prstGeom>
          <a:solidFill>
            <a:srgbClr val="F2B83A"/>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3</a:t>
            </a:r>
          </a:p>
        </p:txBody>
      </p:sp>
      <p:sp>
        <p:nvSpPr>
          <p:cNvPr id="12" name="Rectangle 11"/>
          <p:cNvSpPr/>
          <p:nvPr/>
        </p:nvSpPr>
        <p:spPr>
          <a:xfrm>
            <a:off x="1371600" y="2048255"/>
            <a:ext cx="44805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Filters</a:t>
            </a:r>
          </a:p>
        </p:txBody>
      </p:sp>
      <p:sp>
        <p:nvSpPr>
          <p:cNvPr id="13" name="Rounded Rectangle 12"/>
          <p:cNvSpPr/>
          <p:nvPr/>
        </p:nvSpPr>
        <p:spPr>
          <a:xfrm>
            <a:off x="6080760" y="2020824"/>
            <a:ext cx="384048" cy="347472"/>
          </a:xfrm>
          <a:prstGeom prst="roundRect">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4</a:t>
            </a:r>
          </a:p>
        </p:txBody>
      </p:sp>
      <p:sp>
        <p:nvSpPr>
          <p:cNvPr id="14" name="Rectangle 13"/>
          <p:cNvSpPr/>
          <p:nvPr/>
        </p:nvSpPr>
        <p:spPr>
          <a:xfrm>
            <a:off x="6583680" y="2048255"/>
            <a:ext cx="44805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Incorrect configuration</a:t>
            </a:r>
          </a:p>
        </p:txBody>
      </p:sp>
      <p:sp>
        <p:nvSpPr>
          <p:cNvPr id="15" name="Rounded Rectangle 14"/>
          <p:cNvSpPr/>
          <p:nvPr/>
        </p:nvSpPr>
        <p:spPr>
          <a:xfrm>
            <a:off x="868680" y="2779776"/>
            <a:ext cx="384048" cy="347472"/>
          </a:xfrm>
          <a:prstGeom prst="round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5</a:t>
            </a:r>
          </a:p>
        </p:txBody>
      </p:sp>
      <p:sp>
        <p:nvSpPr>
          <p:cNvPr id="16" name="Rectangle 15"/>
          <p:cNvSpPr/>
          <p:nvPr/>
        </p:nvSpPr>
        <p:spPr>
          <a:xfrm>
            <a:off x="1371600" y="2807208"/>
            <a:ext cx="44805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Service stopped</a:t>
            </a:r>
          </a:p>
        </p:txBody>
      </p:sp>
      <p:sp>
        <p:nvSpPr>
          <p:cNvPr id="17" name="Rounded Rectangle 16"/>
          <p:cNvSpPr/>
          <p:nvPr/>
        </p:nvSpPr>
        <p:spPr>
          <a:xfrm>
            <a:off x="6080760" y="2779776"/>
            <a:ext cx="384048" cy="347472"/>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6</a:t>
            </a:r>
          </a:p>
        </p:txBody>
      </p:sp>
      <p:sp>
        <p:nvSpPr>
          <p:cNvPr id="18" name="Rectangle 17"/>
          <p:cNvSpPr/>
          <p:nvPr/>
        </p:nvSpPr>
        <p:spPr>
          <a:xfrm>
            <a:off x="6583680" y="2807208"/>
            <a:ext cx="44805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SQL unavailable</a:t>
            </a:r>
          </a:p>
        </p:txBody>
      </p:sp>
      <p:sp>
        <p:nvSpPr>
          <p:cNvPr id="19" name="Rounded Rectangle 18"/>
          <p:cNvSpPr/>
          <p:nvPr/>
        </p:nvSpPr>
        <p:spPr>
          <a:xfrm>
            <a:off x="868680" y="3538727"/>
            <a:ext cx="384048" cy="347472"/>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7</a:t>
            </a:r>
          </a:p>
        </p:txBody>
      </p:sp>
      <p:sp>
        <p:nvSpPr>
          <p:cNvPr id="20" name="Rectangle 19"/>
          <p:cNvSpPr/>
          <p:nvPr/>
        </p:nvSpPr>
        <p:spPr>
          <a:xfrm>
            <a:off x="1371600" y="3566159"/>
            <a:ext cx="44805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Disk full</a:t>
            </a:r>
          </a:p>
        </p:txBody>
      </p:sp>
      <p:sp>
        <p:nvSpPr>
          <p:cNvPr id="21" name="Rounded Rectangle 20"/>
          <p:cNvSpPr/>
          <p:nvPr/>
        </p:nvSpPr>
        <p:spPr>
          <a:xfrm>
            <a:off x="6080760" y="3538727"/>
            <a:ext cx="384048" cy="347472"/>
          </a:xfrm>
          <a:prstGeom prst="roundRect">
            <a:avLst/>
          </a:prstGeom>
          <a:solidFill>
            <a:srgbClr val="F2B83A"/>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8</a:t>
            </a:r>
          </a:p>
        </p:txBody>
      </p:sp>
      <p:sp>
        <p:nvSpPr>
          <p:cNvPr id="22" name="Rectangle 21"/>
          <p:cNvSpPr/>
          <p:nvPr/>
        </p:nvSpPr>
        <p:spPr>
          <a:xfrm>
            <a:off x="6583680" y="3566159"/>
            <a:ext cx="44805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License expired</a:t>
            </a:r>
          </a:p>
        </p:txBody>
      </p:sp>
      <p:sp>
        <p:nvSpPr>
          <p:cNvPr id="23" name="Rounded Rectangle 22"/>
          <p:cNvSpPr/>
          <p:nvPr/>
        </p:nvSpPr>
        <p:spPr>
          <a:xfrm>
            <a:off x="868680" y="4297679"/>
            <a:ext cx="384048" cy="347472"/>
          </a:xfrm>
          <a:prstGeom prst="roundRect">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9</a:t>
            </a:r>
          </a:p>
        </p:txBody>
      </p:sp>
      <p:sp>
        <p:nvSpPr>
          <p:cNvPr id="24" name="Rectangle 23"/>
          <p:cNvSpPr/>
          <p:nvPr/>
        </p:nvSpPr>
        <p:spPr>
          <a:xfrm>
            <a:off x="1371600" y="4325112"/>
            <a:ext cx="44805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Integration endpoint unavailable</a:t>
            </a:r>
          </a:p>
        </p:txBody>
      </p:sp>
      <p:sp>
        <p:nvSpPr>
          <p:cNvPr id="25" name="Rounded Rectangle 24"/>
          <p:cNvSpPr/>
          <p:nvPr/>
        </p:nvSpPr>
        <p:spPr>
          <a:xfrm>
            <a:off x="6080760" y="4297679"/>
            <a:ext cx="384048" cy="347472"/>
          </a:xfrm>
          <a:prstGeom prst="round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10</a:t>
            </a:r>
          </a:p>
        </p:txBody>
      </p:sp>
      <p:sp>
        <p:nvSpPr>
          <p:cNvPr id="26" name="Rectangle 25"/>
          <p:cNvSpPr/>
          <p:nvPr/>
        </p:nvSpPr>
        <p:spPr>
          <a:xfrm>
            <a:off x="6583680" y="4325112"/>
            <a:ext cx="44805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600" b="0" i="0">
                <a:solidFill>
                  <a:srgbClr val="0F172A"/>
                </a:solidFill>
                <a:latin typeface="Aptos"/>
              </a:rPr>
              <a:t>Wrong customer expectation</a:t>
            </a:r>
          </a:p>
        </p:txBody>
      </p:sp>
      <p:sp>
        <p:nvSpPr>
          <p:cNvPr id="27" name="Rounded Rectangle 26"/>
          <p:cNvSpPr/>
          <p:nvPr/>
        </p:nvSpPr>
        <p:spPr>
          <a:xfrm>
            <a:off x="914400" y="5486400"/>
            <a:ext cx="9966960" cy="502920"/>
          </a:xfrm>
          <a:prstGeom prst="roundRect">
            <a:avLst/>
          </a:prstGeom>
          <a:solidFill>
            <a:srgbClr val="E2EFFF"/>
          </a:solidFill>
          <a:ln w="15240">
            <a:solidFill>
              <a:srgbClr val="1F6FC4"/>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1F6FC4"/>
                </a:solidFill>
                <a:latin typeface="Aptos Display"/>
              </a:rPr>
              <a:t>Pattern recognition</a:t>
            </a:r>
          </a:p>
          <a:p>
            <a:pPr>
              <a:spcBef>
                <a:spcPts val="500"/>
              </a:spcBef>
            </a:pPr>
            <a:r>
              <a:rPr sz="1300">
                <a:solidFill>
                  <a:srgbClr val="0F172A"/>
                </a:solidFill>
                <a:latin typeface="Aptos"/>
              </a:rPr>
              <a:t>Most high-volume tickets should map to a small set of repeatable checks and Knowledge Base articles.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3</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Module 3 – Escalation Standards and Required Information</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21</a:t>
            </a:r>
          </a:p>
        </p:txBody>
      </p:sp>
      <p:sp>
        <p:nvSpPr>
          <p:cNvPr id="7" name="Rounded Rectangle 6"/>
          <p:cNvSpPr/>
          <p:nvPr/>
        </p:nvSpPr>
        <p:spPr>
          <a:xfrm>
            <a:off x="822960" y="1417320"/>
            <a:ext cx="10469880" cy="914400"/>
          </a:xfrm>
          <a:prstGeom prst="roundRect">
            <a:avLst/>
          </a:prstGeom>
          <a:solidFill>
            <a:srgbClr val="FDE7E7"/>
          </a:solidFill>
          <a:ln w="1524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C53030"/>
                </a:solidFill>
                <a:latin typeface="Aptos Display"/>
              </a:rPr>
              <a:t>Escalation principle</a:t>
            </a:r>
          </a:p>
          <a:p>
            <a:pPr>
              <a:spcBef>
                <a:spcPts val="500"/>
              </a:spcBef>
            </a:pPr>
            <a:r>
              <a:rPr sz="1300">
                <a:solidFill>
                  <a:srgbClr val="0F172A"/>
                </a:solidFill>
                <a:latin typeface="Aptos"/>
              </a:rPr>
              <a:t>Development cannot investigate effectively without complete information. A high-quality escalation reduces back-and-forth and speeds up resolution.</a:t>
            </a:r>
          </a:p>
        </p:txBody>
      </p:sp>
      <p:sp>
        <p:nvSpPr>
          <p:cNvPr id="8" name="Rounded Rectangle 7"/>
          <p:cNvSpPr/>
          <p:nvPr/>
        </p:nvSpPr>
        <p:spPr>
          <a:xfrm>
            <a:off x="868680" y="2926080"/>
            <a:ext cx="1883663" cy="822960"/>
          </a:xfrm>
          <a:prstGeom prst="roundRect">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Complete facts</a:t>
            </a:r>
          </a:p>
        </p:txBody>
      </p:sp>
      <p:cxnSp>
        <p:nvCxnSpPr>
          <p:cNvPr id="9" name="Connector 8"/>
          <p:cNvCxnSpPr/>
          <p:nvPr/>
        </p:nvCxnSpPr>
        <p:spPr>
          <a:xfrm>
            <a:off x="2752344" y="3337560"/>
            <a:ext cx="128015" cy="0"/>
          </a:xfrm>
          <a:prstGeom prst="line">
            <a:avLst/>
          </a:prstGeom>
          <a:ln w="25400">
            <a:solidFill>
              <a:srgbClr val="C53030"/>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916935" y="2926080"/>
            <a:ext cx="1883663" cy="822960"/>
          </a:xfrm>
          <a:prstGeom prst="roundRect">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Evidence attached</a:t>
            </a:r>
          </a:p>
        </p:txBody>
      </p:sp>
      <p:cxnSp>
        <p:nvCxnSpPr>
          <p:cNvPr id="11" name="Connector 10"/>
          <p:cNvCxnSpPr/>
          <p:nvPr/>
        </p:nvCxnSpPr>
        <p:spPr>
          <a:xfrm>
            <a:off x="4800599" y="3337560"/>
            <a:ext cx="128017" cy="0"/>
          </a:xfrm>
          <a:prstGeom prst="line">
            <a:avLst/>
          </a:prstGeom>
          <a:ln w="25400">
            <a:solidFill>
              <a:srgbClr val="C5303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965192" y="2926080"/>
            <a:ext cx="1883663" cy="822960"/>
          </a:xfrm>
          <a:prstGeom prst="roundRect">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Senior review</a:t>
            </a:r>
          </a:p>
        </p:txBody>
      </p:sp>
      <p:cxnSp>
        <p:nvCxnSpPr>
          <p:cNvPr id="13" name="Connector 12"/>
          <p:cNvCxnSpPr/>
          <p:nvPr/>
        </p:nvCxnSpPr>
        <p:spPr>
          <a:xfrm>
            <a:off x="6848855" y="3337560"/>
            <a:ext cx="128017" cy="0"/>
          </a:xfrm>
          <a:prstGeom prst="line">
            <a:avLst/>
          </a:prstGeom>
          <a:ln w="25400">
            <a:solidFill>
              <a:srgbClr val="C5303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013447" y="2926080"/>
            <a:ext cx="1883663" cy="822960"/>
          </a:xfrm>
          <a:prstGeom prst="roundRect">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Clear ask</a:t>
            </a:r>
          </a:p>
        </p:txBody>
      </p:sp>
      <p:cxnSp>
        <p:nvCxnSpPr>
          <p:cNvPr id="15" name="Connector 14"/>
          <p:cNvCxnSpPr/>
          <p:nvPr/>
        </p:nvCxnSpPr>
        <p:spPr>
          <a:xfrm>
            <a:off x="8897111" y="3337560"/>
            <a:ext cx="128017" cy="0"/>
          </a:xfrm>
          <a:prstGeom prst="line">
            <a:avLst/>
          </a:prstGeom>
          <a:ln w="25400">
            <a:solidFill>
              <a:srgbClr val="C5303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061703" y="2926080"/>
            <a:ext cx="1883663" cy="822960"/>
          </a:xfrm>
          <a:prstGeom prst="roundRect">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Development action</a:t>
            </a:r>
          </a:p>
        </p:txBody>
      </p:sp>
      <p:sp>
        <p:nvSpPr>
          <p:cNvPr id="17" name="Rounded Rectangle 16"/>
          <p:cNvSpPr/>
          <p:nvPr/>
        </p:nvSpPr>
        <p:spPr>
          <a:xfrm>
            <a:off x="914400" y="452628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8" name="Rectangle 17"/>
          <p:cNvSpPr/>
          <p:nvPr/>
        </p:nvSpPr>
        <p:spPr>
          <a:xfrm>
            <a:off x="1170432" y="4480560"/>
            <a:ext cx="952804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800" b="0" i="0">
                <a:solidFill>
                  <a:srgbClr val="0F172A"/>
                </a:solidFill>
                <a:latin typeface="Aptos"/>
              </a:rPr>
              <a:t>Escalation is a handoff, not a restart of investigation.</a:t>
            </a:r>
          </a:p>
        </p:txBody>
      </p:sp>
      <p:sp>
        <p:nvSpPr>
          <p:cNvPr id="19" name="Rounded Rectangle 18"/>
          <p:cNvSpPr/>
          <p:nvPr/>
        </p:nvSpPr>
        <p:spPr>
          <a:xfrm>
            <a:off x="914400" y="507492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20" name="Rectangle 19"/>
          <p:cNvSpPr/>
          <p:nvPr/>
        </p:nvSpPr>
        <p:spPr>
          <a:xfrm>
            <a:off x="1170432" y="5029200"/>
            <a:ext cx="952804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800" b="0" i="0">
                <a:solidFill>
                  <a:srgbClr val="0F172A"/>
                </a:solidFill>
                <a:latin typeface="Aptos"/>
              </a:rPr>
              <a:t>The ticket should be complete enough for Development to reproduce, inspect, or make a decision.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3</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Escalation Template Overview</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22</a:t>
            </a:r>
          </a:p>
        </p:txBody>
      </p:sp>
      <p:sp>
        <p:nvSpPr>
          <p:cNvPr id="7" name="Rounded Rectangle 6"/>
          <p:cNvSpPr/>
          <p:nvPr/>
        </p:nvSpPr>
        <p:spPr>
          <a:xfrm>
            <a:off x="777240" y="1325880"/>
            <a:ext cx="3246120" cy="53035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05256" y="1435607"/>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9" name="Rectangle 8"/>
          <p:cNvSpPr/>
          <p:nvPr/>
        </p:nvSpPr>
        <p:spPr>
          <a:xfrm>
            <a:off x="1453895" y="1444752"/>
            <a:ext cx="244144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Customer information</a:t>
            </a:r>
          </a:p>
        </p:txBody>
      </p:sp>
      <p:sp>
        <p:nvSpPr>
          <p:cNvPr id="10" name="Rounded Rectangle 9"/>
          <p:cNvSpPr/>
          <p:nvPr/>
        </p:nvSpPr>
        <p:spPr>
          <a:xfrm>
            <a:off x="4480559" y="1325880"/>
            <a:ext cx="3246120" cy="53035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08575" y="1435607"/>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12" name="Rectangle 11"/>
          <p:cNvSpPr/>
          <p:nvPr/>
        </p:nvSpPr>
        <p:spPr>
          <a:xfrm>
            <a:off x="5157216" y="1444752"/>
            <a:ext cx="244144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Environment information</a:t>
            </a:r>
          </a:p>
        </p:txBody>
      </p:sp>
      <p:sp>
        <p:nvSpPr>
          <p:cNvPr id="13" name="Rounded Rectangle 12"/>
          <p:cNvSpPr/>
          <p:nvPr/>
        </p:nvSpPr>
        <p:spPr>
          <a:xfrm>
            <a:off x="8183879" y="1325880"/>
            <a:ext cx="3246120" cy="53035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11896" y="1435607"/>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15" name="Rectangle 14"/>
          <p:cNvSpPr/>
          <p:nvPr/>
        </p:nvSpPr>
        <p:spPr>
          <a:xfrm>
            <a:off x="8860536" y="1444752"/>
            <a:ext cx="244144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Access information</a:t>
            </a:r>
          </a:p>
        </p:txBody>
      </p:sp>
      <p:sp>
        <p:nvSpPr>
          <p:cNvPr id="16" name="Rounded Rectangle 15"/>
          <p:cNvSpPr/>
          <p:nvPr/>
        </p:nvSpPr>
        <p:spPr>
          <a:xfrm>
            <a:off x="777240" y="2075688"/>
            <a:ext cx="3246120" cy="53035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05256" y="2185416"/>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18" name="Rectangle 17"/>
          <p:cNvSpPr/>
          <p:nvPr/>
        </p:nvSpPr>
        <p:spPr>
          <a:xfrm>
            <a:off x="1453895" y="2194560"/>
            <a:ext cx="244144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Upgrade information</a:t>
            </a:r>
          </a:p>
        </p:txBody>
      </p:sp>
      <p:sp>
        <p:nvSpPr>
          <p:cNvPr id="19" name="Rounded Rectangle 18"/>
          <p:cNvSpPr/>
          <p:nvPr/>
        </p:nvSpPr>
        <p:spPr>
          <a:xfrm>
            <a:off x="4480559" y="2075688"/>
            <a:ext cx="3246120" cy="53035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08575" y="2185416"/>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6FC4"/>
                </a:solidFill>
                <a:latin typeface="Aptos"/>
              </a:rPr>
              <a:t>✓</a:t>
            </a:r>
          </a:p>
        </p:txBody>
      </p:sp>
      <p:sp>
        <p:nvSpPr>
          <p:cNvPr id="21" name="Rectangle 20"/>
          <p:cNvSpPr/>
          <p:nvPr/>
        </p:nvSpPr>
        <p:spPr>
          <a:xfrm>
            <a:off x="5157216" y="2194560"/>
            <a:ext cx="244144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Issue classification</a:t>
            </a:r>
          </a:p>
        </p:txBody>
      </p:sp>
      <p:sp>
        <p:nvSpPr>
          <p:cNvPr id="22" name="Rounded Rectangle 21"/>
          <p:cNvSpPr/>
          <p:nvPr/>
        </p:nvSpPr>
        <p:spPr>
          <a:xfrm>
            <a:off x="8183879" y="2075688"/>
            <a:ext cx="3246120" cy="53035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11896" y="2185416"/>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6FC4"/>
                </a:solidFill>
                <a:latin typeface="Aptos"/>
              </a:rPr>
              <a:t>✓</a:t>
            </a:r>
          </a:p>
        </p:txBody>
      </p:sp>
      <p:sp>
        <p:nvSpPr>
          <p:cNvPr id="24" name="Rectangle 23"/>
          <p:cNvSpPr/>
          <p:nvPr/>
        </p:nvSpPr>
        <p:spPr>
          <a:xfrm>
            <a:off x="8860536" y="2194560"/>
            <a:ext cx="244144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Scope assessment</a:t>
            </a:r>
          </a:p>
        </p:txBody>
      </p:sp>
      <p:sp>
        <p:nvSpPr>
          <p:cNvPr id="25" name="Rounded Rectangle 24"/>
          <p:cNvSpPr/>
          <p:nvPr/>
        </p:nvSpPr>
        <p:spPr>
          <a:xfrm>
            <a:off x="777240" y="2825496"/>
            <a:ext cx="3246120" cy="53035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5256" y="2935224"/>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6FC4"/>
                </a:solidFill>
                <a:latin typeface="Aptos"/>
              </a:rPr>
              <a:t>✓</a:t>
            </a:r>
          </a:p>
        </p:txBody>
      </p:sp>
      <p:sp>
        <p:nvSpPr>
          <p:cNvPr id="27" name="Rectangle 26"/>
          <p:cNvSpPr/>
          <p:nvPr/>
        </p:nvSpPr>
        <p:spPr>
          <a:xfrm>
            <a:off x="1453895" y="2944368"/>
            <a:ext cx="244144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Reproduction steps</a:t>
            </a:r>
          </a:p>
        </p:txBody>
      </p:sp>
      <p:sp>
        <p:nvSpPr>
          <p:cNvPr id="28" name="Rounded Rectangle 27"/>
          <p:cNvSpPr/>
          <p:nvPr/>
        </p:nvSpPr>
        <p:spPr>
          <a:xfrm>
            <a:off x="4480559" y="2825496"/>
            <a:ext cx="3246120" cy="53035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608575" y="2935224"/>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6FC4"/>
                </a:solidFill>
                <a:latin typeface="Aptos"/>
              </a:rPr>
              <a:t>✓</a:t>
            </a:r>
          </a:p>
        </p:txBody>
      </p:sp>
      <p:sp>
        <p:nvSpPr>
          <p:cNvPr id="30" name="Rectangle 29"/>
          <p:cNvSpPr/>
          <p:nvPr/>
        </p:nvSpPr>
        <p:spPr>
          <a:xfrm>
            <a:off x="5157216" y="2944368"/>
            <a:ext cx="244144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Expected result</a:t>
            </a:r>
          </a:p>
        </p:txBody>
      </p:sp>
      <p:sp>
        <p:nvSpPr>
          <p:cNvPr id="31" name="Rounded Rectangle 30"/>
          <p:cNvSpPr/>
          <p:nvPr/>
        </p:nvSpPr>
        <p:spPr>
          <a:xfrm>
            <a:off x="8183879" y="2825496"/>
            <a:ext cx="3246120" cy="53035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11896" y="2935224"/>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6FC4"/>
                </a:solidFill>
                <a:latin typeface="Aptos"/>
              </a:rPr>
              <a:t>✓</a:t>
            </a:r>
          </a:p>
        </p:txBody>
      </p:sp>
      <p:sp>
        <p:nvSpPr>
          <p:cNvPr id="33" name="Rectangle 32"/>
          <p:cNvSpPr/>
          <p:nvPr/>
        </p:nvSpPr>
        <p:spPr>
          <a:xfrm>
            <a:off x="8860536" y="2944368"/>
            <a:ext cx="244144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Actual result</a:t>
            </a:r>
          </a:p>
        </p:txBody>
      </p:sp>
      <p:sp>
        <p:nvSpPr>
          <p:cNvPr id="34" name="Rounded Rectangle 33"/>
          <p:cNvSpPr/>
          <p:nvPr/>
        </p:nvSpPr>
        <p:spPr>
          <a:xfrm>
            <a:off x="777240" y="3575304"/>
            <a:ext cx="3246120" cy="53035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05256" y="3685032"/>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F2B83A"/>
                </a:solidFill>
                <a:latin typeface="Aptos"/>
              </a:rPr>
              <a:t>✓</a:t>
            </a:r>
          </a:p>
        </p:txBody>
      </p:sp>
      <p:sp>
        <p:nvSpPr>
          <p:cNvPr id="36" name="Rectangle 35"/>
          <p:cNvSpPr/>
          <p:nvPr/>
        </p:nvSpPr>
        <p:spPr>
          <a:xfrm>
            <a:off x="1453895" y="3694176"/>
            <a:ext cx="244144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Screenshots</a:t>
            </a:r>
          </a:p>
        </p:txBody>
      </p:sp>
      <p:sp>
        <p:nvSpPr>
          <p:cNvPr id="37" name="Rounded Rectangle 36"/>
          <p:cNvSpPr/>
          <p:nvPr/>
        </p:nvSpPr>
        <p:spPr>
          <a:xfrm>
            <a:off x="4480559" y="3575304"/>
            <a:ext cx="3246120" cy="53035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608575" y="3685032"/>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F2B83A"/>
                </a:solidFill>
                <a:latin typeface="Aptos"/>
              </a:rPr>
              <a:t>✓</a:t>
            </a:r>
          </a:p>
        </p:txBody>
      </p:sp>
      <p:sp>
        <p:nvSpPr>
          <p:cNvPr id="39" name="Rectangle 38"/>
          <p:cNvSpPr/>
          <p:nvPr/>
        </p:nvSpPr>
        <p:spPr>
          <a:xfrm>
            <a:off x="5157216" y="3694176"/>
            <a:ext cx="244144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Required logs</a:t>
            </a:r>
          </a:p>
        </p:txBody>
      </p:sp>
      <p:sp>
        <p:nvSpPr>
          <p:cNvPr id="40" name="Rounded Rectangle 39"/>
          <p:cNvSpPr/>
          <p:nvPr/>
        </p:nvSpPr>
        <p:spPr>
          <a:xfrm>
            <a:off x="8183879" y="3575304"/>
            <a:ext cx="3246120" cy="53035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311896" y="3685032"/>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F2B83A"/>
                </a:solidFill>
                <a:latin typeface="Aptos"/>
              </a:rPr>
              <a:t>✓</a:t>
            </a:r>
          </a:p>
        </p:txBody>
      </p:sp>
      <p:sp>
        <p:nvSpPr>
          <p:cNvPr id="42" name="Rectangle 41"/>
          <p:cNvSpPr/>
          <p:nvPr/>
        </p:nvSpPr>
        <p:spPr>
          <a:xfrm>
            <a:off x="8860536" y="3694176"/>
            <a:ext cx="244144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KB and senior support review status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3</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Customer and Environment Information</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23</a:t>
            </a:r>
          </a:p>
        </p:txBody>
      </p:sp>
      <p:graphicFrame>
        <p:nvGraphicFramePr>
          <p:cNvPr id="7" name="Table 6"/>
          <p:cNvGraphicFramePr>
            <a:graphicFrameLocks noGrp="1"/>
          </p:cNvGraphicFramePr>
          <p:nvPr/>
        </p:nvGraphicFramePr>
        <p:xfrm>
          <a:off x="914400" y="1417320"/>
          <a:ext cx="5074920" cy="2743200"/>
        </p:xfrm>
        <a:graphic>
          <a:graphicData uri="http://schemas.openxmlformats.org/drawingml/2006/table">
            <a:tbl>
              <a:tblPr firstRow="1" bandRow="1">
                <a:tableStyleId>{5C22544A-7EE6-4342-B048-85BDC9FD1C3A}</a:tableStyleId>
              </a:tblPr>
              <a:tblGrid>
                <a:gridCol w="2194560"/>
                <a:gridCol w="2880360"/>
              </a:tblGrid>
              <a:tr h="548640">
                <a:tc>
                  <a:txBody>
                    <a:bodyPr/>
                    <a:lstStyle/>
                    <a:p>
                      <a:pPr algn="ctr"/>
                      <a:r>
                        <a:rPr b="1" sz="1200">
                          <a:solidFill>
                            <a:srgbClr val="FFFFFF"/>
                          </a:solidFill>
                          <a:latin typeface="Aptos"/>
                        </a:rPr>
                        <a:t>Customer Information</a:t>
                      </a:r>
                    </a:p>
                  </a:txBody>
                  <a:tcPr>
                    <a:solidFill>
                      <a:srgbClr val="122D4D"/>
                    </a:solidFill>
                  </a:tcPr>
                </a:tc>
                <a:tc>
                  <a:txBody>
                    <a:bodyPr/>
                    <a:lstStyle/>
                    <a:p>
                      <a:pPr algn="ctr"/>
                      <a:r>
                        <a:rPr b="1" sz="1200">
                          <a:solidFill>
                            <a:srgbClr val="FFFFFF"/>
                          </a:solidFill>
                          <a:latin typeface="Aptos"/>
                        </a:rPr>
                        <a:t>Required detail</a:t>
                      </a:r>
                    </a:p>
                  </a:txBody>
                  <a:tcPr>
                    <a:solidFill>
                      <a:srgbClr val="122D4D"/>
                    </a:solidFill>
                  </a:tcPr>
                </a:tc>
              </a:tr>
              <a:tr h="548640">
                <a:tc>
                  <a:txBody>
                    <a:bodyPr/>
                    <a:lstStyle/>
                    <a:p>
                      <a:pPr algn="l"/>
                      <a:r>
                        <a:rPr sz="1200">
                          <a:solidFill>
                            <a:srgbClr val="0F172A"/>
                          </a:solidFill>
                          <a:latin typeface="Aptos"/>
                        </a:rPr>
                        <a:t>Customer name</a:t>
                      </a:r>
                    </a:p>
                  </a:txBody>
                  <a:tcPr marL="73152" marR="73152">
                    <a:solidFill>
                      <a:srgbClr val="FFFFFF"/>
                    </a:solidFill>
                  </a:tcPr>
                </a:tc>
                <a:tc>
                  <a:txBody>
                    <a:bodyPr/>
                    <a:lstStyle/>
                    <a:p>
                      <a:pPr algn="l"/>
                      <a:r>
                        <a:rPr sz="1200">
                          <a:solidFill>
                            <a:srgbClr val="0F172A"/>
                          </a:solidFill>
                          <a:latin typeface="Aptos"/>
                        </a:rPr>
                        <a:t>Full customer/account name</a:t>
                      </a:r>
                    </a:p>
                  </a:txBody>
                  <a:tcPr marL="73152" marR="73152">
                    <a:solidFill>
                      <a:srgbClr val="FFFFFF"/>
                    </a:solidFill>
                  </a:tcPr>
                </a:tc>
              </a:tr>
              <a:tr h="548640">
                <a:tc>
                  <a:txBody>
                    <a:bodyPr/>
                    <a:lstStyle/>
                    <a:p>
                      <a:pPr algn="l"/>
                      <a:r>
                        <a:rPr sz="1200">
                          <a:solidFill>
                            <a:srgbClr val="0F172A"/>
                          </a:solidFill>
                          <a:latin typeface="Aptos"/>
                        </a:rPr>
                        <a:t>Environment</a:t>
                      </a:r>
                    </a:p>
                  </a:txBody>
                  <a:tcPr marL="73152" marR="73152">
                    <a:solidFill>
                      <a:srgbClr val="F3F6FA"/>
                    </a:solidFill>
                  </a:tcPr>
                </a:tc>
                <a:tc>
                  <a:txBody>
                    <a:bodyPr/>
                    <a:lstStyle/>
                    <a:p>
                      <a:pPr algn="l"/>
                      <a:r>
                        <a:rPr sz="1200">
                          <a:solidFill>
                            <a:srgbClr val="0F172A"/>
                          </a:solidFill>
                          <a:latin typeface="Aptos"/>
                        </a:rPr>
                        <a:t>Production or Test</a:t>
                      </a:r>
                    </a:p>
                  </a:txBody>
                  <a:tcPr marL="73152" marR="73152">
                    <a:solidFill>
                      <a:srgbClr val="F3F6FA"/>
                    </a:solidFill>
                  </a:tcPr>
                </a:tc>
              </a:tr>
              <a:tr h="548640">
                <a:tc>
                  <a:txBody>
                    <a:bodyPr/>
                    <a:lstStyle/>
                    <a:p>
                      <a:pPr algn="l"/>
                      <a:r>
                        <a:rPr sz="1200">
                          <a:solidFill>
                            <a:srgbClr val="0F172A"/>
                          </a:solidFill>
                          <a:latin typeface="Aptos"/>
                        </a:rPr>
                        <a:t>Version</a:t>
                      </a:r>
                    </a:p>
                  </a:txBody>
                  <a:tcPr marL="73152" marR="73152">
                    <a:solidFill>
                      <a:srgbClr val="FFFFFF"/>
                    </a:solidFill>
                  </a:tcPr>
                </a:tc>
                <a:tc>
                  <a:txBody>
                    <a:bodyPr/>
                    <a:lstStyle/>
                    <a:p>
                      <a:pPr algn="l"/>
                      <a:r>
                        <a:rPr sz="1200">
                          <a:solidFill>
                            <a:srgbClr val="0F172A"/>
                          </a:solidFill>
                          <a:latin typeface="Aptos"/>
                        </a:rPr>
                        <a:t>Installed product version</a:t>
                      </a:r>
                    </a:p>
                  </a:txBody>
                  <a:tcPr marL="73152" marR="73152">
                    <a:solidFill>
                      <a:srgbClr val="FFFFFF"/>
                    </a:solidFill>
                  </a:tcPr>
                </a:tc>
              </a:tr>
              <a:tr h="548640">
                <a:tc>
                  <a:txBody>
                    <a:bodyPr/>
                    <a:lstStyle/>
                    <a:p>
                      <a:pPr algn="l"/>
                      <a:r>
                        <a:rPr sz="1200">
                          <a:solidFill>
                            <a:srgbClr val="0F172A"/>
                          </a:solidFill>
                          <a:latin typeface="Aptos"/>
                        </a:rPr>
                        <a:t>Installation Type</a:t>
                      </a:r>
                    </a:p>
                  </a:txBody>
                  <a:tcPr marL="73152" marR="73152">
                    <a:solidFill>
                      <a:srgbClr val="F3F6FA"/>
                    </a:solidFill>
                  </a:tcPr>
                </a:tc>
                <a:tc>
                  <a:txBody>
                    <a:bodyPr/>
                    <a:lstStyle/>
                    <a:p>
                      <a:pPr algn="l"/>
                      <a:r>
                        <a:rPr sz="1200">
                          <a:solidFill>
                            <a:srgbClr val="0F172A"/>
                          </a:solidFill>
                          <a:latin typeface="Aptos"/>
                        </a:rPr>
                        <a:t>PACS Only / All-In-One / Enterprise</a:t>
                      </a:r>
                    </a:p>
                  </a:txBody>
                  <a:tcPr marL="73152" marR="73152">
                    <a:solidFill>
                      <a:srgbClr val="F3F6FA"/>
                    </a:solidFill>
                  </a:tcPr>
                </a:tc>
              </a:tr>
            </a:tbl>
          </a:graphicData>
        </a:graphic>
      </p:graphicFrame>
      <p:sp>
        <p:nvSpPr>
          <p:cNvPr id="8" name="Rounded Rectangle 7"/>
          <p:cNvSpPr/>
          <p:nvPr/>
        </p:nvSpPr>
        <p:spPr>
          <a:xfrm>
            <a:off x="6492240" y="1508760"/>
            <a:ext cx="4114800" cy="25146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20255" y="161848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6FC4"/>
                </a:solidFill>
                <a:latin typeface="Aptos"/>
              </a:rPr>
              <a:t>🏥</a:t>
            </a:r>
          </a:p>
        </p:txBody>
      </p:sp>
      <p:sp>
        <p:nvSpPr>
          <p:cNvPr id="10" name="Rectangle 9"/>
          <p:cNvSpPr/>
          <p:nvPr/>
        </p:nvSpPr>
        <p:spPr>
          <a:xfrm>
            <a:off x="7168896" y="1627631"/>
            <a:ext cx="331012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Why it matters</a:t>
            </a:r>
          </a:p>
        </p:txBody>
      </p:sp>
      <p:sp>
        <p:nvSpPr>
          <p:cNvPr id="11" name="Rectangle 10"/>
          <p:cNvSpPr/>
          <p:nvPr/>
        </p:nvSpPr>
        <p:spPr>
          <a:xfrm>
            <a:off x="6656831" y="2039112"/>
            <a:ext cx="3785615" cy="19202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Customer and environment details route the issue correctly, reveal version-specific behavior, and prevent Development from investigating the wrong installation.</a:t>
            </a:r>
          </a:p>
        </p:txBody>
      </p:sp>
      <p:sp>
        <p:nvSpPr>
          <p:cNvPr id="12" name="Rounded Rectangle 11"/>
          <p:cNvSpPr/>
          <p:nvPr/>
        </p:nvSpPr>
        <p:spPr>
          <a:xfrm>
            <a:off x="914400" y="4892040"/>
            <a:ext cx="9966960" cy="594360"/>
          </a:xfrm>
          <a:prstGeom prst="roundRect">
            <a:avLst/>
          </a:prstGeom>
          <a:solidFill>
            <a:srgbClr val="FFF7DB"/>
          </a:solidFill>
          <a:ln w="15240">
            <a:solidFill>
              <a:srgbClr val="F2B83A"/>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F2B83A"/>
                </a:solidFill>
                <a:latin typeface="Aptos Display"/>
              </a:rPr>
              <a:t>Escalation standard</a:t>
            </a:r>
          </a:p>
          <a:p>
            <a:pPr>
              <a:spcBef>
                <a:spcPts val="500"/>
              </a:spcBef>
            </a:pPr>
            <a:r>
              <a:rPr sz="1300">
                <a:solidFill>
                  <a:srgbClr val="0F172A"/>
                </a:solidFill>
                <a:latin typeface="Aptos"/>
              </a:rPr>
              <a:t>If Support cannot identify the version and environment, the ticket is not ready for Development unless it is a confirmed outage.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3</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Access and Upgrade Information</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24</a:t>
            </a:r>
          </a:p>
        </p:txBody>
      </p:sp>
      <p:graphicFrame>
        <p:nvGraphicFramePr>
          <p:cNvPr id="7" name="Table 6"/>
          <p:cNvGraphicFramePr>
            <a:graphicFrameLocks noGrp="1"/>
          </p:cNvGraphicFramePr>
          <p:nvPr/>
        </p:nvGraphicFramePr>
        <p:xfrm>
          <a:off x="822960" y="1417320"/>
          <a:ext cx="5257800" cy="2834640"/>
        </p:xfrm>
        <a:graphic>
          <a:graphicData uri="http://schemas.openxmlformats.org/drawingml/2006/table">
            <a:tbl>
              <a:tblPr firstRow="1" bandRow="1">
                <a:tableStyleId>{5C22544A-7EE6-4342-B048-85BDC9FD1C3A}</a:tableStyleId>
              </a:tblPr>
              <a:tblGrid>
                <a:gridCol w="2286000"/>
                <a:gridCol w="2971800"/>
              </a:tblGrid>
              <a:tr h="566928">
                <a:tc>
                  <a:txBody>
                    <a:bodyPr/>
                    <a:lstStyle/>
                    <a:p>
                      <a:pPr algn="ctr"/>
                      <a:r>
                        <a:rPr b="1" sz="1100">
                          <a:solidFill>
                            <a:srgbClr val="FFFFFF"/>
                          </a:solidFill>
                          <a:latin typeface="Aptos"/>
                        </a:rPr>
                        <a:t>Access Information</a:t>
                      </a:r>
                    </a:p>
                  </a:txBody>
                  <a:tcPr>
                    <a:solidFill>
                      <a:srgbClr val="122D4D"/>
                    </a:solidFill>
                  </a:tcPr>
                </a:tc>
                <a:tc>
                  <a:txBody>
                    <a:bodyPr/>
                    <a:lstStyle/>
                    <a:p>
                      <a:pPr algn="ctr"/>
                      <a:r>
                        <a:rPr b="1" sz="1100">
                          <a:solidFill>
                            <a:srgbClr val="FFFFFF"/>
                          </a:solidFill>
                          <a:latin typeface="Aptos"/>
                        </a:rPr>
                        <a:t>Required detail</a:t>
                      </a:r>
                    </a:p>
                  </a:txBody>
                  <a:tcPr>
                    <a:solidFill>
                      <a:srgbClr val="122D4D"/>
                    </a:solidFill>
                  </a:tcPr>
                </a:tc>
              </a:tr>
              <a:tr h="566928">
                <a:tc>
                  <a:txBody>
                    <a:bodyPr/>
                    <a:lstStyle/>
                    <a:p>
                      <a:pPr algn="l"/>
                      <a:r>
                        <a:rPr sz="1100">
                          <a:solidFill>
                            <a:srgbClr val="0F172A"/>
                          </a:solidFill>
                          <a:latin typeface="Aptos"/>
                        </a:rPr>
                        <a:t>Application URL</a:t>
                      </a:r>
                    </a:p>
                  </a:txBody>
                  <a:tcPr marL="73152" marR="73152">
                    <a:solidFill>
                      <a:srgbClr val="FFFFFF"/>
                    </a:solidFill>
                  </a:tcPr>
                </a:tc>
                <a:tc>
                  <a:txBody>
                    <a:bodyPr/>
                    <a:lstStyle/>
                    <a:p>
                      <a:pPr algn="l"/>
                      <a:r>
                        <a:rPr sz="1100">
                          <a:solidFill>
                            <a:srgbClr val="0F172A"/>
                          </a:solidFill>
                          <a:latin typeface="Aptos"/>
                        </a:rPr>
                        <a:t>Direct URL used by customer</a:t>
                      </a:r>
                    </a:p>
                  </a:txBody>
                  <a:tcPr marL="73152" marR="73152">
                    <a:solidFill>
                      <a:srgbClr val="FFFFFF"/>
                    </a:solidFill>
                  </a:tcPr>
                </a:tc>
              </a:tr>
              <a:tr h="566928">
                <a:tc>
                  <a:txBody>
                    <a:bodyPr/>
                    <a:lstStyle/>
                    <a:p>
                      <a:pPr algn="l"/>
                      <a:r>
                        <a:rPr sz="1100">
                          <a:solidFill>
                            <a:srgbClr val="0F172A"/>
                          </a:solidFill>
                          <a:latin typeface="Aptos"/>
                        </a:rPr>
                        <a:t>Server access method</a:t>
                      </a:r>
                    </a:p>
                  </a:txBody>
                  <a:tcPr marL="73152" marR="73152">
                    <a:solidFill>
                      <a:srgbClr val="F3F6FA"/>
                    </a:solidFill>
                  </a:tcPr>
                </a:tc>
                <a:tc>
                  <a:txBody>
                    <a:bodyPr/>
                    <a:lstStyle/>
                    <a:p>
                      <a:pPr algn="l"/>
                      <a:r>
                        <a:rPr sz="1100">
                          <a:solidFill>
                            <a:srgbClr val="0F172A"/>
                          </a:solidFill>
                          <a:latin typeface="Aptos"/>
                        </a:rPr>
                        <a:t>How support/dev can access</a:t>
                      </a:r>
                    </a:p>
                  </a:txBody>
                  <a:tcPr marL="73152" marR="73152">
                    <a:solidFill>
                      <a:srgbClr val="F3F6FA"/>
                    </a:solidFill>
                  </a:tcPr>
                </a:tc>
              </a:tr>
              <a:tr h="566928">
                <a:tc>
                  <a:txBody>
                    <a:bodyPr/>
                    <a:lstStyle/>
                    <a:p>
                      <a:pPr algn="l"/>
                      <a:r>
                        <a:rPr sz="1100">
                          <a:solidFill>
                            <a:srgbClr val="0F172A"/>
                          </a:solidFill>
                          <a:latin typeface="Aptos"/>
                        </a:rPr>
                        <a:t>VPN required?</a:t>
                      </a:r>
                    </a:p>
                  </a:txBody>
                  <a:tcPr marL="73152" marR="73152">
                    <a:solidFill>
                      <a:srgbClr val="FFFFFF"/>
                    </a:solidFill>
                  </a:tcPr>
                </a:tc>
                <a:tc>
                  <a:txBody>
                    <a:bodyPr/>
                    <a:lstStyle/>
                    <a:p>
                      <a:pPr algn="l"/>
                      <a:r>
                        <a:rPr sz="1100">
                          <a:solidFill>
                            <a:srgbClr val="0F172A"/>
                          </a:solidFill>
                          <a:latin typeface="Aptos"/>
                        </a:rPr>
                        <a:t>Yes/No and access owner</a:t>
                      </a:r>
                    </a:p>
                  </a:txBody>
                  <a:tcPr marL="73152" marR="73152">
                    <a:solidFill>
                      <a:srgbClr val="FFFFFF"/>
                    </a:solidFill>
                  </a:tcPr>
                </a:tc>
              </a:tr>
              <a:tr h="566928">
                <a:tc>
                  <a:txBody>
                    <a:bodyPr/>
                    <a:lstStyle/>
                    <a:p>
                      <a:pPr algn="l"/>
                      <a:r>
                        <a:rPr sz="1100">
                          <a:solidFill>
                            <a:srgbClr val="0F172A"/>
                          </a:solidFill>
                          <a:latin typeface="Aptos"/>
                        </a:rPr>
                        <a:t>RDP available?</a:t>
                      </a:r>
                    </a:p>
                  </a:txBody>
                  <a:tcPr marL="73152" marR="73152">
                    <a:solidFill>
                      <a:srgbClr val="F3F6FA"/>
                    </a:solidFill>
                  </a:tcPr>
                </a:tc>
                <a:tc>
                  <a:txBody>
                    <a:bodyPr/>
                    <a:lstStyle/>
                    <a:p>
                      <a:pPr algn="l"/>
                      <a:r>
                        <a:rPr sz="1100">
                          <a:solidFill>
                            <a:srgbClr val="0F172A"/>
                          </a:solidFill>
                          <a:latin typeface="Aptos"/>
                        </a:rPr>
                        <a:t>Yes/No and server name if available</a:t>
                      </a:r>
                    </a:p>
                  </a:txBody>
                  <a:tcPr marL="73152" marR="73152">
                    <a:solidFill>
                      <a:srgbClr val="F3F6FA"/>
                    </a:solidFill>
                  </a:tcPr>
                </a:tc>
              </a:tr>
            </a:tbl>
          </a:graphicData>
        </a:graphic>
      </p:graphicFrame>
      <p:graphicFrame>
        <p:nvGraphicFramePr>
          <p:cNvPr id="8" name="Table 7"/>
          <p:cNvGraphicFramePr>
            <a:graphicFrameLocks noGrp="1"/>
          </p:cNvGraphicFramePr>
          <p:nvPr/>
        </p:nvGraphicFramePr>
        <p:xfrm>
          <a:off x="6400800" y="1417320"/>
          <a:ext cx="4892040" cy="2286000"/>
        </p:xfrm>
        <a:graphic>
          <a:graphicData uri="http://schemas.openxmlformats.org/drawingml/2006/table">
            <a:tbl>
              <a:tblPr firstRow="1" bandRow="1">
                <a:tableStyleId>{5C22544A-7EE6-4342-B048-85BDC9FD1C3A}</a:tableStyleId>
              </a:tblPr>
              <a:tblGrid>
                <a:gridCol w="2148840"/>
                <a:gridCol w="2743200"/>
              </a:tblGrid>
              <a:tr h="571500">
                <a:tc>
                  <a:txBody>
                    <a:bodyPr/>
                    <a:lstStyle/>
                    <a:p>
                      <a:pPr algn="ctr"/>
                      <a:r>
                        <a:rPr b="1" sz="1100">
                          <a:solidFill>
                            <a:srgbClr val="FFFFFF"/>
                          </a:solidFill>
                          <a:latin typeface="Aptos"/>
                        </a:rPr>
                        <a:t>Upgrade Information</a:t>
                      </a:r>
                    </a:p>
                  </a:txBody>
                  <a:tcPr>
                    <a:solidFill>
                      <a:srgbClr val="122D4D"/>
                    </a:solidFill>
                  </a:tcPr>
                </a:tc>
                <a:tc>
                  <a:txBody>
                    <a:bodyPr/>
                    <a:lstStyle/>
                    <a:p>
                      <a:pPr algn="ctr"/>
                      <a:r>
                        <a:rPr b="1" sz="1100">
                          <a:solidFill>
                            <a:srgbClr val="FFFFFF"/>
                          </a:solidFill>
                          <a:latin typeface="Aptos"/>
                        </a:rPr>
                        <a:t>Required detail</a:t>
                      </a:r>
                    </a:p>
                  </a:txBody>
                  <a:tcPr>
                    <a:solidFill>
                      <a:srgbClr val="122D4D"/>
                    </a:solidFill>
                  </a:tcPr>
                </a:tc>
              </a:tr>
              <a:tr h="571500">
                <a:tc>
                  <a:txBody>
                    <a:bodyPr/>
                    <a:lstStyle/>
                    <a:p>
                      <a:pPr algn="l"/>
                      <a:r>
                        <a:rPr sz="1100">
                          <a:solidFill>
                            <a:srgbClr val="0F172A"/>
                          </a:solidFill>
                          <a:latin typeface="Aptos"/>
                        </a:rPr>
                        <a:t>Last upgrade date</a:t>
                      </a:r>
                    </a:p>
                  </a:txBody>
                  <a:tcPr marL="73152" marR="73152">
                    <a:solidFill>
                      <a:srgbClr val="FFFFFF"/>
                    </a:solidFill>
                  </a:tcPr>
                </a:tc>
                <a:tc>
                  <a:txBody>
                    <a:bodyPr/>
                    <a:lstStyle/>
                    <a:p>
                      <a:pPr algn="l"/>
                      <a:r>
                        <a:rPr sz="1100">
                          <a:solidFill>
                            <a:srgbClr val="0F172A"/>
                          </a:solidFill>
                          <a:latin typeface="Aptos"/>
                        </a:rPr>
                        <a:t>Date/time if known</a:t>
                      </a:r>
                    </a:p>
                  </a:txBody>
                  <a:tcPr marL="73152" marR="73152">
                    <a:solidFill>
                      <a:srgbClr val="FFFFFF"/>
                    </a:solidFill>
                  </a:tcPr>
                </a:tc>
              </a:tr>
              <a:tr h="571500">
                <a:tc>
                  <a:txBody>
                    <a:bodyPr/>
                    <a:lstStyle/>
                    <a:p>
                      <a:pPr algn="l"/>
                      <a:r>
                        <a:rPr sz="1100">
                          <a:solidFill>
                            <a:srgbClr val="0F172A"/>
                          </a:solidFill>
                          <a:latin typeface="Aptos"/>
                        </a:rPr>
                        <a:t>Upgrade version</a:t>
                      </a:r>
                    </a:p>
                  </a:txBody>
                  <a:tcPr marL="73152" marR="73152">
                    <a:solidFill>
                      <a:srgbClr val="F3F6FA"/>
                    </a:solidFill>
                  </a:tcPr>
                </a:tc>
                <a:tc>
                  <a:txBody>
                    <a:bodyPr/>
                    <a:lstStyle/>
                    <a:p>
                      <a:pPr algn="l"/>
                      <a:r>
                        <a:rPr sz="1100">
                          <a:solidFill>
                            <a:srgbClr val="0F172A"/>
                          </a:solidFill>
                          <a:latin typeface="Aptos"/>
                        </a:rPr>
                        <a:t>From/to version</a:t>
                      </a:r>
                    </a:p>
                  </a:txBody>
                  <a:tcPr marL="73152" marR="73152">
                    <a:solidFill>
                      <a:srgbClr val="F3F6FA"/>
                    </a:solidFill>
                  </a:tcPr>
                </a:tc>
              </a:tr>
              <a:tr h="571500">
                <a:tc>
                  <a:txBody>
                    <a:bodyPr/>
                    <a:lstStyle/>
                    <a:p>
                      <a:pPr algn="l"/>
                      <a:r>
                        <a:rPr sz="1100">
                          <a:solidFill>
                            <a:srgbClr val="0F172A"/>
                          </a:solidFill>
                          <a:latin typeface="Aptos"/>
                        </a:rPr>
                        <a:t>Recent changes?</a:t>
                      </a:r>
                    </a:p>
                  </a:txBody>
                  <a:tcPr marL="73152" marR="73152">
                    <a:solidFill>
                      <a:srgbClr val="FFFFFF"/>
                    </a:solidFill>
                  </a:tcPr>
                </a:tc>
                <a:tc>
                  <a:txBody>
                    <a:bodyPr/>
                    <a:lstStyle/>
                    <a:p>
                      <a:pPr algn="l"/>
                      <a:r>
                        <a:rPr sz="1100">
                          <a:solidFill>
                            <a:srgbClr val="0F172A"/>
                          </a:solidFill>
                          <a:latin typeface="Aptos"/>
                        </a:rPr>
                        <a:t>Config, network, security, data, workflow</a:t>
                      </a:r>
                    </a:p>
                  </a:txBody>
                  <a:tcPr marL="73152" marR="73152">
                    <a:solidFill>
                      <a:srgbClr val="FFFFFF"/>
                    </a:solidFill>
                  </a:tcPr>
                </a:tc>
              </a:tr>
            </a:tbl>
          </a:graphicData>
        </a:graphic>
      </p:graphicFrame>
      <p:sp>
        <p:nvSpPr>
          <p:cNvPr id="9" name="Rounded Rectangle 8"/>
          <p:cNvSpPr/>
          <p:nvPr/>
        </p:nvSpPr>
        <p:spPr>
          <a:xfrm>
            <a:off x="914400" y="5029200"/>
            <a:ext cx="9966960" cy="502920"/>
          </a:xfrm>
          <a:prstGeom prst="roundRect">
            <a:avLst/>
          </a:prstGeom>
          <a:solidFill>
            <a:srgbClr val="E2EFFF"/>
          </a:solidFill>
          <a:ln w="15240">
            <a:solidFill>
              <a:srgbClr val="1F6FC4"/>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1F6FC4"/>
                </a:solidFill>
                <a:latin typeface="Aptos Display"/>
              </a:rPr>
              <a:t>Key point</a:t>
            </a:r>
          </a:p>
          <a:p>
            <a:pPr>
              <a:spcBef>
                <a:spcPts val="500"/>
              </a:spcBef>
            </a:pPr>
            <a:r>
              <a:rPr sz="1300">
                <a:solidFill>
                  <a:srgbClr val="0F172A"/>
                </a:solidFill>
                <a:latin typeface="Aptos"/>
              </a:rPr>
              <a:t>Access constraints and recent changes often determine whether investigation can begin immediately or needs coordination.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3</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Issue Classification</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25</a:t>
            </a:r>
          </a:p>
        </p:txBody>
      </p:sp>
      <p:sp>
        <p:nvSpPr>
          <p:cNvPr id="7" name="Rounded Rectangle 6"/>
          <p:cNvSpPr/>
          <p:nvPr/>
        </p:nvSpPr>
        <p:spPr>
          <a:xfrm>
            <a:off x="777240" y="1325880"/>
            <a:ext cx="4754880" cy="82296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05256" y="1435607"/>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6FC4"/>
                </a:solidFill>
                <a:latin typeface="Aptos"/>
              </a:rPr>
              <a:t>❔</a:t>
            </a:r>
          </a:p>
        </p:txBody>
      </p:sp>
      <p:sp>
        <p:nvSpPr>
          <p:cNvPr id="9" name="Rectangle 8"/>
          <p:cNvSpPr/>
          <p:nvPr/>
        </p:nvSpPr>
        <p:spPr>
          <a:xfrm>
            <a:off x="1453895" y="1444752"/>
            <a:ext cx="39502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Question</a:t>
            </a:r>
          </a:p>
        </p:txBody>
      </p:sp>
      <p:sp>
        <p:nvSpPr>
          <p:cNvPr id="10" name="Rectangle 9"/>
          <p:cNvSpPr/>
          <p:nvPr/>
        </p:nvSpPr>
        <p:spPr>
          <a:xfrm>
            <a:off x="941832" y="1856231"/>
            <a:ext cx="4425696"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User is asking how functionality works.</a:t>
            </a:r>
          </a:p>
        </p:txBody>
      </p:sp>
      <p:sp>
        <p:nvSpPr>
          <p:cNvPr id="11" name="Rounded Rectangle 10"/>
          <p:cNvSpPr/>
          <p:nvPr/>
        </p:nvSpPr>
        <p:spPr>
          <a:xfrm>
            <a:off x="6309359" y="1325880"/>
            <a:ext cx="4754880" cy="82296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37375" y="1435607"/>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13" name="Rectangle 12"/>
          <p:cNvSpPr/>
          <p:nvPr/>
        </p:nvSpPr>
        <p:spPr>
          <a:xfrm>
            <a:off x="6986016" y="1444752"/>
            <a:ext cx="39502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Configuration Request</a:t>
            </a:r>
          </a:p>
        </p:txBody>
      </p:sp>
      <p:sp>
        <p:nvSpPr>
          <p:cNvPr id="14" name="Rectangle 13"/>
          <p:cNvSpPr/>
          <p:nvPr/>
        </p:nvSpPr>
        <p:spPr>
          <a:xfrm>
            <a:off x="6473951" y="1856231"/>
            <a:ext cx="4425696"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Expected behavior but setup is needed.</a:t>
            </a:r>
          </a:p>
        </p:txBody>
      </p:sp>
      <p:sp>
        <p:nvSpPr>
          <p:cNvPr id="15" name="Rounded Rectangle 14"/>
          <p:cNvSpPr/>
          <p:nvPr/>
        </p:nvSpPr>
        <p:spPr>
          <a:xfrm>
            <a:off x="777240" y="2423160"/>
            <a:ext cx="4754880" cy="82296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5256" y="253288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F2B83A"/>
                </a:solidFill>
                <a:latin typeface="Aptos"/>
              </a:rPr>
              <a:t>💡</a:t>
            </a:r>
          </a:p>
        </p:txBody>
      </p:sp>
      <p:sp>
        <p:nvSpPr>
          <p:cNvPr id="17" name="Rectangle 16"/>
          <p:cNvSpPr/>
          <p:nvPr/>
        </p:nvSpPr>
        <p:spPr>
          <a:xfrm>
            <a:off x="1453895" y="2542032"/>
            <a:ext cx="39502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New Feature Request</a:t>
            </a:r>
          </a:p>
        </p:txBody>
      </p:sp>
      <p:sp>
        <p:nvSpPr>
          <p:cNvPr id="18" name="Rectangle 17"/>
          <p:cNvSpPr/>
          <p:nvPr/>
        </p:nvSpPr>
        <p:spPr>
          <a:xfrm>
            <a:off x="941832" y="2953512"/>
            <a:ext cx="4425696"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Enhancement request.</a:t>
            </a:r>
          </a:p>
        </p:txBody>
      </p:sp>
      <p:sp>
        <p:nvSpPr>
          <p:cNvPr id="19" name="Rounded Rectangle 18"/>
          <p:cNvSpPr/>
          <p:nvPr/>
        </p:nvSpPr>
        <p:spPr>
          <a:xfrm>
            <a:off x="6309359" y="2423160"/>
            <a:ext cx="4754880" cy="82296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37375" y="253288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C53030"/>
                </a:solidFill>
                <a:latin typeface="Aptos"/>
              </a:rPr>
              <a:t>🐞</a:t>
            </a:r>
          </a:p>
        </p:txBody>
      </p:sp>
      <p:sp>
        <p:nvSpPr>
          <p:cNvPr id="21" name="Rectangle 20"/>
          <p:cNvSpPr/>
          <p:nvPr/>
        </p:nvSpPr>
        <p:spPr>
          <a:xfrm>
            <a:off x="6986016" y="2542032"/>
            <a:ext cx="39502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Bug/Error</a:t>
            </a:r>
          </a:p>
        </p:txBody>
      </p:sp>
      <p:sp>
        <p:nvSpPr>
          <p:cNvPr id="22" name="Rectangle 21"/>
          <p:cNvSpPr/>
          <p:nvPr/>
        </p:nvSpPr>
        <p:spPr>
          <a:xfrm>
            <a:off x="6473951" y="2953512"/>
            <a:ext cx="4425696"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System is not behaving as expected.</a:t>
            </a:r>
          </a:p>
        </p:txBody>
      </p:sp>
      <p:sp>
        <p:nvSpPr>
          <p:cNvPr id="23" name="Rounded Rectangle 22"/>
          <p:cNvSpPr/>
          <p:nvPr/>
        </p:nvSpPr>
        <p:spPr>
          <a:xfrm>
            <a:off x="914400" y="4160520"/>
            <a:ext cx="2103120" cy="50292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Is behavior expected?</a:t>
            </a:r>
          </a:p>
        </p:txBody>
      </p:sp>
      <p:cxnSp>
        <p:nvCxnSpPr>
          <p:cNvPr id="24" name="Connector 23"/>
          <p:cNvCxnSpPr/>
          <p:nvPr/>
        </p:nvCxnSpPr>
        <p:spPr>
          <a:xfrm>
            <a:off x="3017520" y="4407408"/>
            <a:ext cx="960119"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977639" y="4160520"/>
            <a:ext cx="2286000" cy="502920"/>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Setup needed?</a:t>
            </a:r>
          </a:p>
        </p:txBody>
      </p:sp>
      <p:cxnSp>
        <p:nvCxnSpPr>
          <p:cNvPr id="26" name="Connector 25"/>
          <p:cNvCxnSpPr/>
          <p:nvPr/>
        </p:nvCxnSpPr>
        <p:spPr>
          <a:xfrm>
            <a:off x="6263640" y="4407408"/>
            <a:ext cx="960120" cy="0"/>
          </a:xfrm>
          <a:prstGeom prst="line">
            <a:avLst/>
          </a:prstGeom>
          <a:ln w="25400">
            <a:solidFill>
              <a:srgbClr val="1F9756"/>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223760" y="4160520"/>
            <a:ext cx="2057400" cy="502920"/>
          </a:xfrm>
          <a:prstGeom prst="roundRect">
            <a:avLst/>
          </a:prstGeom>
          <a:solidFill>
            <a:srgbClr val="F2B83A"/>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New capability?</a:t>
            </a:r>
          </a:p>
        </p:txBody>
      </p:sp>
      <p:cxnSp>
        <p:nvCxnSpPr>
          <p:cNvPr id="28" name="Connector 27"/>
          <p:cNvCxnSpPr/>
          <p:nvPr/>
        </p:nvCxnSpPr>
        <p:spPr>
          <a:xfrm>
            <a:off x="9281160" y="4407408"/>
            <a:ext cx="868680" cy="0"/>
          </a:xfrm>
          <a:prstGeom prst="line">
            <a:avLst/>
          </a:prstGeom>
          <a:ln w="25400">
            <a:solidFill>
              <a:srgbClr val="C53030"/>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0149840" y="4160520"/>
            <a:ext cx="1051560" cy="502920"/>
          </a:xfrm>
          <a:prstGeom prst="roundRect">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Bug?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3</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Scope Assessment</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26</a:t>
            </a:r>
          </a:p>
        </p:txBody>
      </p:sp>
      <p:graphicFrame>
        <p:nvGraphicFramePr>
          <p:cNvPr id="7" name="Table 6"/>
          <p:cNvGraphicFramePr>
            <a:graphicFrameLocks noGrp="1"/>
          </p:cNvGraphicFramePr>
          <p:nvPr/>
        </p:nvGraphicFramePr>
        <p:xfrm>
          <a:off x="822960" y="1325880"/>
          <a:ext cx="10469880" cy="3840480"/>
        </p:xfrm>
        <a:graphic>
          <a:graphicData uri="http://schemas.openxmlformats.org/drawingml/2006/table">
            <a:tbl>
              <a:tblPr firstRow="1" bandRow="1">
                <a:tableStyleId>{5C22544A-7EE6-4342-B048-85BDC9FD1C3A}</a:tableStyleId>
              </a:tblPr>
              <a:tblGrid>
                <a:gridCol w="2926080"/>
                <a:gridCol w="7543800"/>
              </a:tblGrid>
              <a:tr h="768096">
                <a:tc>
                  <a:txBody>
                    <a:bodyPr/>
                    <a:lstStyle/>
                    <a:p>
                      <a:pPr algn="ctr"/>
                      <a:r>
                        <a:rPr b="1" sz="1500">
                          <a:solidFill>
                            <a:srgbClr val="FFFFFF"/>
                          </a:solidFill>
                          <a:latin typeface="Aptos"/>
                        </a:rPr>
                        <a:t>Scope dimension</a:t>
                      </a:r>
                    </a:p>
                  </a:txBody>
                  <a:tcPr>
                    <a:solidFill>
                      <a:srgbClr val="122D4D"/>
                    </a:solidFill>
                  </a:tcPr>
                </a:tc>
                <a:tc>
                  <a:txBody>
                    <a:bodyPr/>
                    <a:lstStyle/>
                    <a:p>
                      <a:pPr algn="ctr"/>
                      <a:r>
                        <a:rPr b="1" sz="1500">
                          <a:solidFill>
                            <a:srgbClr val="FFFFFF"/>
                          </a:solidFill>
                          <a:latin typeface="Aptos"/>
                        </a:rPr>
                        <a:t>Required answer options</a:t>
                      </a:r>
                    </a:p>
                  </a:txBody>
                  <a:tcPr>
                    <a:solidFill>
                      <a:srgbClr val="122D4D"/>
                    </a:solidFill>
                  </a:tcPr>
                </a:tc>
              </a:tr>
              <a:tr h="768096">
                <a:tc>
                  <a:txBody>
                    <a:bodyPr/>
                    <a:lstStyle/>
                    <a:p>
                      <a:pPr algn="l"/>
                      <a:r>
                        <a:rPr sz="1500">
                          <a:solidFill>
                            <a:srgbClr val="0F172A"/>
                          </a:solidFill>
                          <a:latin typeface="Aptos"/>
                        </a:rPr>
                        <a:t>Users Impacted</a:t>
                      </a:r>
                    </a:p>
                  </a:txBody>
                  <a:tcPr marL="73152" marR="73152">
                    <a:solidFill>
                      <a:srgbClr val="FFFFFF"/>
                    </a:solidFill>
                  </a:tcPr>
                </a:tc>
                <a:tc>
                  <a:txBody>
                    <a:bodyPr/>
                    <a:lstStyle/>
                    <a:p>
                      <a:pPr algn="l"/>
                      <a:r>
                        <a:rPr sz="1500">
                          <a:solidFill>
                            <a:srgbClr val="0F172A"/>
                          </a:solidFill>
                          <a:latin typeface="Aptos"/>
                        </a:rPr>
                        <a:t>One user • Group of users • All users</a:t>
                      </a:r>
                    </a:p>
                  </a:txBody>
                  <a:tcPr marL="73152" marR="73152">
                    <a:solidFill>
                      <a:srgbClr val="FFFFFF"/>
                    </a:solidFill>
                  </a:tcPr>
                </a:tc>
              </a:tr>
              <a:tr h="768096">
                <a:tc>
                  <a:txBody>
                    <a:bodyPr/>
                    <a:lstStyle/>
                    <a:p>
                      <a:pPr algn="l"/>
                      <a:r>
                        <a:rPr sz="1500">
                          <a:solidFill>
                            <a:srgbClr val="0F172A"/>
                          </a:solidFill>
                          <a:latin typeface="Aptos"/>
                        </a:rPr>
                        <a:t>Exams Impacted</a:t>
                      </a:r>
                    </a:p>
                  </a:txBody>
                  <a:tcPr marL="73152" marR="73152">
                    <a:solidFill>
                      <a:srgbClr val="F3F6FA"/>
                    </a:solidFill>
                  </a:tcPr>
                </a:tc>
                <a:tc>
                  <a:txBody>
                    <a:bodyPr/>
                    <a:lstStyle/>
                    <a:p>
                      <a:pPr algn="l"/>
                      <a:r>
                        <a:rPr sz="1500">
                          <a:solidFill>
                            <a:srgbClr val="0F172A"/>
                          </a:solidFill>
                          <a:latin typeface="Aptos"/>
                        </a:rPr>
                        <a:t>One exam • Multiple exams • All exams</a:t>
                      </a:r>
                    </a:p>
                  </a:txBody>
                  <a:tcPr marL="73152" marR="73152">
                    <a:solidFill>
                      <a:srgbClr val="F3F6FA"/>
                    </a:solidFill>
                  </a:tcPr>
                </a:tc>
              </a:tr>
              <a:tr h="768096">
                <a:tc>
                  <a:txBody>
                    <a:bodyPr/>
                    <a:lstStyle/>
                    <a:p>
                      <a:pPr algn="l"/>
                      <a:r>
                        <a:rPr sz="1500">
                          <a:solidFill>
                            <a:srgbClr val="0F172A"/>
                          </a:solidFill>
                          <a:latin typeface="Aptos"/>
                        </a:rPr>
                        <a:t>Exam Type</a:t>
                      </a:r>
                    </a:p>
                  </a:txBody>
                  <a:tcPr marL="73152" marR="73152">
                    <a:solidFill>
                      <a:srgbClr val="FFFFFF"/>
                    </a:solidFill>
                  </a:tcPr>
                </a:tc>
                <a:tc>
                  <a:txBody>
                    <a:bodyPr/>
                    <a:lstStyle/>
                    <a:p>
                      <a:pPr algn="l"/>
                      <a:r>
                        <a:rPr sz="1500">
                          <a:solidFill>
                            <a:srgbClr val="0F172A"/>
                          </a:solidFill>
                          <a:latin typeface="Aptos"/>
                        </a:rPr>
                        <a:t>Echo • Vascular • Cath • Nuclear • All types</a:t>
                      </a:r>
                    </a:p>
                  </a:txBody>
                  <a:tcPr marL="73152" marR="73152">
                    <a:solidFill>
                      <a:srgbClr val="FFFFFF"/>
                    </a:solidFill>
                  </a:tcPr>
                </a:tc>
              </a:tr>
              <a:tr h="768096">
                <a:tc>
                  <a:txBody>
                    <a:bodyPr/>
                    <a:lstStyle/>
                    <a:p>
                      <a:pPr algn="l"/>
                      <a:r>
                        <a:rPr sz="1500">
                          <a:solidFill>
                            <a:srgbClr val="0F172A"/>
                          </a:solidFill>
                          <a:latin typeface="Aptos"/>
                        </a:rPr>
                        <a:t>Location</a:t>
                      </a:r>
                    </a:p>
                  </a:txBody>
                  <a:tcPr marL="73152" marR="73152">
                    <a:solidFill>
                      <a:srgbClr val="F3F6FA"/>
                    </a:solidFill>
                  </a:tcPr>
                </a:tc>
                <a:tc>
                  <a:txBody>
                    <a:bodyPr/>
                    <a:lstStyle/>
                    <a:p>
                      <a:pPr algn="l"/>
                      <a:r>
                        <a:rPr sz="1500">
                          <a:solidFill>
                            <a:srgbClr val="0F172A"/>
                          </a:solidFill>
                          <a:latin typeface="Aptos"/>
                        </a:rPr>
                        <a:t>One site • Multiple sites</a:t>
                      </a:r>
                    </a:p>
                  </a:txBody>
                  <a:tcPr marL="73152" marR="73152">
                    <a:solidFill>
                      <a:srgbClr val="F3F6FA"/>
                    </a:solidFill>
                  </a:tcPr>
                </a:tc>
              </a:tr>
            </a:tbl>
          </a:graphicData>
        </a:graphic>
      </p:graphicFrame>
      <p:sp>
        <p:nvSpPr>
          <p:cNvPr id="8" name="Rounded Rectangle 7"/>
          <p:cNvSpPr/>
          <p:nvPr/>
        </p:nvSpPr>
        <p:spPr>
          <a:xfrm>
            <a:off x="914400" y="5486400"/>
            <a:ext cx="9966960" cy="502920"/>
          </a:xfrm>
          <a:prstGeom prst="roundRect">
            <a:avLst/>
          </a:prstGeom>
          <a:solidFill>
            <a:srgbClr val="E2F5EA"/>
          </a:solidFill>
          <a:ln w="15240">
            <a:solidFill>
              <a:srgbClr val="1F9756"/>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1F9756"/>
                </a:solidFill>
                <a:latin typeface="Aptos Display"/>
              </a:rPr>
              <a:t>Why scope matters</a:t>
            </a:r>
          </a:p>
          <a:p>
            <a:pPr>
              <a:spcBef>
                <a:spcPts val="500"/>
              </a:spcBef>
            </a:pPr>
            <a:r>
              <a:rPr sz="1300">
                <a:solidFill>
                  <a:srgbClr val="0F172A"/>
                </a:solidFill>
                <a:latin typeface="Aptos"/>
              </a:rPr>
              <a:t>Scope determines priority, routing, reproduction strategy, and whether the issue is likely configuration, data, environment, or code.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3</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Reproduction Steps</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27</a:t>
            </a:r>
          </a:p>
        </p:txBody>
      </p:sp>
      <p:sp>
        <p:nvSpPr>
          <p:cNvPr id="7" name="Rounded Rectangle 6"/>
          <p:cNvSpPr/>
          <p:nvPr/>
        </p:nvSpPr>
        <p:spPr>
          <a:xfrm>
            <a:off x="914400" y="1554480"/>
            <a:ext cx="2350008" cy="82296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Open exam</a:t>
            </a:r>
          </a:p>
        </p:txBody>
      </p:sp>
      <p:cxnSp>
        <p:nvCxnSpPr>
          <p:cNvPr id="8" name="Connector 7"/>
          <p:cNvCxnSpPr/>
          <p:nvPr/>
        </p:nvCxnSpPr>
        <p:spPr>
          <a:xfrm>
            <a:off x="3264408" y="1965960"/>
            <a:ext cx="128016"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429000" y="1554480"/>
            <a:ext cx="2350008" cy="82296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Click Reports</a:t>
            </a:r>
          </a:p>
        </p:txBody>
      </p:sp>
      <p:cxnSp>
        <p:nvCxnSpPr>
          <p:cNvPr id="10" name="Connector 9"/>
          <p:cNvCxnSpPr/>
          <p:nvPr/>
        </p:nvCxnSpPr>
        <p:spPr>
          <a:xfrm>
            <a:off x="5779008" y="1965960"/>
            <a:ext cx="128016"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943600" y="1554480"/>
            <a:ext cx="2350008" cy="82296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Generate report</a:t>
            </a:r>
          </a:p>
        </p:txBody>
      </p:sp>
      <p:cxnSp>
        <p:nvCxnSpPr>
          <p:cNvPr id="12" name="Connector 11"/>
          <p:cNvCxnSpPr/>
          <p:nvPr/>
        </p:nvCxnSpPr>
        <p:spPr>
          <a:xfrm>
            <a:off x="8293608" y="1965960"/>
            <a:ext cx="128016"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458200" y="1554480"/>
            <a:ext cx="2350008" cy="82296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Error occurs</a:t>
            </a:r>
          </a:p>
        </p:txBody>
      </p:sp>
      <p:graphicFrame>
        <p:nvGraphicFramePr>
          <p:cNvPr id="14" name="Table 13"/>
          <p:cNvGraphicFramePr>
            <a:graphicFrameLocks noGrp="1"/>
          </p:cNvGraphicFramePr>
          <p:nvPr/>
        </p:nvGraphicFramePr>
        <p:xfrm>
          <a:off x="1005840" y="3063240"/>
          <a:ext cx="9875520" cy="1417320"/>
        </p:xfrm>
        <a:graphic>
          <a:graphicData uri="http://schemas.openxmlformats.org/drawingml/2006/table">
            <a:tbl>
              <a:tblPr firstRow="1" bandRow="1">
                <a:tableStyleId>{5C22544A-7EE6-4342-B048-85BDC9FD1C3A}</a:tableStyleId>
              </a:tblPr>
              <a:tblGrid>
                <a:gridCol w="2743200"/>
                <a:gridCol w="7132320"/>
              </a:tblGrid>
              <a:tr h="354330">
                <a:tc>
                  <a:txBody>
                    <a:bodyPr/>
                    <a:lstStyle/>
                    <a:p>
                      <a:pPr algn="ctr"/>
                      <a:r>
                        <a:rPr b="1" sz="1200">
                          <a:solidFill>
                            <a:srgbClr val="FFFFFF"/>
                          </a:solidFill>
                          <a:latin typeface="Aptos"/>
                        </a:rPr>
                        <a:t>Required item</a:t>
                      </a:r>
                    </a:p>
                  </a:txBody>
                  <a:tcPr>
                    <a:solidFill>
                      <a:srgbClr val="122D4D"/>
                    </a:solidFill>
                  </a:tcPr>
                </a:tc>
                <a:tc>
                  <a:txBody>
                    <a:bodyPr/>
                    <a:lstStyle/>
                    <a:p>
                      <a:pPr algn="ctr"/>
                      <a:r>
                        <a:rPr b="1" sz="1200">
                          <a:solidFill>
                            <a:srgbClr val="FFFFFF"/>
                          </a:solidFill>
                          <a:latin typeface="Aptos"/>
                        </a:rPr>
                        <a:t>Example</a:t>
                      </a:r>
                    </a:p>
                  </a:txBody>
                  <a:tcPr>
                    <a:solidFill>
                      <a:srgbClr val="122D4D"/>
                    </a:solidFill>
                  </a:tcPr>
                </a:tc>
              </a:tr>
              <a:tr h="354330">
                <a:tc>
                  <a:txBody>
                    <a:bodyPr/>
                    <a:lstStyle/>
                    <a:p>
                      <a:pPr algn="l"/>
                      <a:r>
                        <a:rPr sz="1200">
                          <a:solidFill>
                            <a:srgbClr val="0F172A"/>
                          </a:solidFill>
                          <a:latin typeface="Aptos"/>
                        </a:rPr>
                        <a:t>Expected result</a:t>
                      </a:r>
                    </a:p>
                  </a:txBody>
                  <a:tcPr marL="73152" marR="73152">
                    <a:solidFill>
                      <a:srgbClr val="FFFFFF"/>
                    </a:solidFill>
                  </a:tcPr>
                </a:tc>
                <a:tc>
                  <a:txBody>
                    <a:bodyPr/>
                    <a:lstStyle/>
                    <a:p>
                      <a:pPr algn="l"/>
                      <a:r>
                        <a:rPr sz="1200">
                          <a:solidFill>
                            <a:srgbClr val="0F172A"/>
                          </a:solidFill>
                          <a:latin typeface="Aptos"/>
                        </a:rPr>
                        <a:t>Report generates successfully and displays preview</a:t>
                      </a:r>
                    </a:p>
                  </a:txBody>
                  <a:tcPr marL="73152" marR="73152">
                    <a:solidFill>
                      <a:srgbClr val="FFFFFF"/>
                    </a:solidFill>
                  </a:tcPr>
                </a:tc>
              </a:tr>
              <a:tr h="354330">
                <a:tc>
                  <a:txBody>
                    <a:bodyPr/>
                    <a:lstStyle/>
                    <a:p>
                      <a:pPr algn="l"/>
                      <a:r>
                        <a:rPr sz="1200">
                          <a:solidFill>
                            <a:srgbClr val="0F172A"/>
                          </a:solidFill>
                          <a:latin typeface="Aptos"/>
                        </a:rPr>
                        <a:t>Actual result</a:t>
                      </a:r>
                    </a:p>
                  </a:txBody>
                  <a:tcPr marL="73152" marR="73152">
                    <a:solidFill>
                      <a:srgbClr val="F3F6FA"/>
                    </a:solidFill>
                  </a:tcPr>
                </a:tc>
                <a:tc>
                  <a:txBody>
                    <a:bodyPr/>
                    <a:lstStyle/>
                    <a:p>
                      <a:pPr algn="l"/>
                      <a:r>
                        <a:rPr sz="1200">
                          <a:solidFill>
                            <a:srgbClr val="0F172A"/>
                          </a:solidFill>
                          <a:latin typeface="Aptos"/>
                        </a:rPr>
                        <a:t>Error message appears after Generate is clicked</a:t>
                      </a:r>
                    </a:p>
                  </a:txBody>
                  <a:tcPr marL="73152" marR="73152">
                    <a:solidFill>
                      <a:srgbClr val="F3F6FA"/>
                    </a:solidFill>
                  </a:tcPr>
                </a:tc>
              </a:tr>
              <a:tr h="354330">
                <a:tc>
                  <a:txBody>
                    <a:bodyPr/>
                    <a:lstStyle/>
                    <a:p>
                      <a:pPr algn="l"/>
                      <a:r>
                        <a:rPr sz="1200">
                          <a:solidFill>
                            <a:srgbClr val="0F172A"/>
                          </a:solidFill>
                          <a:latin typeface="Aptos"/>
                        </a:rPr>
                        <a:t>Evidence</a:t>
                      </a:r>
                    </a:p>
                  </a:txBody>
                  <a:tcPr marL="73152" marR="73152">
                    <a:solidFill>
                      <a:srgbClr val="FFFFFF"/>
                    </a:solidFill>
                  </a:tcPr>
                </a:tc>
                <a:tc>
                  <a:txBody>
                    <a:bodyPr/>
                    <a:lstStyle/>
                    <a:p>
                      <a:pPr algn="l"/>
                      <a:r>
                        <a:rPr sz="1200">
                          <a:solidFill>
                            <a:srgbClr val="0F172A"/>
                          </a:solidFill>
                          <a:latin typeface="Aptos"/>
                        </a:rPr>
                        <a:t>Screenshot or recording attached if available</a:t>
                      </a:r>
                    </a:p>
                  </a:txBody>
                  <a:tcPr marL="73152" marR="73152">
                    <a:solidFill>
                      <a:srgbClr val="FFFFFF"/>
                    </a:solidFill>
                  </a:tcPr>
                </a:tc>
              </a:tr>
            </a:tbl>
          </a:graphicData>
        </a:graphic>
      </p:graphicFrame>
      <p:sp>
        <p:nvSpPr>
          <p:cNvPr id="15" name="Rounded Rectangle 14"/>
          <p:cNvSpPr/>
          <p:nvPr/>
        </p:nvSpPr>
        <p:spPr>
          <a:xfrm>
            <a:off x="1097280" y="5120640"/>
            <a:ext cx="9509760" cy="548640"/>
          </a:xfrm>
          <a:prstGeom prst="roundRect">
            <a:avLst/>
          </a:prstGeom>
          <a:solidFill>
            <a:srgbClr val="FFF7DB"/>
          </a:solidFill>
          <a:ln w="15240">
            <a:solidFill>
              <a:srgbClr val="F2B83A"/>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F2B83A"/>
                </a:solidFill>
                <a:latin typeface="Aptos Display"/>
              </a:rPr>
              <a:t>Escalation standard</a:t>
            </a:r>
          </a:p>
          <a:p>
            <a:pPr>
              <a:spcBef>
                <a:spcPts val="500"/>
              </a:spcBef>
            </a:pPr>
            <a:r>
              <a:rPr sz="1300">
                <a:solidFill>
                  <a:srgbClr val="0F172A"/>
                </a:solidFill>
                <a:latin typeface="Aptos"/>
              </a:rPr>
              <a:t>The issue must be reproducible whenever possible, or the ticket must explain why reproduction is not currently possible.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3</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Required Logs</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28</a:t>
            </a:r>
          </a:p>
        </p:txBody>
      </p:sp>
      <p:graphicFrame>
        <p:nvGraphicFramePr>
          <p:cNvPr id="7" name="Table 6"/>
          <p:cNvGraphicFramePr>
            <a:graphicFrameLocks noGrp="1"/>
          </p:cNvGraphicFramePr>
          <p:nvPr/>
        </p:nvGraphicFramePr>
        <p:xfrm>
          <a:off x="777240" y="1325880"/>
          <a:ext cx="10607040" cy="4023360"/>
        </p:xfrm>
        <a:graphic>
          <a:graphicData uri="http://schemas.openxmlformats.org/drawingml/2006/table">
            <a:tbl>
              <a:tblPr firstRow="1" bandRow="1">
                <a:tableStyleId>{5C22544A-7EE6-4342-B048-85BDC9FD1C3A}</a:tableStyleId>
              </a:tblPr>
              <a:tblGrid>
                <a:gridCol w="2148840"/>
                <a:gridCol w="3794760"/>
                <a:gridCol w="4663440"/>
              </a:tblGrid>
              <a:tr h="804672">
                <a:tc>
                  <a:txBody>
                    <a:bodyPr/>
                    <a:lstStyle/>
                    <a:p>
                      <a:pPr algn="ctr"/>
                      <a:r>
                        <a:rPr b="1" sz="1000">
                          <a:solidFill>
                            <a:srgbClr val="FFFFFF"/>
                          </a:solidFill>
                          <a:latin typeface="Aptos"/>
                        </a:rPr>
                        <a:t>Log type</a:t>
                      </a:r>
                    </a:p>
                  </a:txBody>
                  <a:tcPr>
                    <a:solidFill>
                      <a:srgbClr val="122D4D"/>
                    </a:solidFill>
                  </a:tcPr>
                </a:tc>
                <a:tc>
                  <a:txBody>
                    <a:bodyPr/>
                    <a:lstStyle/>
                    <a:p>
                      <a:pPr algn="ctr"/>
                      <a:r>
                        <a:rPr b="1" sz="1000">
                          <a:solidFill>
                            <a:srgbClr val="FFFFFF"/>
                          </a:solidFill>
                          <a:latin typeface="Aptos"/>
                        </a:rPr>
                        <a:t>When to attach</a:t>
                      </a:r>
                    </a:p>
                  </a:txBody>
                  <a:tcPr>
                    <a:solidFill>
                      <a:srgbClr val="122D4D"/>
                    </a:solidFill>
                  </a:tcPr>
                </a:tc>
                <a:tc>
                  <a:txBody>
                    <a:bodyPr/>
                    <a:lstStyle/>
                    <a:p>
                      <a:pPr algn="ctr"/>
                      <a:r>
                        <a:rPr b="1" sz="1000">
                          <a:solidFill>
                            <a:srgbClr val="FFFFFF"/>
                          </a:solidFill>
                          <a:latin typeface="Aptos"/>
                        </a:rPr>
                        <a:t>Standard</a:t>
                      </a:r>
                    </a:p>
                  </a:txBody>
                  <a:tcPr>
                    <a:solidFill>
                      <a:srgbClr val="122D4D"/>
                    </a:solidFill>
                  </a:tcPr>
                </a:tc>
              </a:tr>
              <a:tr h="804672">
                <a:tc>
                  <a:txBody>
                    <a:bodyPr/>
                    <a:lstStyle/>
                    <a:p>
                      <a:pPr algn="l"/>
                      <a:r>
                        <a:rPr sz="1000">
                          <a:solidFill>
                            <a:srgbClr val="0F172A"/>
                          </a:solidFill>
                          <a:latin typeface="Aptos"/>
                        </a:rPr>
                        <a:t>Application Logs</a:t>
                      </a:r>
                    </a:p>
                  </a:txBody>
                  <a:tcPr marL="73152" marR="73152">
                    <a:solidFill>
                      <a:srgbClr val="FFFFFF"/>
                    </a:solidFill>
                  </a:tcPr>
                </a:tc>
                <a:tc>
                  <a:txBody>
                    <a:bodyPr/>
                    <a:lstStyle/>
                    <a:p>
                      <a:pPr algn="l"/>
                      <a:r>
                        <a:rPr sz="1000">
                          <a:solidFill>
                            <a:srgbClr val="0F172A"/>
                          </a:solidFill>
                          <a:latin typeface="Aptos"/>
                        </a:rPr>
                        <a:t>Application errors, workflow failures</a:t>
                      </a:r>
                    </a:p>
                  </a:txBody>
                  <a:tcPr marL="73152" marR="73152">
                    <a:solidFill>
                      <a:srgbClr val="FFFFFF"/>
                    </a:solidFill>
                  </a:tcPr>
                </a:tc>
                <a:tc>
                  <a:txBody>
                    <a:bodyPr/>
                    <a:lstStyle/>
                    <a:p>
                      <a:pPr algn="l"/>
                      <a:r>
                        <a:rPr sz="1000">
                          <a:solidFill>
                            <a:srgbClr val="0F172A"/>
                          </a:solidFill>
                          <a:latin typeface="Aptos"/>
                        </a:rPr>
                        <a:t>Relevant timeframe only: 10 minutes before and after issue</a:t>
                      </a:r>
                    </a:p>
                  </a:txBody>
                  <a:tcPr marL="73152" marR="73152">
                    <a:solidFill>
                      <a:srgbClr val="FFFFFF"/>
                    </a:solidFill>
                  </a:tcPr>
                </a:tc>
              </a:tr>
              <a:tr h="804672">
                <a:tc>
                  <a:txBody>
                    <a:bodyPr/>
                    <a:lstStyle/>
                    <a:p>
                      <a:pPr algn="l"/>
                      <a:r>
                        <a:rPr sz="1000">
                          <a:solidFill>
                            <a:srgbClr val="0F172A"/>
                          </a:solidFill>
                          <a:latin typeface="Aptos"/>
                        </a:rPr>
                        <a:t>Browser Logs</a:t>
                      </a:r>
                    </a:p>
                  </a:txBody>
                  <a:tcPr marL="73152" marR="73152">
                    <a:solidFill>
                      <a:srgbClr val="F3F6FA"/>
                    </a:solidFill>
                  </a:tcPr>
                </a:tc>
                <a:tc>
                  <a:txBody>
                    <a:bodyPr/>
                    <a:lstStyle/>
                    <a:p>
                      <a:pPr algn="l"/>
                      <a:r>
                        <a:rPr sz="1000">
                          <a:solidFill>
                            <a:srgbClr val="0F172A"/>
                          </a:solidFill>
                          <a:latin typeface="Aptos"/>
                        </a:rPr>
                        <a:t>Client-side or UI issue</a:t>
                      </a:r>
                    </a:p>
                  </a:txBody>
                  <a:tcPr marL="73152" marR="73152">
                    <a:solidFill>
                      <a:srgbClr val="F3F6FA"/>
                    </a:solidFill>
                  </a:tcPr>
                </a:tc>
                <a:tc>
                  <a:txBody>
                    <a:bodyPr/>
                    <a:lstStyle/>
                    <a:p>
                      <a:pPr algn="l"/>
                      <a:r>
                        <a:rPr sz="1000">
                          <a:solidFill>
                            <a:srgbClr val="0F172A"/>
                          </a:solidFill>
                          <a:latin typeface="Aptos"/>
                        </a:rPr>
                        <a:t>Console errors and Network trace / HAR file when applicable</a:t>
                      </a:r>
                    </a:p>
                  </a:txBody>
                  <a:tcPr marL="73152" marR="73152">
                    <a:solidFill>
                      <a:srgbClr val="F3F6FA"/>
                    </a:solidFill>
                  </a:tcPr>
                </a:tc>
              </a:tr>
              <a:tr h="804672">
                <a:tc>
                  <a:txBody>
                    <a:bodyPr/>
                    <a:lstStyle/>
                    <a:p>
                      <a:pPr algn="l"/>
                      <a:r>
                        <a:rPr sz="1000">
                          <a:solidFill>
                            <a:srgbClr val="0F172A"/>
                          </a:solidFill>
                          <a:latin typeface="Aptos"/>
                        </a:rPr>
                        <a:t>Windows Event Logs</a:t>
                      </a:r>
                    </a:p>
                  </a:txBody>
                  <a:tcPr marL="73152" marR="73152">
                    <a:solidFill>
                      <a:srgbClr val="FFFFFF"/>
                    </a:solidFill>
                  </a:tcPr>
                </a:tc>
                <a:tc>
                  <a:txBody>
                    <a:bodyPr/>
                    <a:lstStyle/>
                    <a:p>
                      <a:pPr algn="l"/>
                      <a:r>
                        <a:rPr sz="1000">
                          <a:solidFill>
                            <a:srgbClr val="0F172A"/>
                          </a:solidFill>
                          <a:latin typeface="Aptos"/>
                        </a:rPr>
                        <a:t>Server-related symptoms</a:t>
                      </a:r>
                    </a:p>
                  </a:txBody>
                  <a:tcPr marL="73152" marR="73152">
                    <a:solidFill>
                      <a:srgbClr val="FFFFFF"/>
                    </a:solidFill>
                  </a:tcPr>
                </a:tc>
                <a:tc>
                  <a:txBody>
                    <a:bodyPr/>
                    <a:lstStyle/>
                    <a:p>
                      <a:pPr algn="l"/>
                      <a:r>
                        <a:rPr sz="1000">
                          <a:solidFill>
                            <a:srgbClr val="0F172A"/>
                          </a:solidFill>
                          <a:latin typeface="Aptos"/>
                        </a:rPr>
                        <a:t>Attach relevant application/system events</a:t>
                      </a:r>
                    </a:p>
                  </a:txBody>
                  <a:tcPr marL="73152" marR="73152">
                    <a:solidFill>
                      <a:srgbClr val="FFFFFF"/>
                    </a:solidFill>
                  </a:tcPr>
                </a:tc>
              </a:tr>
              <a:tr h="804672">
                <a:tc>
                  <a:txBody>
                    <a:bodyPr/>
                    <a:lstStyle/>
                    <a:p>
                      <a:pPr algn="l"/>
                      <a:r>
                        <a:rPr sz="1000">
                          <a:solidFill>
                            <a:srgbClr val="0F172A"/>
                          </a:solidFill>
                          <a:latin typeface="Aptos"/>
                        </a:rPr>
                        <a:t>SQL Errors</a:t>
                      </a:r>
                    </a:p>
                  </a:txBody>
                  <a:tcPr marL="73152" marR="73152">
                    <a:solidFill>
                      <a:srgbClr val="F3F6FA"/>
                    </a:solidFill>
                  </a:tcPr>
                </a:tc>
                <a:tc>
                  <a:txBody>
                    <a:bodyPr/>
                    <a:lstStyle/>
                    <a:p>
                      <a:pPr algn="l"/>
                      <a:r>
                        <a:rPr sz="1000">
                          <a:solidFill>
                            <a:srgbClr val="0F172A"/>
                          </a:solidFill>
                          <a:latin typeface="Aptos"/>
                        </a:rPr>
                        <a:t>Database-related symptoms</a:t>
                      </a:r>
                    </a:p>
                  </a:txBody>
                  <a:tcPr marL="73152" marR="73152">
                    <a:solidFill>
                      <a:srgbClr val="F3F6FA"/>
                    </a:solidFill>
                  </a:tcPr>
                </a:tc>
                <a:tc>
                  <a:txBody>
                    <a:bodyPr/>
                    <a:lstStyle/>
                    <a:p>
                      <a:pPr algn="l"/>
                      <a:r>
                        <a:rPr sz="1000">
                          <a:solidFill>
                            <a:srgbClr val="0F172A"/>
                          </a:solidFill>
                          <a:latin typeface="Aptos"/>
                        </a:rPr>
                        <a:t>Attach relevant SQL errors or query/blocking evidence</a:t>
                      </a:r>
                    </a:p>
                  </a:txBody>
                  <a:tcPr marL="73152" marR="73152">
                    <a:solidFill>
                      <a:srgbClr val="F3F6FA"/>
                    </a:solidFill>
                  </a:tcPr>
                </a:tc>
              </a:tr>
            </a:tbl>
          </a:graphicData>
        </a:graphic>
      </p:graphicFrame>
      <p:sp>
        <p:nvSpPr>
          <p:cNvPr id="8" name="Rounded Rectangle 7"/>
          <p:cNvSpPr/>
          <p:nvPr/>
        </p:nvSpPr>
        <p:spPr>
          <a:xfrm>
            <a:off x="914400" y="5532120"/>
            <a:ext cx="9966960" cy="457200"/>
          </a:xfrm>
          <a:prstGeom prst="roundRect">
            <a:avLst/>
          </a:prstGeom>
          <a:solidFill>
            <a:srgbClr val="FDE7E7"/>
          </a:solidFill>
          <a:ln w="1524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C53030"/>
                </a:solidFill>
                <a:latin typeface="Aptos Display"/>
              </a:rPr>
              <a:t>Avoid</a:t>
            </a:r>
          </a:p>
          <a:p>
            <a:pPr>
              <a:spcBef>
                <a:spcPts val="500"/>
              </a:spcBef>
            </a:pPr>
            <a:r>
              <a:rPr sz="1300">
                <a:solidFill>
                  <a:srgbClr val="0F172A"/>
                </a:solidFill>
                <a:latin typeface="Aptos"/>
              </a:rPr>
              <a:t>Do not attach entire large log folders when a focused timeframe is available.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3</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Priority Classification</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29</a:t>
            </a:r>
          </a:p>
        </p:txBody>
      </p:sp>
      <p:graphicFrame>
        <p:nvGraphicFramePr>
          <p:cNvPr id="7" name="Table 6"/>
          <p:cNvGraphicFramePr>
            <a:graphicFrameLocks noGrp="1"/>
          </p:cNvGraphicFramePr>
          <p:nvPr/>
        </p:nvGraphicFramePr>
        <p:xfrm>
          <a:off x="868680" y="1417320"/>
          <a:ext cx="10378440" cy="3063240"/>
        </p:xfrm>
        <a:graphic>
          <a:graphicData uri="http://schemas.openxmlformats.org/drawingml/2006/table">
            <a:tbl>
              <a:tblPr firstRow="1" bandRow="1">
                <a:tableStyleId>{5C22544A-7EE6-4342-B048-85BDC9FD1C3A}</a:tableStyleId>
              </a:tblPr>
              <a:tblGrid>
                <a:gridCol w="2926080"/>
                <a:gridCol w="7452360"/>
              </a:tblGrid>
              <a:tr h="612648">
                <a:tc>
                  <a:txBody>
                    <a:bodyPr/>
                    <a:lstStyle/>
                    <a:p>
                      <a:pPr algn="ctr"/>
                      <a:r>
                        <a:rPr b="1" sz="1300">
                          <a:solidFill>
                            <a:srgbClr val="FFFFFF"/>
                          </a:solidFill>
                          <a:latin typeface="Aptos"/>
                        </a:rPr>
                        <a:t>Priority</a:t>
                      </a:r>
                    </a:p>
                  </a:txBody>
                  <a:tcPr>
                    <a:solidFill>
                      <a:srgbClr val="122D4D"/>
                    </a:solidFill>
                  </a:tcPr>
                </a:tc>
                <a:tc>
                  <a:txBody>
                    <a:bodyPr/>
                    <a:lstStyle/>
                    <a:p>
                      <a:pPr algn="ctr"/>
                      <a:r>
                        <a:rPr b="1" sz="1300">
                          <a:solidFill>
                            <a:srgbClr val="FFFFFF"/>
                          </a:solidFill>
                          <a:latin typeface="Aptos"/>
                        </a:rPr>
                        <a:t>Definition</a:t>
                      </a:r>
                    </a:p>
                  </a:txBody>
                  <a:tcPr>
                    <a:solidFill>
                      <a:srgbClr val="122D4D"/>
                    </a:solidFill>
                  </a:tcPr>
                </a:tc>
              </a:tr>
              <a:tr h="612648">
                <a:tc>
                  <a:txBody>
                    <a:bodyPr/>
                    <a:lstStyle/>
                    <a:p>
                      <a:pPr algn="l"/>
                      <a:r>
                        <a:rPr sz="1300">
                          <a:solidFill>
                            <a:srgbClr val="0F172A"/>
                          </a:solidFill>
                          <a:latin typeface="Aptos"/>
                        </a:rPr>
                        <a:t>P1 — System Down</a:t>
                      </a:r>
                    </a:p>
                  </a:txBody>
                  <a:tcPr marL="73152" marR="73152">
                    <a:solidFill>
                      <a:srgbClr val="FFFFFF"/>
                    </a:solidFill>
                  </a:tcPr>
                </a:tc>
                <a:tc>
                  <a:txBody>
                    <a:bodyPr/>
                    <a:lstStyle/>
                    <a:p>
                      <a:pPr algn="l"/>
                      <a:r>
                        <a:rPr sz="1300">
                          <a:solidFill>
                            <a:srgbClr val="0F172A"/>
                          </a:solidFill>
                          <a:latin typeface="Aptos"/>
                        </a:rPr>
                        <a:t>Critical business impact. No workaround.</a:t>
                      </a:r>
                    </a:p>
                  </a:txBody>
                  <a:tcPr marL="73152" marR="73152">
                    <a:solidFill>
                      <a:srgbClr val="FFFFFF"/>
                    </a:solidFill>
                  </a:tcPr>
                </a:tc>
              </a:tr>
              <a:tr h="612648">
                <a:tc>
                  <a:txBody>
                    <a:bodyPr/>
                    <a:lstStyle/>
                    <a:p>
                      <a:pPr algn="l"/>
                      <a:r>
                        <a:rPr sz="1300">
                          <a:solidFill>
                            <a:srgbClr val="0F172A"/>
                          </a:solidFill>
                          <a:latin typeface="Aptos"/>
                        </a:rPr>
                        <a:t>P2 — Major Function Impact</a:t>
                      </a:r>
                    </a:p>
                  </a:txBody>
                  <a:tcPr marL="73152" marR="73152">
                    <a:solidFill>
                      <a:srgbClr val="F3F6FA"/>
                    </a:solidFill>
                  </a:tcPr>
                </a:tc>
                <a:tc>
                  <a:txBody>
                    <a:bodyPr/>
                    <a:lstStyle/>
                    <a:p>
                      <a:pPr algn="l"/>
                      <a:r>
                        <a:rPr sz="1300">
                          <a:solidFill>
                            <a:srgbClr val="0F172A"/>
                          </a:solidFill>
                          <a:latin typeface="Aptos"/>
                        </a:rPr>
                        <a:t>Major functionality affected for multiple users or departments.</a:t>
                      </a:r>
                    </a:p>
                  </a:txBody>
                  <a:tcPr marL="73152" marR="73152">
                    <a:solidFill>
                      <a:srgbClr val="F3F6FA"/>
                    </a:solidFill>
                  </a:tcPr>
                </a:tc>
              </a:tr>
              <a:tr h="612648">
                <a:tc>
                  <a:txBody>
                    <a:bodyPr/>
                    <a:lstStyle/>
                    <a:p>
                      <a:pPr algn="l"/>
                      <a:r>
                        <a:rPr sz="1300">
                          <a:solidFill>
                            <a:srgbClr val="0F172A"/>
                          </a:solidFill>
                          <a:latin typeface="Aptos"/>
                        </a:rPr>
                        <a:t>P3 — Limited Functionality</a:t>
                      </a:r>
                    </a:p>
                  </a:txBody>
                  <a:tcPr marL="73152" marR="73152">
                    <a:solidFill>
                      <a:srgbClr val="FFFFFF"/>
                    </a:solidFill>
                  </a:tcPr>
                </a:tc>
                <a:tc>
                  <a:txBody>
                    <a:bodyPr/>
                    <a:lstStyle/>
                    <a:p>
                      <a:pPr algn="l"/>
                      <a:r>
                        <a:rPr sz="1300">
                          <a:solidFill>
                            <a:srgbClr val="0F172A"/>
                          </a:solidFill>
                          <a:latin typeface="Aptos"/>
                        </a:rPr>
                        <a:t>Partial impact with workaround available.</a:t>
                      </a:r>
                    </a:p>
                  </a:txBody>
                  <a:tcPr marL="73152" marR="73152">
                    <a:solidFill>
                      <a:srgbClr val="FFFFFF"/>
                    </a:solidFill>
                  </a:tcPr>
                </a:tc>
              </a:tr>
              <a:tr h="612648">
                <a:tc>
                  <a:txBody>
                    <a:bodyPr/>
                    <a:lstStyle/>
                    <a:p>
                      <a:pPr algn="l"/>
                      <a:r>
                        <a:rPr sz="1300">
                          <a:solidFill>
                            <a:srgbClr val="0F172A"/>
                          </a:solidFill>
                          <a:latin typeface="Aptos"/>
                        </a:rPr>
                        <a:t>P4 — Question / Enhancement</a:t>
                      </a:r>
                    </a:p>
                  </a:txBody>
                  <a:tcPr marL="73152" marR="73152">
                    <a:solidFill>
                      <a:srgbClr val="F3F6FA"/>
                    </a:solidFill>
                  </a:tcPr>
                </a:tc>
                <a:tc>
                  <a:txBody>
                    <a:bodyPr/>
                    <a:lstStyle/>
                    <a:p>
                      <a:pPr algn="l"/>
                      <a:r>
                        <a:rPr sz="1300">
                          <a:solidFill>
                            <a:srgbClr val="0F172A"/>
                          </a:solidFill>
                          <a:latin typeface="Aptos"/>
                        </a:rPr>
                        <a:t>How-to request, minor issue, or feature request.</a:t>
                      </a:r>
                    </a:p>
                  </a:txBody>
                  <a:tcPr marL="73152" marR="73152">
                    <a:solidFill>
                      <a:srgbClr val="F3F6FA"/>
                    </a:solidFill>
                  </a:tcPr>
                </a:tc>
              </a:tr>
            </a:tbl>
          </a:graphicData>
        </a:graphic>
      </p:graphicFrame>
      <p:sp>
        <p:nvSpPr>
          <p:cNvPr id="8" name="Rounded Rectangle 7"/>
          <p:cNvSpPr/>
          <p:nvPr/>
        </p:nvSpPr>
        <p:spPr>
          <a:xfrm>
            <a:off x="914400" y="5074920"/>
            <a:ext cx="9966960" cy="685800"/>
          </a:xfrm>
          <a:prstGeom prst="roundRect">
            <a:avLst/>
          </a:prstGeom>
          <a:solidFill>
            <a:srgbClr val="FDE7E7"/>
          </a:solidFill>
          <a:ln w="1524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C53030"/>
                </a:solidFill>
                <a:latin typeface="Aptos Display"/>
              </a:rPr>
              <a:t>Key message</a:t>
            </a:r>
          </a:p>
          <a:p>
            <a:pPr>
              <a:spcBef>
                <a:spcPts val="500"/>
              </a:spcBef>
            </a:pPr>
            <a:r>
              <a:rPr sz="1300">
                <a:solidFill>
                  <a:srgbClr val="0F172A"/>
                </a:solidFill>
                <a:latin typeface="Aptos"/>
              </a:rPr>
              <a:t>Priority should be based on business impact, not frustration level.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3</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What Not to Escalate</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30</a:t>
            </a:r>
          </a:p>
        </p:txBody>
      </p:sp>
      <p:sp>
        <p:nvSpPr>
          <p:cNvPr id="7" name="Rounded Rectangle 6"/>
          <p:cNvSpPr/>
          <p:nvPr/>
        </p:nvSpPr>
        <p:spPr>
          <a:xfrm>
            <a:off x="914400" y="1325880"/>
            <a:ext cx="320040" cy="292608"/>
          </a:xfrm>
          <a:prstGeom prst="roundRect">
            <a:avLst/>
          </a:prstGeom>
          <a:solidFill>
            <a:srgbClr val="F2B83A"/>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1400" b="1" i="0">
                <a:solidFill>
                  <a:srgbClr val="FFFFFF"/>
                </a:solidFill>
                <a:latin typeface="Aptos"/>
              </a:rPr>
              <a:t>!</a:t>
            </a:r>
          </a:p>
        </p:txBody>
      </p:sp>
      <p:sp>
        <p:nvSpPr>
          <p:cNvPr id="8" name="Rectangle 7"/>
          <p:cNvSpPr/>
          <p:nvPr/>
        </p:nvSpPr>
        <p:spPr>
          <a:xfrm>
            <a:off x="1371600" y="1344168"/>
            <a:ext cx="8046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User training issues</a:t>
            </a:r>
          </a:p>
        </p:txBody>
      </p:sp>
      <p:sp>
        <p:nvSpPr>
          <p:cNvPr id="9" name="Rounded Rectangle 8"/>
          <p:cNvSpPr/>
          <p:nvPr/>
        </p:nvSpPr>
        <p:spPr>
          <a:xfrm>
            <a:off x="914400" y="1920240"/>
            <a:ext cx="320040" cy="292608"/>
          </a:xfrm>
          <a:prstGeom prst="roundRect">
            <a:avLst/>
          </a:prstGeom>
          <a:solidFill>
            <a:srgbClr val="F2B83A"/>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1400" b="1" i="0">
                <a:solidFill>
                  <a:srgbClr val="FFFFFF"/>
                </a:solidFill>
                <a:latin typeface="Aptos"/>
              </a:rPr>
              <a:t>!</a:t>
            </a:r>
          </a:p>
        </p:txBody>
      </p:sp>
      <p:sp>
        <p:nvSpPr>
          <p:cNvPr id="10" name="Rectangle 9"/>
          <p:cNvSpPr/>
          <p:nvPr/>
        </p:nvSpPr>
        <p:spPr>
          <a:xfrm>
            <a:off x="1371600" y="1938528"/>
            <a:ext cx="8046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Configuration issues</a:t>
            </a:r>
          </a:p>
        </p:txBody>
      </p:sp>
      <p:sp>
        <p:nvSpPr>
          <p:cNvPr id="11" name="Rounded Rectangle 10"/>
          <p:cNvSpPr/>
          <p:nvPr/>
        </p:nvSpPr>
        <p:spPr>
          <a:xfrm>
            <a:off x="914400" y="2514600"/>
            <a:ext cx="320040" cy="292608"/>
          </a:xfrm>
          <a:prstGeom prst="roundRect">
            <a:avLst/>
          </a:prstGeom>
          <a:solidFill>
            <a:srgbClr val="F2B83A"/>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1400" b="1" i="0">
                <a:solidFill>
                  <a:srgbClr val="FFFFFF"/>
                </a:solidFill>
                <a:latin typeface="Aptos"/>
              </a:rPr>
              <a:t>!</a:t>
            </a:r>
          </a:p>
        </p:txBody>
      </p:sp>
      <p:sp>
        <p:nvSpPr>
          <p:cNvPr id="12" name="Rectangle 11"/>
          <p:cNvSpPr/>
          <p:nvPr/>
        </p:nvSpPr>
        <p:spPr>
          <a:xfrm>
            <a:off x="1371600" y="2532888"/>
            <a:ext cx="8046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Missing permissions</a:t>
            </a:r>
          </a:p>
        </p:txBody>
      </p:sp>
      <p:sp>
        <p:nvSpPr>
          <p:cNvPr id="13" name="Rounded Rectangle 12"/>
          <p:cNvSpPr/>
          <p:nvPr/>
        </p:nvSpPr>
        <p:spPr>
          <a:xfrm>
            <a:off x="914400" y="3108960"/>
            <a:ext cx="320040" cy="292608"/>
          </a:xfrm>
          <a:prstGeom prst="roundRect">
            <a:avLst/>
          </a:prstGeom>
          <a:solidFill>
            <a:srgbClr val="F2B83A"/>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1400" b="1" i="0">
                <a:solidFill>
                  <a:srgbClr val="FFFFFF"/>
                </a:solidFill>
                <a:latin typeface="Aptos"/>
              </a:rPr>
              <a:t>!</a:t>
            </a:r>
          </a:p>
        </p:txBody>
      </p:sp>
      <p:sp>
        <p:nvSpPr>
          <p:cNvPr id="14" name="Rectangle 13"/>
          <p:cNvSpPr/>
          <p:nvPr/>
        </p:nvSpPr>
        <p:spPr>
          <a:xfrm>
            <a:off x="1371600" y="3127248"/>
            <a:ext cx="8046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Known limitations</a:t>
            </a:r>
          </a:p>
        </p:txBody>
      </p:sp>
      <p:sp>
        <p:nvSpPr>
          <p:cNvPr id="15" name="Rounded Rectangle 14"/>
          <p:cNvSpPr/>
          <p:nvPr/>
        </p:nvSpPr>
        <p:spPr>
          <a:xfrm>
            <a:off x="914400" y="3703320"/>
            <a:ext cx="320040" cy="292608"/>
          </a:xfrm>
          <a:prstGeom prst="roundRect">
            <a:avLst/>
          </a:prstGeom>
          <a:solidFill>
            <a:srgbClr val="F2B83A"/>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1400" b="1" i="0">
                <a:solidFill>
                  <a:srgbClr val="FFFFFF"/>
                </a:solidFill>
                <a:latin typeface="Aptos"/>
              </a:rPr>
              <a:t>!</a:t>
            </a:r>
          </a:p>
        </p:txBody>
      </p:sp>
      <p:sp>
        <p:nvSpPr>
          <p:cNvPr id="16" name="Rectangle 15"/>
          <p:cNvSpPr/>
          <p:nvPr/>
        </p:nvSpPr>
        <p:spPr>
          <a:xfrm>
            <a:off x="1371600" y="3721607"/>
            <a:ext cx="8046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Known release changes</a:t>
            </a:r>
          </a:p>
        </p:txBody>
      </p:sp>
      <p:sp>
        <p:nvSpPr>
          <p:cNvPr id="17" name="Rounded Rectangle 16"/>
          <p:cNvSpPr/>
          <p:nvPr/>
        </p:nvSpPr>
        <p:spPr>
          <a:xfrm>
            <a:off x="914400" y="4297680"/>
            <a:ext cx="320040" cy="292608"/>
          </a:xfrm>
          <a:prstGeom prst="roundRect">
            <a:avLst/>
          </a:prstGeom>
          <a:solidFill>
            <a:srgbClr val="F2B83A"/>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1400" b="1" i="0">
                <a:solidFill>
                  <a:srgbClr val="FFFFFF"/>
                </a:solidFill>
                <a:latin typeface="Aptos"/>
              </a:rPr>
              <a:t>!</a:t>
            </a:r>
          </a:p>
        </p:txBody>
      </p:sp>
      <p:sp>
        <p:nvSpPr>
          <p:cNvPr id="18" name="Rectangle 17"/>
          <p:cNvSpPr/>
          <p:nvPr/>
        </p:nvSpPr>
        <p:spPr>
          <a:xfrm>
            <a:off x="1371600" y="4315968"/>
            <a:ext cx="8046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Issues already documented in the Knowledge Base</a:t>
            </a:r>
          </a:p>
        </p:txBody>
      </p:sp>
      <p:sp>
        <p:nvSpPr>
          <p:cNvPr id="19" name="Rounded Rectangle 18"/>
          <p:cNvSpPr/>
          <p:nvPr/>
        </p:nvSpPr>
        <p:spPr>
          <a:xfrm>
            <a:off x="914400" y="4892040"/>
            <a:ext cx="320040" cy="292608"/>
          </a:xfrm>
          <a:prstGeom prst="roundRect">
            <a:avLst/>
          </a:prstGeom>
          <a:solidFill>
            <a:srgbClr val="F2B83A"/>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1400" b="1" i="0">
                <a:solidFill>
                  <a:srgbClr val="FFFFFF"/>
                </a:solidFill>
                <a:latin typeface="Aptos"/>
              </a:rPr>
              <a:t>!</a:t>
            </a:r>
          </a:p>
        </p:txBody>
      </p:sp>
      <p:sp>
        <p:nvSpPr>
          <p:cNvPr id="20" name="Rectangle 19"/>
          <p:cNvSpPr/>
          <p:nvPr/>
        </p:nvSpPr>
        <p:spPr>
          <a:xfrm>
            <a:off x="1371600" y="4910328"/>
            <a:ext cx="8046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700" b="0" i="0">
                <a:solidFill>
                  <a:srgbClr val="0F172A"/>
                </a:solidFill>
                <a:latin typeface="Aptos"/>
              </a:rPr>
              <a:t>Issues resolved by standard troubleshooting</a:t>
            </a:r>
          </a:p>
        </p:txBody>
      </p:sp>
      <p:sp>
        <p:nvSpPr>
          <p:cNvPr id="21" name="Rounded Rectangle 20"/>
          <p:cNvSpPr/>
          <p:nvPr/>
        </p:nvSpPr>
        <p:spPr>
          <a:xfrm>
            <a:off x="914400" y="5623560"/>
            <a:ext cx="9966960" cy="502920"/>
          </a:xfrm>
          <a:prstGeom prst="roundRect">
            <a:avLst/>
          </a:prstGeom>
          <a:solidFill>
            <a:srgbClr val="E2EFFF"/>
          </a:solidFill>
          <a:ln w="15240">
            <a:solidFill>
              <a:srgbClr val="1F6FC4"/>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1F6FC4"/>
                </a:solidFill>
                <a:latin typeface="Aptos Display"/>
              </a:rPr>
              <a:t>Escalation discipline</a:t>
            </a:r>
          </a:p>
          <a:p>
            <a:pPr>
              <a:spcBef>
                <a:spcPts val="500"/>
              </a:spcBef>
            </a:pPr>
            <a:r>
              <a:rPr sz="1300">
                <a:solidFill>
                  <a:srgbClr val="0F172A"/>
                </a:solidFill>
                <a:latin typeface="Aptos"/>
              </a:rPr>
              <a:t>Resolve or route these through the correct support process before involving Development.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3</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Bad vs Good Escalation Example</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31</a:t>
            </a:r>
          </a:p>
        </p:txBody>
      </p:sp>
      <p:sp>
        <p:nvSpPr>
          <p:cNvPr id="7" name="Rounded Rectangle 6"/>
          <p:cNvSpPr/>
          <p:nvPr/>
        </p:nvSpPr>
        <p:spPr>
          <a:xfrm>
            <a:off x="777240" y="1325880"/>
            <a:ext cx="5166360" cy="411480"/>
          </a:xfrm>
          <a:prstGeom prst="roundRect">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1800" b="1" i="0">
                <a:solidFill>
                  <a:srgbClr val="FFFFFF"/>
                </a:solidFill>
                <a:latin typeface="Aptos"/>
              </a:rPr>
              <a:t>Bad Escalation</a:t>
            </a:r>
          </a:p>
        </p:txBody>
      </p:sp>
      <p:sp>
        <p:nvSpPr>
          <p:cNvPr id="8" name="Rounded Rectangle 7"/>
          <p:cNvSpPr/>
          <p:nvPr/>
        </p:nvSpPr>
        <p:spPr>
          <a:xfrm>
            <a:off x="6263640" y="1325880"/>
            <a:ext cx="5166360" cy="411480"/>
          </a:xfrm>
          <a:prstGeom prst="roundRect">
            <a:avLst/>
          </a:prstGeom>
          <a:solidFill>
            <a:srgbClr val="1F9756"/>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1800" b="1" i="0">
                <a:solidFill>
                  <a:srgbClr val="FFFFFF"/>
                </a:solidFill>
                <a:latin typeface="Aptos"/>
              </a:rPr>
              <a:t>Good Escalation</a:t>
            </a:r>
          </a:p>
        </p:txBody>
      </p:sp>
      <p:sp>
        <p:nvSpPr>
          <p:cNvPr id="9" name="Rounded Rectangle 8"/>
          <p:cNvSpPr/>
          <p:nvPr/>
        </p:nvSpPr>
        <p:spPr>
          <a:xfrm>
            <a:off x="868680" y="1965960"/>
            <a:ext cx="4983480" cy="685800"/>
          </a:xfrm>
          <a:prstGeom prst="roundRect">
            <a:avLst/>
          </a:prstGeom>
          <a:solidFill>
            <a:srgbClr val="FDE7E7"/>
          </a:solidFill>
          <a:ln w="1524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C53030"/>
                </a:solidFill>
                <a:latin typeface="Aptos Display"/>
              </a:rPr>
              <a:t>“Report not working.”</a:t>
            </a:r>
          </a:p>
          <a:p>
            <a:pPr>
              <a:spcBef>
                <a:spcPts val="500"/>
              </a:spcBef>
            </a:pPr>
            <a:r>
              <a:rPr sz="1300">
                <a:solidFill>
                  <a:srgbClr val="0F172A"/>
                </a:solidFill>
                <a:latin typeface="Aptos"/>
              </a:rPr>
              <a:t>Why it is bad: no customer, version, scope, steps, logs, screenshot, or expected vs actual result.</a:t>
            </a:r>
          </a:p>
        </p:txBody>
      </p:sp>
      <p:sp>
        <p:nvSpPr>
          <p:cNvPr id="10" name="Rounded Rectangle 9"/>
          <p:cNvSpPr/>
          <p:nvPr/>
        </p:nvSpPr>
        <p:spPr>
          <a:xfrm>
            <a:off x="6400800" y="1874519"/>
            <a:ext cx="4754880" cy="2240280"/>
          </a:xfrm>
          <a:prstGeom prst="roundRect">
            <a:avLst/>
          </a:prstGeom>
          <a:solidFill>
            <a:srgbClr val="E2F5EA"/>
          </a:solidFill>
          <a:ln w="12700">
            <a:solidFill>
              <a:srgbClr val="1F9756"/>
            </a:solid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0" i="0">
                <a:solidFill>
                  <a:srgbClr val="0F172A"/>
                </a:solidFill>
                <a:latin typeface="Aptos"/>
              </a:rPr>
              <a:t>Customer: ABC Hospital
Version: 5.22.3
Impact: All users affected
Started after upgrade
Scope: One exam type only
Steps, logs, screenshot attached
No KB article found
Senior Support reviewed</a:t>
            </a:r>
          </a:p>
        </p:txBody>
      </p:sp>
      <p:graphicFrame>
        <p:nvGraphicFramePr>
          <p:cNvPr id="11" name="Table 10"/>
          <p:cNvGraphicFramePr>
            <a:graphicFrameLocks noGrp="1"/>
          </p:cNvGraphicFramePr>
          <p:nvPr/>
        </p:nvGraphicFramePr>
        <p:xfrm>
          <a:off x="914400" y="4160520"/>
          <a:ext cx="10241280" cy="1234440"/>
        </p:xfrm>
        <a:graphic>
          <a:graphicData uri="http://schemas.openxmlformats.org/drawingml/2006/table">
            <a:tbl>
              <a:tblPr firstRow="1" bandRow="1">
                <a:tableStyleId>{5C22544A-7EE6-4342-B048-85BDC9FD1C3A}</a:tableStyleId>
              </a:tblPr>
              <a:tblGrid>
                <a:gridCol w="5120640"/>
                <a:gridCol w="5120640"/>
              </a:tblGrid>
              <a:tr h="308610">
                <a:tc>
                  <a:txBody>
                    <a:bodyPr/>
                    <a:lstStyle/>
                    <a:p>
                      <a:pPr algn="ctr"/>
                      <a:r>
                        <a:rPr b="1" sz="1200">
                          <a:solidFill>
                            <a:srgbClr val="FFFFFF"/>
                          </a:solidFill>
                          <a:latin typeface="Aptos"/>
                        </a:rPr>
                        <a:t>Bad escalation causes</a:t>
                      </a:r>
                    </a:p>
                  </a:txBody>
                  <a:tcPr>
                    <a:solidFill>
                      <a:srgbClr val="122D4D"/>
                    </a:solidFill>
                  </a:tcPr>
                </a:tc>
                <a:tc>
                  <a:txBody>
                    <a:bodyPr/>
                    <a:lstStyle/>
                    <a:p>
                      <a:pPr algn="ctr"/>
                      <a:r>
                        <a:rPr b="1" sz="1200">
                          <a:solidFill>
                            <a:srgbClr val="FFFFFF"/>
                          </a:solidFill>
                          <a:latin typeface="Aptos"/>
                        </a:rPr>
                        <a:t>Good escalation enables</a:t>
                      </a:r>
                    </a:p>
                  </a:txBody>
                  <a:tcPr>
                    <a:solidFill>
                      <a:srgbClr val="122D4D"/>
                    </a:solidFill>
                  </a:tcPr>
                </a:tc>
              </a:tr>
              <a:tr h="308610">
                <a:tc>
                  <a:txBody>
                    <a:bodyPr/>
                    <a:lstStyle/>
                    <a:p>
                      <a:pPr algn="l"/>
                      <a:r>
                        <a:rPr sz="1200">
                          <a:solidFill>
                            <a:srgbClr val="0F172A"/>
                          </a:solidFill>
                          <a:latin typeface="Aptos"/>
                        </a:rPr>
                        <a:t>Back-and-forth questions</a:t>
                      </a:r>
                    </a:p>
                  </a:txBody>
                  <a:tcPr marL="73152" marR="73152">
                    <a:solidFill>
                      <a:srgbClr val="FFFFFF"/>
                    </a:solidFill>
                  </a:tcPr>
                </a:tc>
                <a:tc>
                  <a:txBody>
                    <a:bodyPr/>
                    <a:lstStyle/>
                    <a:p>
                      <a:pPr algn="l"/>
                      <a:r>
                        <a:rPr sz="1200">
                          <a:solidFill>
                            <a:srgbClr val="0F172A"/>
                          </a:solidFill>
                          <a:latin typeface="Aptos"/>
                        </a:rPr>
                        <a:t>Clear scope and reproduction</a:t>
                      </a:r>
                    </a:p>
                  </a:txBody>
                  <a:tcPr marL="73152" marR="73152">
                    <a:solidFill>
                      <a:srgbClr val="FFFFFF"/>
                    </a:solidFill>
                  </a:tcPr>
                </a:tc>
              </a:tr>
              <a:tr h="308610">
                <a:tc>
                  <a:txBody>
                    <a:bodyPr/>
                    <a:lstStyle/>
                    <a:p>
                      <a:pPr algn="l"/>
                      <a:r>
                        <a:rPr sz="1200">
                          <a:solidFill>
                            <a:srgbClr val="0F172A"/>
                          </a:solidFill>
                          <a:latin typeface="Aptos"/>
                        </a:rPr>
                        <a:t>Delayed investigation</a:t>
                      </a:r>
                    </a:p>
                  </a:txBody>
                  <a:tcPr marL="73152" marR="73152">
                    <a:solidFill>
                      <a:srgbClr val="F3F6FA"/>
                    </a:solidFill>
                  </a:tcPr>
                </a:tc>
                <a:tc>
                  <a:txBody>
                    <a:bodyPr/>
                    <a:lstStyle/>
                    <a:p>
                      <a:pPr algn="l"/>
                      <a:r>
                        <a:rPr sz="1200">
                          <a:solidFill>
                            <a:srgbClr val="0F172A"/>
                          </a:solidFill>
                          <a:latin typeface="Aptos"/>
                        </a:rPr>
                        <a:t>Evidence-based analysis</a:t>
                      </a:r>
                    </a:p>
                  </a:txBody>
                  <a:tcPr marL="73152" marR="73152">
                    <a:solidFill>
                      <a:srgbClr val="F3F6FA"/>
                    </a:solidFill>
                  </a:tcPr>
                </a:tc>
              </a:tr>
              <a:tr h="308610">
                <a:tc>
                  <a:txBody>
                    <a:bodyPr/>
                    <a:lstStyle/>
                    <a:p>
                      <a:pPr algn="l"/>
                      <a:r>
                        <a:rPr sz="1200">
                          <a:solidFill>
                            <a:srgbClr val="0F172A"/>
                          </a:solidFill>
                          <a:latin typeface="Aptos"/>
                        </a:rPr>
                        <a:t>Repeated customer follow-up</a:t>
                      </a:r>
                    </a:p>
                  </a:txBody>
                  <a:tcPr marL="73152" marR="73152">
                    <a:solidFill>
                      <a:srgbClr val="FFFFFF"/>
                    </a:solidFill>
                  </a:tcPr>
                </a:tc>
                <a:tc>
                  <a:txBody>
                    <a:bodyPr/>
                    <a:lstStyle/>
                    <a:p>
                      <a:pPr algn="l"/>
                      <a:r>
                        <a:rPr sz="1200">
                          <a:solidFill>
                            <a:srgbClr val="0F172A"/>
                          </a:solidFill>
                          <a:latin typeface="Aptos"/>
                        </a:rPr>
                        <a:t>Prior investigation already completed</a:t>
                      </a:r>
                    </a:p>
                  </a:txBody>
                  <a:tcPr marL="73152" marR="73152">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4</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Module 4 – Knowledge Base and Internal Collaboration</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32</a:t>
            </a:r>
          </a:p>
        </p:txBody>
      </p:sp>
      <p:sp>
        <p:nvSpPr>
          <p:cNvPr id="7" name="Rounded Rectangle 6"/>
          <p:cNvSpPr/>
          <p:nvPr/>
        </p:nvSpPr>
        <p:spPr>
          <a:xfrm>
            <a:off x="822960" y="1417320"/>
            <a:ext cx="10469880" cy="914400"/>
          </a:xfrm>
          <a:prstGeom prst="roundRect">
            <a:avLst/>
          </a:prstGeom>
          <a:solidFill>
            <a:srgbClr val="E2EFFF"/>
          </a:solidFill>
          <a:ln w="15240">
            <a:solidFill>
              <a:srgbClr val="1F6FC4"/>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1F6FC4"/>
                </a:solidFill>
                <a:latin typeface="Aptos Display"/>
              </a:rPr>
              <a:t>Collaboration principle</a:t>
            </a:r>
          </a:p>
          <a:p>
            <a:pPr>
              <a:spcBef>
                <a:spcPts val="500"/>
              </a:spcBef>
            </a:pPr>
            <a:r>
              <a:rPr sz="1300">
                <a:solidFill>
                  <a:srgbClr val="0F172A"/>
                </a:solidFill>
                <a:latin typeface="Aptos"/>
              </a:rPr>
              <a:t>Many escalations can be avoided by checking existing knowledge and collaborating internally before Development handoff.</a:t>
            </a:r>
          </a:p>
        </p:txBody>
      </p:sp>
      <p:sp>
        <p:nvSpPr>
          <p:cNvPr id="8" name="Rounded Rectangle 7"/>
          <p:cNvSpPr/>
          <p:nvPr/>
        </p:nvSpPr>
        <p:spPr>
          <a:xfrm>
            <a:off x="868680" y="2926080"/>
            <a:ext cx="1883663" cy="82296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Knowledge Base</a:t>
            </a:r>
          </a:p>
        </p:txBody>
      </p:sp>
      <p:cxnSp>
        <p:nvCxnSpPr>
          <p:cNvPr id="9" name="Connector 8"/>
          <p:cNvCxnSpPr/>
          <p:nvPr/>
        </p:nvCxnSpPr>
        <p:spPr>
          <a:xfrm>
            <a:off x="2752344" y="3337560"/>
            <a:ext cx="128015"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916935" y="2926080"/>
            <a:ext cx="1883663" cy="82296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Previous tickets</a:t>
            </a:r>
          </a:p>
        </p:txBody>
      </p:sp>
      <p:cxnSp>
        <p:nvCxnSpPr>
          <p:cNvPr id="11" name="Connector 10"/>
          <p:cNvCxnSpPr/>
          <p:nvPr/>
        </p:nvCxnSpPr>
        <p:spPr>
          <a:xfrm>
            <a:off x="4800599" y="3337560"/>
            <a:ext cx="128017"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965192" y="2926080"/>
            <a:ext cx="1883663" cy="82296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Senior Support</a:t>
            </a:r>
          </a:p>
        </p:txBody>
      </p:sp>
      <p:cxnSp>
        <p:nvCxnSpPr>
          <p:cNvPr id="13" name="Connector 12"/>
          <p:cNvCxnSpPr/>
          <p:nvPr/>
        </p:nvCxnSpPr>
        <p:spPr>
          <a:xfrm>
            <a:off x="6848855" y="3337560"/>
            <a:ext cx="128017"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013447" y="2926080"/>
            <a:ext cx="1883663" cy="82296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Support Lead</a:t>
            </a:r>
          </a:p>
        </p:txBody>
      </p:sp>
      <p:cxnSp>
        <p:nvCxnSpPr>
          <p:cNvPr id="15" name="Connector 14"/>
          <p:cNvCxnSpPr/>
          <p:nvPr/>
        </p:nvCxnSpPr>
        <p:spPr>
          <a:xfrm>
            <a:off x="8897111" y="3337560"/>
            <a:ext cx="128017" cy="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061703" y="2926080"/>
            <a:ext cx="1883663" cy="82296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200" b="1" i="0">
                <a:solidFill>
                  <a:srgbClr val="FFFFFF"/>
                </a:solidFill>
                <a:latin typeface="Aptos"/>
              </a:rPr>
              <a:t>Development</a:t>
            </a:r>
          </a:p>
        </p:txBody>
      </p:sp>
      <p:sp>
        <p:nvSpPr>
          <p:cNvPr id="17" name="Rounded Rectangle 16"/>
          <p:cNvSpPr/>
          <p:nvPr/>
        </p:nvSpPr>
        <p:spPr>
          <a:xfrm>
            <a:off x="914400" y="452628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18" name="Rectangle 17"/>
          <p:cNvSpPr/>
          <p:nvPr/>
        </p:nvSpPr>
        <p:spPr>
          <a:xfrm>
            <a:off x="1170432" y="4480560"/>
            <a:ext cx="961948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800" b="0" i="0">
                <a:solidFill>
                  <a:srgbClr val="0F172A"/>
                </a:solidFill>
                <a:latin typeface="Aptos"/>
              </a:rPr>
              <a:t>Escalation quality improves when Support reuses known solutions.</a:t>
            </a:r>
          </a:p>
        </p:txBody>
      </p:sp>
      <p:sp>
        <p:nvSpPr>
          <p:cNvPr id="19" name="Rounded Rectangle 18"/>
          <p:cNvSpPr/>
          <p:nvPr/>
        </p:nvSpPr>
        <p:spPr>
          <a:xfrm>
            <a:off x="914400" y="5074920"/>
            <a:ext cx="146304" cy="146304"/>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000" b="0" i="0">
                <a:solidFill>
                  <a:srgbClr val="0F172A"/>
                </a:solidFill>
                <a:latin typeface="Aptos"/>
              </a:rPr>
              <a:t/>
            </a:r>
          </a:p>
        </p:txBody>
      </p:sp>
      <p:sp>
        <p:nvSpPr>
          <p:cNvPr id="20" name="Rectangle 19"/>
          <p:cNvSpPr/>
          <p:nvPr/>
        </p:nvSpPr>
        <p:spPr>
          <a:xfrm>
            <a:off x="1170432" y="5029200"/>
            <a:ext cx="961948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800" b="0" i="0">
                <a:solidFill>
                  <a:srgbClr val="0F172A"/>
                </a:solidFill>
                <a:latin typeface="Aptos"/>
              </a:rPr>
              <a:t>Internal review catches missing details before Development receives the ticket.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4</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Before Escalating to Development</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33</a:t>
            </a:r>
          </a:p>
        </p:txBody>
      </p:sp>
      <p:sp>
        <p:nvSpPr>
          <p:cNvPr id="7" name="Rounded Rectangle 6"/>
          <p:cNvSpPr/>
          <p:nvPr/>
        </p:nvSpPr>
        <p:spPr>
          <a:xfrm>
            <a:off x="914400" y="1234440"/>
            <a:ext cx="9966960" cy="749808"/>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42416" y="134416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6FC4"/>
                </a:solidFill>
                <a:latin typeface="Aptos"/>
              </a:rPr>
              <a:t>1</a:t>
            </a:r>
          </a:p>
        </p:txBody>
      </p:sp>
      <p:sp>
        <p:nvSpPr>
          <p:cNvPr id="9" name="Rectangle 8"/>
          <p:cNvSpPr/>
          <p:nvPr/>
        </p:nvSpPr>
        <p:spPr>
          <a:xfrm>
            <a:off x="1591056" y="1353312"/>
            <a:ext cx="91622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Step 1: Search Knowledge Base</a:t>
            </a:r>
          </a:p>
        </p:txBody>
      </p:sp>
      <p:sp>
        <p:nvSpPr>
          <p:cNvPr id="10" name="Rectangle 9"/>
          <p:cNvSpPr/>
          <p:nvPr/>
        </p:nvSpPr>
        <p:spPr>
          <a:xfrm>
            <a:off x="1078992" y="1764792"/>
            <a:ext cx="9637776" cy="15544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Same error • Same workflow • Same customer</a:t>
            </a:r>
          </a:p>
        </p:txBody>
      </p:sp>
      <p:sp>
        <p:nvSpPr>
          <p:cNvPr id="11" name="Rounded Rectangle 10"/>
          <p:cNvSpPr/>
          <p:nvPr/>
        </p:nvSpPr>
        <p:spPr>
          <a:xfrm>
            <a:off x="914400" y="2286000"/>
            <a:ext cx="9966960" cy="749808"/>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42416" y="239572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2</a:t>
            </a:r>
          </a:p>
        </p:txBody>
      </p:sp>
      <p:sp>
        <p:nvSpPr>
          <p:cNvPr id="13" name="Rectangle 12"/>
          <p:cNvSpPr/>
          <p:nvPr/>
        </p:nvSpPr>
        <p:spPr>
          <a:xfrm>
            <a:off x="1591056" y="2404872"/>
            <a:ext cx="91622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Step 2: Search Previous Tickets</a:t>
            </a:r>
          </a:p>
        </p:txBody>
      </p:sp>
      <p:sp>
        <p:nvSpPr>
          <p:cNvPr id="14" name="Rectangle 13"/>
          <p:cNvSpPr/>
          <p:nvPr/>
        </p:nvSpPr>
        <p:spPr>
          <a:xfrm>
            <a:off x="1078992" y="2816352"/>
            <a:ext cx="9637776" cy="15544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Has this happened before? Was there a workaround? Was it configuration?</a:t>
            </a:r>
          </a:p>
        </p:txBody>
      </p:sp>
      <p:sp>
        <p:nvSpPr>
          <p:cNvPr id="15" name="Rounded Rectangle 14"/>
          <p:cNvSpPr/>
          <p:nvPr/>
        </p:nvSpPr>
        <p:spPr>
          <a:xfrm>
            <a:off x="914400" y="3337560"/>
            <a:ext cx="9966960" cy="749808"/>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42416" y="344728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F2B83A"/>
                </a:solidFill>
                <a:latin typeface="Aptos"/>
              </a:rPr>
              <a:t>3</a:t>
            </a:r>
          </a:p>
        </p:txBody>
      </p:sp>
      <p:sp>
        <p:nvSpPr>
          <p:cNvPr id="17" name="Rectangle 16"/>
          <p:cNvSpPr/>
          <p:nvPr/>
        </p:nvSpPr>
        <p:spPr>
          <a:xfrm>
            <a:off x="1591056" y="3456432"/>
            <a:ext cx="91622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Step 3: Ask Senior Support</a:t>
            </a:r>
          </a:p>
        </p:txBody>
      </p:sp>
      <p:sp>
        <p:nvSpPr>
          <p:cNvPr id="18" name="Rectangle 17"/>
          <p:cNvSpPr/>
          <p:nvPr/>
        </p:nvSpPr>
        <p:spPr>
          <a:xfrm>
            <a:off x="1078992" y="3867911"/>
            <a:ext cx="9637776" cy="15544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Consult Senior Support Engineer or Support Lead</a:t>
            </a:r>
          </a:p>
        </p:txBody>
      </p:sp>
      <p:sp>
        <p:nvSpPr>
          <p:cNvPr id="19" name="Rounded Rectangle 18"/>
          <p:cNvSpPr/>
          <p:nvPr/>
        </p:nvSpPr>
        <p:spPr>
          <a:xfrm>
            <a:off x="914400" y="4389120"/>
            <a:ext cx="9966960" cy="749808"/>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42416" y="449884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C53030"/>
                </a:solidFill>
                <a:latin typeface="Aptos"/>
              </a:rPr>
              <a:t>4</a:t>
            </a:r>
          </a:p>
        </p:txBody>
      </p:sp>
      <p:sp>
        <p:nvSpPr>
          <p:cNvPr id="21" name="Rectangle 20"/>
          <p:cNvSpPr/>
          <p:nvPr/>
        </p:nvSpPr>
        <p:spPr>
          <a:xfrm>
            <a:off x="1591056" y="4507992"/>
            <a:ext cx="91622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Step 4: Escalate Internally</a:t>
            </a:r>
          </a:p>
        </p:txBody>
      </p:sp>
      <p:sp>
        <p:nvSpPr>
          <p:cNvPr id="22" name="Rectangle 21"/>
          <p:cNvSpPr/>
          <p:nvPr/>
        </p:nvSpPr>
        <p:spPr>
          <a:xfrm>
            <a:off x="1078992" y="4919472"/>
            <a:ext cx="9637776" cy="15544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100" b="0" i="0">
                <a:solidFill>
                  <a:srgbClr val="0F172A"/>
                </a:solidFill>
                <a:latin typeface="Aptos"/>
              </a:rPr>
              <a:t>Only then escalate to Development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MODULE 4</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Escalation Flow</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34</a:t>
            </a:r>
          </a:p>
        </p:txBody>
      </p:sp>
      <p:sp>
        <p:nvSpPr>
          <p:cNvPr id="7" name="Rounded Rectangle 6"/>
          <p:cNvSpPr/>
          <p:nvPr/>
        </p:nvSpPr>
        <p:spPr>
          <a:xfrm>
            <a:off x="4206240" y="1234440"/>
            <a:ext cx="3749039" cy="64008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300" b="1" i="0">
                <a:solidFill>
                  <a:srgbClr val="FFFFFF"/>
                </a:solidFill>
                <a:latin typeface="Aptos"/>
              </a:rPr>
              <a:t>Support Engineer</a:t>
            </a:r>
          </a:p>
        </p:txBody>
      </p:sp>
      <p:cxnSp>
        <p:nvCxnSpPr>
          <p:cNvPr id="8" name="Connector 7"/>
          <p:cNvCxnSpPr/>
          <p:nvPr/>
        </p:nvCxnSpPr>
        <p:spPr>
          <a:xfrm>
            <a:off x="6080759" y="1874519"/>
            <a:ext cx="0" cy="91441"/>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206240" y="2011680"/>
            <a:ext cx="3749039" cy="64008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300" b="1" i="0">
                <a:solidFill>
                  <a:srgbClr val="FFFFFF"/>
                </a:solidFill>
                <a:latin typeface="Aptos"/>
              </a:rPr>
              <a:t>Knowledge Base Search</a:t>
            </a:r>
          </a:p>
        </p:txBody>
      </p:sp>
      <p:cxnSp>
        <p:nvCxnSpPr>
          <p:cNvPr id="10" name="Connector 9"/>
          <p:cNvCxnSpPr/>
          <p:nvPr/>
        </p:nvCxnSpPr>
        <p:spPr>
          <a:xfrm>
            <a:off x="6080759" y="2651760"/>
            <a:ext cx="0" cy="9144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06240" y="2788920"/>
            <a:ext cx="3749039" cy="64008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300" b="1" i="0">
                <a:solidFill>
                  <a:srgbClr val="FFFFFF"/>
                </a:solidFill>
                <a:latin typeface="Aptos"/>
              </a:rPr>
              <a:t>Senior Support Review</a:t>
            </a:r>
          </a:p>
        </p:txBody>
      </p:sp>
      <p:cxnSp>
        <p:nvCxnSpPr>
          <p:cNvPr id="12" name="Connector 11"/>
          <p:cNvCxnSpPr/>
          <p:nvPr/>
        </p:nvCxnSpPr>
        <p:spPr>
          <a:xfrm>
            <a:off x="6080759" y="3429000"/>
            <a:ext cx="0" cy="9144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206240" y="3566160"/>
            <a:ext cx="3749039" cy="64008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300" b="1" i="0">
                <a:solidFill>
                  <a:srgbClr val="FFFFFF"/>
                </a:solidFill>
                <a:latin typeface="Aptos"/>
              </a:rPr>
              <a:t>Support Lead Review</a:t>
            </a:r>
          </a:p>
        </p:txBody>
      </p:sp>
      <p:cxnSp>
        <p:nvCxnSpPr>
          <p:cNvPr id="14" name="Connector 13"/>
          <p:cNvCxnSpPr/>
          <p:nvPr/>
        </p:nvCxnSpPr>
        <p:spPr>
          <a:xfrm>
            <a:off x="6080759" y="4206240"/>
            <a:ext cx="0" cy="9144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06240" y="4343400"/>
            <a:ext cx="3749039" cy="64008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300" b="1" i="0">
                <a:solidFill>
                  <a:srgbClr val="FFFFFF"/>
                </a:solidFill>
                <a:latin typeface="Aptos"/>
              </a:rPr>
              <a:t>Development Escalation Team</a:t>
            </a:r>
          </a:p>
        </p:txBody>
      </p:sp>
      <p:cxnSp>
        <p:nvCxnSpPr>
          <p:cNvPr id="16" name="Connector 15"/>
          <p:cNvCxnSpPr/>
          <p:nvPr/>
        </p:nvCxnSpPr>
        <p:spPr>
          <a:xfrm>
            <a:off x="6080759" y="4983480"/>
            <a:ext cx="0" cy="91440"/>
          </a:xfrm>
          <a:prstGeom prst="line">
            <a:avLst/>
          </a:prstGeom>
          <a:ln w="25400">
            <a:solidFill>
              <a:srgbClr val="1F6FC4"/>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206240" y="5120640"/>
            <a:ext cx="3749039" cy="64008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300" b="1" i="0">
                <a:solidFill>
                  <a:srgbClr val="FFFFFF"/>
                </a:solidFill>
                <a:latin typeface="Aptos"/>
              </a:rPr>
              <a:t>Development Team</a:t>
            </a:r>
          </a:p>
        </p:txBody>
      </p:sp>
      <p:sp>
        <p:nvSpPr>
          <p:cNvPr id="18" name="Rounded Rectangle 17"/>
          <p:cNvSpPr/>
          <p:nvPr/>
        </p:nvSpPr>
        <p:spPr>
          <a:xfrm>
            <a:off x="822960" y="1828800"/>
            <a:ext cx="2926080" cy="1051560"/>
          </a:xfrm>
          <a:prstGeom prst="roundRect">
            <a:avLst/>
          </a:prstGeom>
          <a:solidFill>
            <a:srgbClr val="E2F5EA"/>
          </a:solidFill>
          <a:ln w="15240">
            <a:solidFill>
              <a:srgbClr val="1F9756"/>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1F9756"/>
                </a:solidFill>
                <a:latin typeface="Aptos Display"/>
              </a:rPr>
              <a:t>Structured process</a:t>
            </a:r>
          </a:p>
          <a:p>
            <a:pPr>
              <a:spcBef>
                <a:spcPts val="500"/>
              </a:spcBef>
            </a:pPr>
            <a:r>
              <a:rPr sz="1300">
                <a:solidFill>
                  <a:srgbClr val="0F172A"/>
                </a:solidFill>
                <a:latin typeface="Aptos"/>
              </a:rPr>
              <a:t>Escalation should be a structured process, not a shortcut.</a:t>
            </a:r>
          </a:p>
        </p:txBody>
      </p:sp>
      <p:sp>
        <p:nvSpPr>
          <p:cNvPr id="19" name="Rounded Rectangle 18"/>
          <p:cNvSpPr/>
          <p:nvPr/>
        </p:nvSpPr>
        <p:spPr>
          <a:xfrm>
            <a:off x="8321040" y="1828800"/>
            <a:ext cx="2926080" cy="1051560"/>
          </a:xfrm>
          <a:prstGeom prst="roundRect">
            <a:avLst/>
          </a:prstGeom>
          <a:solidFill>
            <a:srgbClr val="FFF7DB"/>
          </a:solidFill>
          <a:ln w="15240">
            <a:solidFill>
              <a:srgbClr val="F2B83A"/>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F2B83A"/>
                </a:solidFill>
                <a:latin typeface="Aptos Display"/>
              </a:rPr>
              <a:t>Quality gate</a:t>
            </a:r>
          </a:p>
          <a:p>
            <a:pPr>
              <a:spcBef>
                <a:spcPts val="500"/>
              </a:spcBef>
            </a:pPr>
            <a:r>
              <a:rPr sz="1300">
                <a:solidFill>
                  <a:srgbClr val="0F172A"/>
                </a:solidFill>
                <a:latin typeface="Aptos"/>
              </a:rPr>
              <a:t>Each step should add information, evidence, or validation.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WRAP-UP</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Final Expected Outcomes</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35</a:t>
            </a:r>
          </a:p>
        </p:txBody>
      </p:sp>
      <p:sp>
        <p:nvSpPr>
          <p:cNvPr id="7" name="Rounded Rectangle 6"/>
          <p:cNvSpPr/>
          <p:nvPr/>
        </p:nvSpPr>
        <p:spPr>
          <a:xfrm>
            <a:off x="822960" y="1234440"/>
            <a:ext cx="4754880" cy="6400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50976" y="134416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9" name="Rectangle 8"/>
          <p:cNvSpPr/>
          <p:nvPr/>
        </p:nvSpPr>
        <p:spPr>
          <a:xfrm>
            <a:off x="1499616" y="1353312"/>
            <a:ext cx="39502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Identify whether an issue is a bug, configuration, question, or enhancement.</a:t>
            </a:r>
          </a:p>
        </p:txBody>
      </p:sp>
      <p:sp>
        <p:nvSpPr>
          <p:cNvPr id="10" name="Rounded Rectangle 9"/>
          <p:cNvSpPr/>
          <p:nvPr/>
        </p:nvSpPr>
        <p:spPr>
          <a:xfrm>
            <a:off x="6217920" y="1234440"/>
            <a:ext cx="4754880" cy="6400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45936" y="134416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12" name="Rectangle 11"/>
          <p:cNvSpPr/>
          <p:nvPr/>
        </p:nvSpPr>
        <p:spPr>
          <a:xfrm>
            <a:off x="6894576" y="1353312"/>
            <a:ext cx="39502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Perform standard troubleshooting.</a:t>
            </a:r>
          </a:p>
        </p:txBody>
      </p:sp>
      <p:sp>
        <p:nvSpPr>
          <p:cNvPr id="13" name="Rounded Rectangle 12"/>
          <p:cNvSpPr/>
          <p:nvPr/>
        </p:nvSpPr>
        <p:spPr>
          <a:xfrm>
            <a:off x="822960" y="2103120"/>
            <a:ext cx="4754880" cy="6400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50976" y="221284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15" name="Rectangle 14"/>
          <p:cNvSpPr/>
          <p:nvPr/>
        </p:nvSpPr>
        <p:spPr>
          <a:xfrm>
            <a:off x="1499616" y="2221991"/>
            <a:ext cx="39502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Gather the correct logs.</a:t>
            </a:r>
          </a:p>
        </p:txBody>
      </p:sp>
      <p:sp>
        <p:nvSpPr>
          <p:cNvPr id="16" name="Rounded Rectangle 15"/>
          <p:cNvSpPr/>
          <p:nvPr/>
        </p:nvSpPr>
        <p:spPr>
          <a:xfrm>
            <a:off x="6217920" y="2103120"/>
            <a:ext cx="4754880" cy="6400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45936" y="221284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18" name="Rectangle 17"/>
          <p:cNvSpPr/>
          <p:nvPr/>
        </p:nvSpPr>
        <p:spPr>
          <a:xfrm>
            <a:off x="6894576" y="2221991"/>
            <a:ext cx="39502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Search existing Knowledge Base articles.</a:t>
            </a:r>
          </a:p>
        </p:txBody>
      </p:sp>
      <p:sp>
        <p:nvSpPr>
          <p:cNvPr id="19" name="Rounded Rectangle 18"/>
          <p:cNvSpPr/>
          <p:nvPr/>
        </p:nvSpPr>
        <p:spPr>
          <a:xfrm>
            <a:off x="822960" y="2971800"/>
            <a:ext cx="4754880" cy="6400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50976" y="308152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21" name="Rectangle 20"/>
          <p:cNvSpPr/>
          <p:nvPr/>
        </p:nvSpPr>
        <p:spPr>
          <a:xfrm>
            <a:off x="1499616" y="3090672"/>
            <a:ext cx="39502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Consult internal experts appropriately.</a:t>
            </a:r>
          </a:p>
        </p:txBody>
      </p:sp>
      <p:sp>
        <p:nvSpPr>
          <p:cNvPr id="22" name="Rounded Rectangle 21"/>
          <p:cNvSpPr/>
          <p:nvPr/>
        </p:nvSpPr>
        <p:spPr>
          <a:xfrm>
            <a:off x="6217920" y="2971800"/>
            <a:ext cx="4754880" cy="6400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45936" y="308152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24" name="Rectangle 23"/>
          <p:cNvSpPr/>
          <p:nvPr/>
        </p:nvSpPr>
        <p:spPr>
          <a:xfrm>
            <a:off x="6894576" y="3090672"/>
            <a:ext cx="39502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Submit high-quality escalations to Development.</a:t>
            </a:r>
          </a:p>
        </p:txBody>
      </p:sp>
      <p:sp>
        <p:nvSpPr>
          <p:cNvPr id="25" name="Rounded Rectangle 24"/>
          <p:cNvSpPr/>
          <p:nvPr/>
        </p:nvSpPr>
        <p:spPr>
          <a:xfrm>
            <a:off x="3520440" y="3840479"/>
            <a:ext cx="4754880" cy="6400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48456" y="3950207"/>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27" name="Rectangle 26"/>
          <p:cNvSpPr/>
          <p:nvPr/>
        </p:nvSpPr>
        <p:spPr>
          <a:xfrm>
            <a:off x="4197096" y="3959351"/>
            <a:ext cx="395020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Reduce unnecessary Development escalations.</a:t>
            </a:r>
          </a:p>
        </p:txBody>
      </p:sp>
      <p:sp>
        <p:nvSpPr>
          <p:cNvPr id="28" name="Rounded Rectangle 27"/>
          <p:cNvSpPr/>
          <p:nvPr/>
        </p:nvSpPr>
        <p:spPr>
          <a:xfrm>
            <a:off x="914400" y="5486400"/>
            <a:ext cx="9966960" cy="502920"/>
          </a:xfrm>
          <a:prstGeom prst="roundRect">
            <a:avLst/>
          </a:prstGeom>
          <a:solidFill>
            <a:srgbClr val="E2EFFF"/>
          </a:solidFill>
          <a:ln w="15240">
            <a:solidFill>
              <a:srgbClr val="1F6FC4"/>
            </a:solidFill>
          </a:ln>
        </p:spPr>
        <p:style>
          <a:lnRef idx="1">
            <a:schemeClr val="accent1"/>
          </a:lnRef>
          <a:fillRef idx="3">
            <a:schemeClr val="accent1"/>
          </a:fillRef>
          <a:effectRef idx="2">
            <a:schemeClr val="accent1"/>
          </a:effectRef>
          <a:fontRef idx="minor">
            <a:schemeClr val="lt1"/>
          </a:fontRef>
        </p:style>
        <p:txBody>
          <a:bodyPr rtlCol="0" anchor="ctr" lIns="146304" rIns="146304" tIns="91440" bIns="91440" wrap="square"/>
          <a:lstStyle/>
          <a:p>
            <a:pPr algn="ctr"/>
            <a:r>
              <a:rPr b="1" sz="1500">
                <a:solidFill>
                  <a:srgbClr val="1F6FC4"/>
                </a:solidFill>
                <a:latin typeface="Aptos Display"/>
              </a:rPr>
              <a:t>Success measure</a:t>
            </a:r>
          </a:p>
          <a:p>
            <a:pPr>
              <a:spcBef>
                <a:spcPts val="500"/>
              </a:spcBef>
            </a:pPr>
            <a:r>
              <a:rPr sz="1300">
                <a:solidFill>
                  <a:srgbClr val="0F172A"/>
                </a:solidFill>
                <a:latin typeface="Aptos"/>
              </a:rPr>
              <a:t>Fewer avoidable escalations, faster Development investigation, and better customer communication.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94360" y="320040"/>
            <a:ext cx="5029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900" b="1" i="0">
                <a:solidFill>
                  <a:srgbClr val="1F6FC4"/>
                </a:solidFill>
                <a:latin typeface="Aptos"/>
              </a:rPr>
              <a:t>Q&amp;A</a:t>
            </a:r>
          </a:p>
        </p:txBody>
      </p:sp>
      <p:sp>
        <p:nvSpPr>
          <p:cNvPr id="3" name="Rectangle 2"/>
          <p:cNvSpPr/>
          <p:nvPr/>
        </p:nvSpPr>
        <p:spPr>
          <a:xfrm>
            <a:off x="594360" y="566928"/>
            <a:ext cx="7955279"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2800" b="1" i="0">
                <a:solidFill>
                  <a:srgbClr val="122D4D"/>
                </a:solidFill>
                <a:latin typeface="Aptos"/>
              </a:rPr>
              <a:t>Questions and Discussion</a:t>
            </a:r>
          </a:p>
        </p:txBody>
      </p:sp>
      <p:sp>
        <p:nvSpPr>
          <p:cNvPr id="4" name="Rectangle 3"/>
          <p:cNvSpPr/>
          <p:nvPr/>
        </p:nvSpPr>
        <p:spPr>
          <a:xfrm>
            <a:off x="594360" y="1115568"/>
            <a:ext cx="1005840" cy="45720"/>
          </a:xfrm>
          <a:prstGeom prst="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6455664"/>
            <a:ext cx="74980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800" b="0" i="0">
                <a:solidFill>
                  <a:srgbClr val="64748B"/>
                </a:solidFill>
                <a:latin typeface="Aptos"/>
              </a:rPr>
              <a:t>Support Excellence Program | Development Escalation Team / L2</a:t>
            </a:r>
          </a:p>
        </p:txBody>
      </p:sp>
      <p:sp>
        <p:nvSpPr>
          <p:cNvPr id="6" name="Rounded Rectangle 5"/>
          <p:cNvSpPr/>
          <p:nvPr/>
        </p:nvSpPr>
        <p:spPr>
          <a:xfrm>
            <a:off x="11201400" y="6428232"/>
            <a:ext cx="411480" cy="228600"/>
          </a:xfrm>
          <a:prstGeom prst="roundRect">
            <a:avLst/>
          </a:prstGeom>
          <a:solidFill>
            <a:srgbClr val="1F6FC4"/>
          </a:solid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900" b="1" i="0">
                <a:solidFill>
                  <a:srgbClr val="FFFFFF"/>
                </a:solidFill>
                <a:latin typeface="Aptos"/>
              </a:rPr>
              <a:t>36</a:t>
            </a:r>
          </a:p>
        </p:txBody>
      </p:sp>
      <p:sp>
        <p:nvSpPr>
          <p:cNvPr id="7" name="Rounded Rectangle 6"/>
          <p:cNvSpPr/>
          <p:nvPr/>
        </p:nvSpPr>
        <p:spPr>
          <a:xfrm>
            <a:off x="1051560" y="1325880"/>
            <a:ext cx="9784080" cy="6858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79576" y="1435607"/>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6FC4"/>
                </a:solidFill>
                <a:latin typeface="Aptos"/>
              </a:rPr>
              <a:t>💬</a:t>
            </a:r>
          </a:p>
        </p:txBody>
      </p:sp>
      <p:sp>
        <p:nvSpPr>
          <p:cNvPr id="9" name="Rectangle 8"/>
          <p:cNvSpPr/>
          <p:nvPr/>
        </p:nvSpPr>
        <p:spPr>
          <a:xfrm>
            <a:off x="1728216" y="1444752"/>
            <a:ext cx="8979407"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What issues are most commonly escalated today?</a:t>
            </a:r>
          </a:p>
        </p:txBody>
      </p:sp>
      <p:sp>
        <p:nvSpPr>
          <p:cNvPr id="10" name="Rounded Rectangle 9"/>
          <p:cNvSpPr/>
          <p:nvPr/>
        </p:nvSpPr>
        <p:spPr>
          <a:xfrm>
            <a:off x="1051560" y="2286000"/>
            <a:ext cx="9784080" cy="6858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79576" y="239572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12" name="Rectangle 11"/>
          <p:cNvSpPr/>
          <p:nvPr/>
        </p:nvSpPr>
        <p:spPr>
          <a:xfrm>
            <a:off x="1728216" y="2404872"/>
            <a:ext cx="8979407"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What information is usually missing?</a:t>
            </a:r>
          </a:p>
        </p:txBody>
      </p:sp>
      <p:sp>
        <p:nvSpPr>
          <p:cNvPr id="13" name="Rounded Rectangle 12"/>
          <p:cNvSpPr/>
          <p:nvPr/>
        </p:nvSpPr>
        <p:spPr>
          <a:xfrm>
            <a:off x="1051560" y="3246120"/>
            <a:ext cx="9784080" cy="6858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79576" y="335584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6FC4"/>
                </a:solidFill>
                <a:latin typeface="Aptos"/>
              </a:rPr>
              <a:t>💬</a:t>
            </a:r>
          </a:p>
        </p:txBody>
      </p:sp>
      <p:sp>
        <p:nvSpPr>
          <p:cNvPr id="15" name="Rectangle 14"/>
          <p:cNvSpPr/>
          <p:nvPr/>
        </p:nvSpPr>
        <p:spPr>
          <a:xfrm>
            <a:off x="1728216" y="3364991"/>
            <a:ext cx="8979407"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What can we improve immediately?</a:t>
            </a:r>
          </a:p>
        </p:txBody>
      </p:sp>
      <p:sp>
        <p:nvSpPr>
          <p:cNvPr id="16" name="Rounded Rectangle 15"/>
          <p:cNvSpPr/>
          <p:nvPr/>
        </p:nvSpPr>
        <p:spPr>
          <a:xfrm>
            <a:off x="1051560" y="4206240"/>
            <a:ext cx="9784080" cy="6858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9576" y="4315968"/>
            <a:ext cx="5029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0" i="0">
                <a:solidFill>
                  <a:srgbClr val="1F9756"/>
                </a:solidFill>
                <a:latin typeface="Aptos"/>
              </a:rPr>
              <a:t>💬</a:t>
            </a:r>
          </a:p>
        </p:txBody>
      </p:sp>
      <p:sp>
        <p:nvSpPr>
          <p:cNvPr id="18" name="Rectangle 17"/>
          <p:cNvSpPr/>
          <p:nvPr/>
        </p:nvSpPr>
        <p:spPr>
          <a:xfrm>
            <a:off x="1728216" y="4325112"/>
            <a:ext cx="8979407"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l"/>
            <a:r>
              <a:rPr sz="1300" b="1" i="0">
                <a:solidFill>
                  <a:srgbClr val="122D4D"/>
                </a:solidFill>
                <a:latin typeface="Aptos"/>
              </a:rPr>
              <a:t>What KB articles should be created or updated?</a:t>
            </a:r>
          </a:p>
        </p:txBody>
      </p:sp>
      <p:sp>
        <p:nvSpPr>
          <p:cNvPr id="19" name="Rectangle 18"/>
          <p:cNvSpPr/>
          <p:nvPr/>
        </p:nvSpPr>
        <p:spPr>
          <a:xfrm>
            <a:off x="1463040" y="5623560"/>
            <a:ext cx="914400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73152" rIns="73152" wrap="square"/>
          <a:lstStyle/>
          <a:p>
            <a:pPr algn="ctr"/>
            <a:r>
              <a:rPr sz="2200" b="1" i="0">
                <a:solidFill>
                  <a:srgbClr val="122D4D"/>
                </a:solidFill>
                <a:latin typeface="Aptos"/>
              </a:rPr>
              <a:t>Thank you — let’s improve investigation quality 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